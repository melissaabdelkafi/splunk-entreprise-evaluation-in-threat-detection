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6" r:id="rId9"/>
    <p:sldId id="268" r:id="rId10"/>
    <p:sldId id="269" r:id="rId11"/>
    <p:sldId id="270" r:id="rId12"/>
    <p:sldId id="271"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Lst>
  <p:sldSz cx="18288000" cy="10287000"/>
  <p:notesSz cx="18288000" cy="10287000"/>
  <p:embeddedFontLst>
    <p:embeddedFont>
      <p:font typeface="Tahoma" panose="020B0604030504040204" pitchFamily="34" charset="0"/>
      <p:regular r:id="rId27"/>
      <p:bold r:id="rId28"/>
    </p:embeddedFont>
    <p:embeddedFont>
      <p:font typeface="Verdana" panose="020B060403050404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h47rL1fQnCbjzl/x4iq8XIAmQU+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39" d="100"/>
          <a:sy n="39" d="100"/>
        </p:scale>
        <p:origin x="964" y="5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7924800" cy="51593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 name="Google Shape;4;n"/>
          <p:cNvSpPr txBox="1">
            <a:spLocks noGrp="1"/>
          </p:cNvSpPr>
          <p:nvPr>
            <p:ph type="dt" idx="10"/>
          </p:nvPr>
        </p:nvSpPr>
        <p:spPr>
          <a:xfrm>
            <a:off x="10358438" y="0"/>
            <a:ext cx="7924800" cy="515938"/>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 name="Google Shape;5;n"/>
          <p:cNvSpPr>
            <a:spLocks noGrp="1" noRot="1" noChangeAspect="1"/>
          </p:cNvSpPr>
          <p:nvPr>
            <p:ph type="sldImg" idx="3"/>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828800" y="4951413"/>
            <a:ext cx="14630400" cy="404971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71063"/>
            <a:ext cx="7924800" cy="51593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n"/>
          <p:cNvSpPr txBox="1">
            <a:spLocks noGrp="1"/>
          </p:cNvSpPr>
          <p:nvPr>
            <p:ph type="sldNum" idx="12"/>
          </p:nvPr>
        </p:nvSpPr>
        <p:spPr>
          <a:xfrm>
            <a:off x="10358438" y="9771063"/>
            <a:ext cx="7924800" cy="51593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sz="1200"/>
              <a:t>‹N°›</a:t>
            </a:fld>
            <a:endParaRPr sz="12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1: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 name="Google Shape;46;p1: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2: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 name="Google Shape;54;p2: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 name="Google Shape;62;p3: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 name="Google Shape;71;p4: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5: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5: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6: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6: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7: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7: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1: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11: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6: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6: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3: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3: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4: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14: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5: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5: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8: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8: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9: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9: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0: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20: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1: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21: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2: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22: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3: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23: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4: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24: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5: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25: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6: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26:notes"/>
          <p:cNvSpPr txBox="1">
            <a:spLocks noGrp="1"/>
          </p:cNvSpPr>
          <p:nvPr>
            <p:ph type="body" idx="1"/>
          </p:nvPr>
        </p:nvSpPr>
        <p:spPr>
          <a:xfrm>
            <a:off x="1828800" y="4951413"/>
            <a:ext cx="14630400" cy="404971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26:notes"/>
          <p:cNvSpPr txBox="1">
            <a:spLocks noGrp="1"/>
          </p:cNvSpPr>
          <p:nvPr>
            <p:ph type="sldNum" idx="12"/>
          </p:nvPr>
        </p:nvSpPr>
        <p:spPr>
          <a:xfrm>
            <a:off x="10358438" y="9771063"/>
            <a:ext cx="7924800" cy="51593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7: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27: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8: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28: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9:notes"/>
          <p:cNvSpPr txBox="1">
            <a:spLocks noGrp="1"/>
          </p:cNvSpPr>
          <p:nvPr>
            <p:ph type="body" idx="1"/>
          </p:nvPr>
        </p:nvSpPr>
        <p:spPr>
          <a:xfrm>
            <a:off x="1828800" y="4951413"/>
            <a:ext cx="14630400" cy="40497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29:notes"/>
          <p:cNvSpPr>
            <a:spLocks noGrp="1" noRot="1" noChangeAspect="1"/>
          </p:cNvSpPr>
          <p:nvPr>
            <p:ph type="sldImg" idx="2"/>
          </p:nvPr>
        </p:nvSpPr>
        <p:spPr>
          <a:xfrm>
            <a:off x="6057900" y="1285875"/>
            <a:ext cx="6172200" cy="34718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Only" type="obj">
  <p:cSld name="OBJECT">
    <p:bg>
      <p:bgPr>
        <a:solidFill>
          <a:schemeClr val="lt1"/>
        </a:solidFill>
        <a:effectLst/>
      </p:bgPr>
    </p:bg>
    <p:spTree>
      <p:nvGrpSpPr>
        <p:cNvPr id="1" name="Shape 16"/>
        <p:cNvGrpSpPr/>
        <p:nvPr/>
      </p:nvGrpSpPr>
      <p:grpSpPr>
        <a:xfrm>
          <a:off x="0" y="0"/>
          <a:ext cx="0" cy="0"/>
          <a:chOff x="0" y="0"/>
          <a:chExt cx="0" cy="0"/>
        </a:xfrm>
      </p:grpSpPr>
      <p:sp>
        <p:nvSpPr>
          <p:cNvPr id="17" name="Google Shape;17;p31"/>
          <p:cNvSpPr txBox="1">
            <a:spLocks noGrp="1"/>
          </p:cNvSpPr>
          <p:nvPr>
            <p:ph type="title"/>
          </p:nvPr>
        </p:nvSpPr>
        <p:spPr>
          <a:xfrm>
            <a:off x="901700" y="1201735"/>
            <a:ext cx="10194290" cy="240474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1" i="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1"/>
          <p:cNvSpPr txBox="1">
            <a:spLocks noGrp="1"/>
          </p:cNvSpPr>
          <p:nvPr>
            <p:ph type="ftr" idx="11"/>
          </p:nvPr>
        </p:nvSpPr>
        <p:spPr>
          <a:xfrm>
            <a:off x="225425" y="9896671"/>
            <a:ext cx="1322705" cy="311148"/>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000" b="0" i="0">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1"/>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1"/>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1"/>
        <p:cNvGrpSpPr/>
        <p:nvPr/>
      </p:nvGrpSpPr>
      <p:grpSpPr>
        <a:xfrm>
          <a:off x="0" y="0"/>
          <a:ext cx="0" cy="0"/>
          <a:chOff x="0" y="0"/>
          <a:chExt cx="0" cy="0"/>
        </a:xfrm>
      </p:grpSpPr>
      <p:sp>
        <p:nvSpPr>
          <p:cNvPr id="22" name="Google Shape;22;p32"/>
          <p:cNvSpPr txBox="1">
            <a:spLocks noGrp="1"/>
          </p:cNvSpPr>
          <p:nvPr>
            <p:ph type="ftr" idx="11"/>
          </p:nvPr>
        </p:nvSpPr>
        <p:spPr>
          <a:xfrm>
            <a:off x="225425" y="9896671"/>
            <a:ext cx="1322705" cy="311148"/>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000" b="0" i="0">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2"/>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2"/>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5"/>
        <p:cNvGrpSpPr/>
        <p:nvPr/>
      </p:nvGrpSpPr>
      <p:grpSpPr>
        <a:xfrm>
          <a:off x="0" y="0"/>
          <a:ext cx="0" cy="0"/>
          <a:chOff x="0" y="0"/>
          <a:chExt cx="0" cy="0"/>
        </a:xfrm>
      </p:grpSpPr>
      <p:sp>
        <p:nvSpPr>
          <p:cNvPr id="26" name="Google Shape;26;p33"/>
          <p:cNvSpPr txBox="1">
            <a:spLocks noGrp="1"/>
          </p:cNvSpPr>
          <p:nvPr>
            <p:ph type="title"/>
          </p:nvPr>
        </p:nvSpPr>
        <p:spPr>
          <a:xfrm>
            <a:off x="901700" y="1201735"/>
            <a:ext cx="10194290" cy="240474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1" i="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3"/>
          <p:cNvSpPr txBox="1">
            <a:spLocks noGrp="1"/>
          </p:cNvSpPr>
          <p:nvPr>
            <p:ph type="body" idx="1"/>
          </p:nvPr>
        </p:nvSpPr>
        <p:spPr>
          <a:xfrm>
            <a:off x="6981300" y="2431617"/>
            <a:ext cx="8622665" cy="23114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chemeClr val="lt1"/>
                </a:solidFill>
                <a:latin typeface="Verdana"/>
                <a:ea typeface="Verdana"/>
                <a:cs typeface="Verdana"/>
                <a:sym typeface="Verdana"/>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 name="Google Shape;28;p33"/>
          <p:cNvSpPr txBox="1">
            <a:spLocks noGrp="1"/>
          </p:cNvSpPr>
          <p:nvPr>
            <p:ph type="ftr" idx="11"/>
          </p:nvPr>
        </p:nvSpPr>
        <p:spPr>
          <a:xfrm>
            <a:off x="225425" y="9896671"/>
            <a:ext cx="1322705" cy="311148"/>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000" b="0" i="0">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3"/>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3"/>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1"/>
        <p:cNvGrpSpPr/>
        <p:nvPr/>
      </p:nvGrpSpPr>
      <p:grpSpPr>
        <a:xfrm>
          <a:off x="0" y="0"/>
          <a:ext cx="0" cy="0"/>
          <a:chOff x="0" y="0"/>
          <a:chExt cx="0" cy="0"/>
        </a:xfrm>
      </p:grpSpPr>
      <p:sp>
        <p:nvSpPr>
          <p:cNvPr id="32" name="Google Shape;32;p34"/>
          <p:cNvSpPr txBox="1">
            <a:spLocks noGrp="1"/>
          </p:cNvSpPr>
          <p:nvPr>
            <p:ph type="title"/>
          </p:nvPr>
        </p:nvSpPr>
        <p:spPr>
          <a:xfrm>
            <a:off x="901700" y="1201735"/>
            <a:ext cx="10194290" cy="240474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1" i="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4"/>
          <p:cNvSpPr txBox="1">
            <a:spLocks noGrp="1"/>
          </p:cNvSpPr>
          <p:nvPr>
            <p:ph type="body" idx="1"/>
          </p:nvPr>
        </p:nvSpPr>
        <p:spPr>
          <a:xfrm>
            <a:off x="914400" y="2366010"/>
            <a:ext cx="7955280" cy="678942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34"/>
          <p:cNvSpPr txBox="1">
            <a:spLocks noGrp="1"/>
          </p:cNvSpPr>
          <p:nvPr>
            <p:ph type="body" idx="2"/>
          </p:nvPr>
        </p:nvSpPr>
        <p:spPr>
          <a:xfrm>
            <a:off x="9631125" y="4787558"/>
            <a:ext cx="5722619" cy="5191759"/>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chemeClr val="lt1"/>
                </a:solidFill>
                <a:latin typeface="Verdana"/>
                <a:ea typeface="Verdana"/>
                <a:cs typeface="Verdana"/>
                <a:sym typeface="Verdana"/>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 name="Google Shape;35;p34"/>
          <p:cNvSpPr txBox="1">
            <a:spLocks noGrp="1"/>
          </p:cNvSpPr>
          <p:nvPr>
            <p:ph type="ftr" idx="11"/>
          </p:nvPr>
        </p:nvSpPr>
        <p:spPr>
          <a:xfrm>
            <a:off x="225425" y="9896671"/>
            <a:ext cx="1322705" cy="311148"/>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000" b="0" i="0">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34"/>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34"/>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8"/>
        <p:cNvGrpSpPr/>
        <p:nvPr/>
      </p:nvGrpSpPr>
      <p:grpSpPr>
        <a:xfrm>
          <a:off x="0" y="0"/>
          <a:ext cx="0" cy="0"/>
          <a:chOff x="0" y="0"/>
          <a:chExt cx="0" cy="0"/>
        </a:xfrm>
      </p:grpSpPr>
      <p:sp>
        <p:nvSpPr>
          <p:cNvPr id="39" name="Google Shape;39;p35"/>
          <p:cNvSpPr txBox="1">
            <a:spLocks noGrp="1"/>
          </p:cNvSpPr>
          <p:nvPr>
            <p:ph type="ctrTitle"/>
          </p:nvPr>
        </p:nvSpPr>
        <p:spPr>
          <a:xfrm>
            <a:off x="1371600" y="3188970"/>
            <a:ext cx="15544800" cy="21602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1" i="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5"/>
          <p:cNvSpPr txBox="1">
            <a:spLocks noGrp="1"/>
          </p:cNvSpPr>
          <p:nvPr>
            <p:ph type="subTitle" idx="1"/>
          </p:nvPr>
        </p:nvSpPr>
        <p:spPr>
          <a:xfrm>
            <a:off x="2743200" y="5760720"/>
            <a:ext cx="12801600" cy="25717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chemeClr val="lt1"/>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5"/>
          <p:cNvSpPr txBox="1">
            <a:spLocks noGrp="1"/>
          </p:cNvSpPr>
          <p:nvPr>
            <p:ph type="ftr" idx="11"/>
          </p:nvPr>
        </p:nvSpPr>
        <p:spPr>
          <a:xfrm>
            <a:off x="225425" y="9896671"/>
            <a:ext cx="1322705" cy="311148"/>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000" b="0" i="0">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5"/>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35"/>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30"/>
          <p:cNvPicPr preferRelativeResize="0"/>
          <p:nvPr/>
        </p:nvPicPr>
        <p:blipFill rotWithShape="1">
          <a:blip r:embed="rId7">
            <a:alphaModFix/>
          </a:blip>
          <a:srcRect/>
          <a:stretch/>
        </p:blipFill>
        <p:spPr>
          <a:xfrm>
            <a:off x="0" y="0"/>
            <a:ext cx="18288000" cy="10287000"/>
          </a:xfrm>
          <a:prstGeom prst="rect">
            <a:avLst/>
          </a:prstGeom>
          <a:noFill/>
          <a:ln>
            <a:noFill/>
          </a:ln>
        </p:spPr>
      </p:pic>
      <p:sp>
        <p:nvSpPr>
          <p:cNvPr id="11" name="Google Shape;11;p30"/>
          <p:cNvSpPr txBox="1">
            <a:spLocks noGrp="1"/>
          </p:cNvSpPr>
          <p:nvPr>
            <p:ph type="title"/>
          </p:nvPr>
        </p:nvSpPr>
        <p:spPr>
          <a:xfrm>
            <a:off x="901700" y="1201735"/>
            <a:ext cx="10194290" cy="240474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6000" b="1" i="0" u="none" strike="noStrike" cap="none">
                <a:solidFill>
                  <a:schemeClr val="lt1"/>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30"/>
          <p:cNvSpPr txBox="1">
            <a:spLocks noGrp="1"/>
          </p:cNvSpPr>
          <p:nvPr>
            <p:ph type="body" idx="1"/>
          </p:nvPr>
        </p:nvSpPr>
        <p:spPr>
          <a:xfrm>
            <a:off x="6981300" y="2431617"/>
            <a:ext cx="8622665" cy="23114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chemeClr val="lt1"/>
                </a:solidFill>
                <a:latin typeface="Verdana"/>
                <a:ea typeface="Verdana"/>
                <a:cs typeface="Verdana"/>
                <a:sym typeface="Verdana"/>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30"/>
          <p:cNvSpPr txBox="1">
            <a:spLocks noGrp="1"/>
          </p:cNvSpPr>
          <p:nvPr>
            <p:ph type="ftr" idx="11"/>
          </p:nvPr>
        </p:nvSpPr>
        <p:spPr>
          <a:xfrm>
            <a:off x="225425" y="9896671"/>
            <a:ext cx="1322705" cy="311148"/>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000" b="0" i="0">
                <a:solidFill>
                  <a:schemeClr val="lt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30"/>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30"/>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2.jpg"/><Relationship Id="rId5" Type="http://schemas.openxmlformats.org/officeDocument/2006/relationships/image" Target="../media/image21.png"/><Relationship Id="rId4" Type="http://schemas.openxmlformats.org/officeDocument/2006/relationships/image" Target="../media/image20.jp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2.jpg"/><Relationship Id="rId5" Type="http://schemas.openxmlformats.org/officeDocument/2006/relationships/image" Target="../media/image21.png"/><Relationship Id="rId4" Type="http://schemas.openxmlformats.org/officeDocument/2006/relationships/image" Target="../media/image20.jp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9.png"/><Relationship Id="rId7"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2.jpg"/><Relationship Id="rId5" Type="http://schemas.openxmlformats.org/officeDocument/2006/relationships/image" Target="../media/image21.png"/><Relationship Id="rId4" Type="http://schemas.openxmlformats.org/officeDocument/2006/relationships/image" Target="../media/image20.jpg"/><Relationship Id="rId9"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2.jpg"/><Relationship Id="rId5" Type="http://schemas.openxmlformats.org/officeDocument/2006/relationships/image" Target="../media/image21.png"/><Relationship Id="rId4" Type="http://schemas.openxmlformats.org/officeDocument/2006/relationships/image" Target="../media/image20.jpg"/><Relationship Id="rId9"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7"/>
        <p:cNvGrpSpPr/>
        <p:nvPr/>
      </p:nvGrpSpPr>
      <p:grpSpPr>
        <a:xfrm>
          <a:off x="0" y="0"/>
          <a:ext cx="0" cy="0"/>
          <a:chOff x="0" y="0"/>
          <a:chExt cx="0" cy="0"/>
        </a:xfrm>
      </p:grpSpPr>
      <p:pic>
        <p:nvPicPr>
          <p:cNvPr id="48" name="Google Shape;48;p1"/>
          <p:cNvPicPr preferRelativeResize="0"/>
          <p:nvPr/>
        </p:nvPicPr>
        <p:blipFill rotWithShape="1">
          <a:blip r:embed="rId3">
            <a:alphaModFix/>
          </a:blip>
          <a:srcRect/>
          <a:stretch/>
        </p:blipFill>
        <p:spPr>
          <a:xfrm>
            <a:off x="10886" y="0"/>
            <a:ext cx="18288000" cy="10287000"/>
          </a:xfrm>
          <a:prstGeom prst="rect">
            <a:avLst/>
          </a:prstGeom>
          <a:noFill/>
          <a:ln>
            <a:noFill/>
          </a:ln>
        </p:spPr>
      </p:pic>
      <p:sp>
        <p:nvSpPr>
          <p:cNvPr id="49" name="Google Shape;49;p1"/>
          <p:cNvSpPr txBox="1">
            <a:spLocks noGrp="1"/>
          </p:cNvSpPr>
          <p:nvPr>
            <p:ph type="title"/>
          </p:nvPr>
        </p:nvSpPr>
        <p:spPr>
          <a:xfrm>
            <a:off x="2215806" y="6515132"/>
            <a:ext cx="13856400" cy="1513500"/>
          </a:xfrm>
          <a:prstGeom prst="rect">
            <a:avLst/>
          </a:prstGeom>
          <a:noFill/>
          <a:ln>
            <a:noFill/>
          </a:ln>
        </p:spPr>
        <p:txBody>
          <a:bodyPr spcFirstLastPara="1" wrap="square" lIns="0" tIns="12700" rIns="0" bIns="0" anchor="t" anchorCtr="0">
            <a:spAutoFit/>
          </a:bodyPr>
          <a:lstStyle/>
          <a:p>
            <a:pPr marL="0" lvl="0" indent="0" algn="ctr" rtl="0">
              <a:lnSpc>
                <a:spcPct val="100000"/>
              </a:lnSpc>
              <a:spcBef>
                <a:spcPts val="0"/>
              </a:spcBef>
              <a:spcAft>
                <a:spcPts val="0"/>
              </a:spcAft>
              <a:buNone/>
            </a:pPr>
            <a:r>
              <a:rPr lang="fr-FR" sz="7000"/>
              <a:t>Splunk Enterprise Evaluation</a:t>
            </a:r>
            <a:br>
              <a:rPr lang="fr-FR" sz="9800"/>
            </a:br>
            <a:r>
              <a:rPr lang="fr-FR" sz="2750" b="0" i="1">
                <a:latin typeface="Verdana"/>
                <a:ea typeface="Verdana"/>
                <a:cs typeface="Verdana"/>
                <a:sym typeface="Verdana"/>
              </a:rPr>
              <a:t>Experimental Analysis of Threat Detection Capabilities</a:t>
            </a:r>
            <a:endParaRPr sz="2750">
              <a:latin typeface="Verdana"/>
              <a:ea typeface="Verdana"/>
              <a:cs typeface="Verdana"/>
              <a:sym typeface="Verdana"/>
            </a:endParaRPr>
          </a:p>
        </p:txBody>
      </p:sp>
      <p:pic>
        <p:nvPicPr>
          <p:cNvPr id="50" name="Google Shape;50;p1" descr="Splunk Enterprise - Features, Reviews &amp; Pricing (January 2026)"/>
          <p:cNvPicPr preferRelativeResize="0"/>
          <p:nvPr/>
        </p:nvPicPr>
        <p:blipFill rotWithShape="1">
          <a:blip r:embed="rId4">
            <a:alphaModFix/>
          </a:blip>
          <a:srcRect/>
          <a:stretch/>
        </p:blipFill>
        <p:spPr>
          <a:xfrm>
            <a:off x="7238999" y="2073214"/>
            <a:ext cx="3810000" cy="3810000"/>
          </a:xfrm>
          <a:prstGeom prst="roundRect">
            <a:avLst>
              <a:gd name="adj" fmla="val 4167"/>
            </a:avLst>
          </a:prstGeom>
          <a:solidFill>
            <a:srgbClr val="FFFFFF"/>
          </a:solidFill>
          <a:ln w="76200" cap="sq" cmpd="sng">
            <a:solidFill>
              <a:srgbClr val="292929"/>
            </a:solidFill>
            <a:prstDash val="solid"/>
            <a:miter lim="800000"/>
            <a:headEnd type="none" w="sm" len="sm"/>
            <a:tailEnd type="none" w="sm" len="sm"/>
          </a:ln>
          <a:effectLst>
            <a:reflection stA="28000" endPos="28000" dist="5000" dir="5400000" sy="-100000" algn="bl" rotWithShape="0"/>
          </a:effectLst>
        </p:spPr>
      </p:pic>
      <p:sp>
        <p:nvSpPr>
          <p:cNvPr id="51" name="Google Shape;51;p1"/>
          <p:cNvSpPr txBox="1"/>
          <p:nvPr/>
        </p:nvSpPr>
        <p:spPr>
          <a:xfrm>
            <a:off x="4490357" y="8970071"/>
            <a:ext cx="9307284" cy="923289"/>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None/>
            </a:pPr>
            <a:r>
              <a:rPr lang="fr-FR" sz="1800" i="1" dirty="0">
                <a:solidFill>
                  <a:schemeClr val="lt1"/>
                </a:solidFill>
                <a:latin typeface="Verdana"/>
                <a:ea typeface="Verdana"/>
                <a:cs typeface="Verdana"/>
                <a:sym typeface="Verdana"/>
              </a:rPr>
              <a:t>ICT Risk </a:t>
            </a:r>
            <a:r>
              <a:rPr lang="fr-FR" sz="1800" i="1" dirty="0" err="1">
                <a:solidFill>
                  <a:schemeClr val="lt1"/>
                </a:solidFill>
                <a:latin typeface="Verdana"/>
                <a:ea typeface="Verdana"/>
                <a:cs typeface="Verdana"/>
                <a:sym typeface="Verdana"/>
              </a:rPr>
              <a:t>Assessement</a:t>
            </a:r>
            <a:endParaRPr sz="1800" i="1" dirty="0">
              <a:solidFill>
                <a:schemeClr val="lt1"/>
              </a:solidFill>
              <a:latin typeface="Verdana"/>
              <a:ea typeface="Verdana"/>
              <a:cs typeface="Verdana"/>
              <a:sym typeface="Verdana"/>
            </a:endParaRPr>
          </a:p>
          <a:p>
            <a:pPr marL="0" lvl="0" indent="0" algn="ctr" rtl="0">
              <a:spcBef>
                <a:spcPts val="0"/>
              </a:spcBef>
              <a:spcAft>
                <a:spcPts val="0"/>
              </a:spcAft>
              <a:buNone/>
            </a:pPr>
            <a:r>
              <a:rPr lang="fr-FR" sz="1800" i="1" dirty="0">
                <a:solidFill>
                  <a:schemeClr val="lt1"/>
                </a:solidFill>
                <a:latin typeface="Verdana"/>
                <a:ea typeface="Verdana"/>
                <a:cs typeface="Verdana"/>
                <a:sym typeface="Verdana"/>
              </a:rPr>
              <a:t>Melissa </a:t>
            </a:r>
            <a:r>
              <a:rPr lang="fr-FR" sz="1800" i="1" dirty="0" err="1">
                <a:solidFill>
                  <a:schemeClr val="lt1"/>
                </a:solidFill>
                <a:latin typeface="Verdana"/>
                <a:ea typeface="Verdana"/>
                <a:cs typeface="Verdana"/>
                <a:sym typeface="Verdana"/>
              </a:rPr>
              <a:t>Abdelkafi</a:t>
            </a:r>
            <a:r>
              <a:rPr lang="fr-FR" sz="1800" i="1" dirty="0">
                <a:solidFill>
                  <a:schemeClr val="lt1"/>
                </a:solidFill>
                <a:latin typeface="Verdana"/>
                <a:ea typeface="Verdana"/>
                <a:cs typeface="Verdana"/>
                <a:sym typeface="Verdana"/>
              </a:rPr>
              <a:t> - 702815</a:t>
            </a:r>
            <a:endParaRPr dirty="0"/>
          </a:p>
          <a:p>
            <a:pPr marL="0" lvl="0" indent="0" algn="ctr" rtl="0">
              <a:spcBef>
                <a:spcPts val="0"/>
              </a:spcBef>
              <a:spcAft>
                <a:spcPts val="0"/>
              </a:spcAft>
              <a:buNone/>
            </a:pPr>
            <a:r>
              <a:rPr lang="fr-FR" sz="1800" i="1" dirty="0">
                <a:solidFill>
                  <a:schemeClr val="lt1"/>
                </a:solidFill>
                <a:latin typeface="Verdana"/>
                <a:ea typeface="Verdana"/>
                <a:cs typeface="Verdana"/>
                <a:sym typeface="Verdana"/>
              </a:rPr>
              <a:t>Academic </a:t>
            </a:r>
            <a:r>
              <a:rPr lang="fr-FR" sz="1800" i="1" dirty="0" err="1">
                <a:solidFill>
                  <a:schemeClr val="lt1"/>
                </a:solidFill>
                <a:latin typeface="Verdana"/>
                <a:ea typeface="Verdana"/>
                <a:cs typeface="Verdana"/>
                <a:sym typeface="Verdana"/>
              </a:rPr>
              <a:t>Year</a:t>
            </a:r>
            <a:r>
              <a:rPr lang="fr-FR" sz="1800" i="1" dirty="0">
                <a:solidFill>
                  <a:schemeClr val="lt1"/>
                </a:solidFill>
                <a:latin typeface="Verdana"/>
                <a:ea typeface="Verdana"/>
                <a:cs typeface="Verdana"/>
                <a:sym typeface="Verdana"/>
              </a:rPr>
              <a:t> : 2025-2026</a:t>
            </a:r>
            <a:endParaRPr sz="1800" dirty="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2"/>
          <p:cNvSpPr txBox="1"/>
          <p:nvPr/>
        </p:nvSpPr>
        <p:spPr>
          <a:xfrm>
            <a:off x="533400" y="952500"/>
            <a:ext cx="4052249" cy="689932"/>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fr-FR" sz="4400" b="1">
                <a:solidFill>
                  <a:srgbClr val="FFFFFF"/>
                </a:solidFill>
                <a:latin typeface="Tahoma"/>
                <a:ea typeface="Tahoma"/>
                <a:cs typeface="Tahoma"/>
                <a:sym typeface="Tahoma"/>
              </a:rPr>
              <a:t>Introduction</a:t>
            </a:r>
            <a:endParaRPr sz="4400">
              <a:latin typeface="Tahoma"/>
              <a:ea typeface="Tahoma"/>
              <a:cs typeface="Tahoma"/>
              <a:sym typeface="Tahoma"/>
            </a:endParaRPr>
          </a:p>
        </p:txBody>
      </p:sp>
      <p:sp>
        <p:nvSpPr>
          <p:cNvPr id="57" name="Google Shape;57;p2"/>
          <p:cNvSpPr txBox="1"/>
          <p:nvPr/>
        </p:nvSpPr>
        <p:spPr>
          <a:xfrm>
            <a:off x="5638800" y="3086100"/>
            <a:ext cx="12052300" cy="4472506"/>
          </a:xfrm>
          <a:prstGeom prst="rect">
            <a:avLst/>
          </a:prstGeom>
          <a:noFill/>
          <a:ln>
            <a:noFill/>
          </a:ln>
        </p:spPr>
        <p:txBody>
          <a:bodyPr spcFirstLastPara="1" wrap="square" lIns="0" tIns="12700" rIns="0" bIns="0" anchor="t" anchorCtr="0">
            <a:spAutoFit/>
          </a:bodyPr>
          <a:lstStyle/>
          <a:p>
            <a:pPr marL="12700" marR="5080" lvl="0" indent="0" algn="l" rtl="0">
              <a:lnSpc>
                <a:spcPct val="114999"/>
              </a:lnSpc>
              <a:spcBef>
                <a:spcPts val="0"/>
              </a:spcBef>
              <a:spcAft>
                <a:spcPts val="0"/>
              </a:spcAft>
              <a:buNone/>
            </a:pPr>
            <a:r>
              <a:rPr lang="fr-FR" sz="2800" dirty="0">
                <a:solidFill>
                  <a:schemeClr val="lt1"/>
                </a:solidFill>
              </a:rPr>
              <a:t>The </a:t>
            </a:r>
            <a:r>
              <a:rPr lang="fr-FR" sz="2800" dirty="0" err="1">
                <a:solidFill>
                  <a:schemeClr val="lt1"/>
                </a:solidFill>
              </a:rPr>
              <a:t>project</a:t>
            </a:r>
            <a:r>
              <a:rPr lang="fr-FR" sz="2800" dirty="0">
                <a:solidFill>
                  <a:schemeClr val="lt1"/>
                </a:solidFill>
              </a:rPr>
              <a:t> </a:t>
            </a:r>
            <a:r>
              <a:rPr lang="fr-FR" sz="2800" dirty="0" err="1">
                <a:solidFill>
                  <a:schemeClr val="lt1"/>
                </a:solidFill>
              </a:rPr>
              <a:t>started</a:t>
            </a:r>
            <a:r>
              <a:rPr lang="fr-FR" sz="2800" dirty="0">
                <a:solidFill>
                  <a:schemeClr val="lt1"/>
                </a:solidFill>
              </a:rPr>
              <a:t> as an </a:t>
            </a:r>
            <a:r>
              <a:rPr lang="fr-FR" sz="2800" dirty="0" err="1">
                <a:solidFill>
                  <a:schemeClr val="lt1"/>
                </a:solidFill>
              </a:rPr>
              <a:t>evaluation</a:t>
            </a:r>
            <a:r>
              <a:rPr lang="fr-FR" sz="2800" dirty="0">
                <a:solidFill>
                  <a:schemeClr val="lt1"/>
                </a:solidFill>
              </a:rPr>
              <a:t> of Splunk </a:t>
            </a:r>
            <a:r>
              <a:rPr lang="fr-FR" sz="2800" dirty="0" err="1">
                <a:solidFill>
                  <a:schemeClr val="lt1"/>
                </a:solidFill>
              </a:rPr>
              <a:t>Enterprise’s</a:t>
            </a:r>
            <a:r>
              <a:rPr lang="fr-FR" sz="2800" dirty="0">
                <a:solidFill>
                  <a:schemeClr val="lt1"/>
                </a:solidFill>
              </a:rPr>
              <a:t> </a:t>
            </a:r>
            <a:r>
              <a:rPr lang="fr-FR" sz="2800" dirty="0" err="1">
                <a:solidFill>
                  <a:schemeClr val="lt1"/>
                </a:solidFill>
              </a:rPr>
              <a:t>technical</a:t>
            </a:r>
            <a:r>
              <a:rPr lang="fr-FR" sz="2800" dirty="0">
                <a:solidFill>
                  <a:schemeClr val="lt1"/>
                </a:solidFill>
              </a:rPr>
              <a:t> </a:t>
            </a:r>
            <a:r>
              <a:rPr lang="fr-FR" sz="2800" dirty="0" err="1">
                <a:solidFill>
                  <a:schemeClr val="lt1"/>
                </a:solidFill>
              </a:rPr>
              <a:t>capabilities</a:t>
            </a:r>
            <a:r>
              <a:rPr lang="fr-FR" sz="2800" dirty="0">
                <a:solidFill>
                  <a:schemeClr val="lt1"/>
                </a:solidFill>
              </a:rPr>
              <a:t> in </a:t>
            </a:r>
            <a:r>
              <a:rPr lang="fr-FR" sz="2800" dirty="0" err="1">
                <a:solidFill>
                  <a:schemeClr val="lt1"/>
                </a:solidFill>
              </a:rPr>
              <a:t>detecting</a:t>
            </a:r>
            <a:r>
              <a:rPr lang="fr-FR" sz="2800" dirty="0">
                <a:solidFill>
                  <a:schemeClr val="lt1"/>
                </a:solidFill>
              </a:rPr>
              <a:t> </a:t>
            </a:r>
            <a:r>
              <a:rPr lang="fr-FR" sz="2800" dirty="0" err="1">
                <a:solidFill>
                  <a:schemeClr val="lt1"/>
                </a:solidFill>
              </a:rPr>
              <a:t>threats</a:t>
            </a:r>
            <a:r>
              <a:rPr lang="fr-FR" sz="2800" dirty="0">
                <a:solidFill>
                  <a:schemeClr val="lt1"/>
                </a:solidFill>
              </a:rPr>
              <a:t> as a </a:t>
            </a:r>
            <a:r>
              <a:rPr lang="fr-FR" sz="2800" dirty="0" err="1">
                <a:solidFill>
                  <a:schemeClr val="lt1"/>
                </a:solidFill>
              </a:rPr>
              <a:t>security</a:t>
            </a:r>
            <a:r>
              <a:rPr lang="fr-FR" sz="2800" dirty="0">
                <a:solidFill>
                  <a:schemeClr val="lt1"/>
                </a:solidFill>
              </a:rPr>
              <a:t> </a:t>
            </a:r>
            <a:r>
              <a:rPr lang="fr-FR" sz="2800" dirty="0" err="1">
                <a:solidFill>
                  <a:schemeClr val="lt1"/>
                </a:solidFill>
              </a:rPr>
              <a:t>analytics</a:t>
            </a:r>
            <a:r>
              <a:rPr lang="fr-FR" sz="2800" dirty="0">
                <a:solidFill>
                  <a:schemeClr val="lt1"/>
                </a:solidFill>
              </a:rPr>
              <a:t> platform. </a:t>
            </a:r>
            <a:r>
              <a:rPr lang="fr-FR" sz="2800" dirty="0" err="1">
                <a:solidFill>
                  <a:schemeClr val="lt1"/>
                </a:solidFill>
              </a:rPr>
              <a:t>While</a:t>
            </a:r>
            <a:r>
              <a:rPr lang="fr-FR" sz="2800" dirty="0">
                <a:solidFill>
                  <a:schemeClr val="lt1"/>
                </a:solidFill>
              </a:rPr>
              <a:t> the main point of </a:t>
            </a:r>
            <a:r>
              <a:rPr lang="fr-FR" sz="2800" dirty="0" err="1">
                <a:solidFill>
                  <a:schemeClr val="lt1"/>
                </a:solidFill>
              </a:rPr>
              <a:t>this</a:t>
            </a:r>
            <a:r>
              <a:rPr lang="fr-FR" sz="2800" dirty="0">
                <a:solidFill>
                  <a:schemeClr val="lt1"/>
                </a:solidFill>
              </a:rPr>
              <a:t> </a:t>
            </a:r>
            <a:r>
              <a:rPr lang="fr-FR" sz="2800" dirty="0" err="1">
                <a:solidFill>
                  <a:schemeClr val="lt1"/>
                </a:solidFill>
              </a:rPr>
              <a:t>study</a:t>
            </a:r>
            <a:r>
              <a:rPr lang="fr-FR" sz="2800" dirty="0">
                <a:solidFill>
                  <a:schemeClr val="lt1"/>
                </a:solidFill>
              </a:rPr>
              <a:t> </a:t>
            </a:r>
            <a:r>
              <a:rPr lang="fr-FR" sz="2800" dirty="0" err="1">
                <a:solidFill>
                  <a:schemeClr val="lt1"/>
                </a:solidFill>
              </a:rPr>
              <a:t>was</a:t>
            </a:r>
            <a:r>
              <a:rPr lang="fr-FR" sz="2800" dirty="0">
                <a:solidFill>
                  <a:schemeClr val="lt1"/>
                </a:solidFill>
              </a:rPr>
              <a:t> to test </a:t>
            </a:r>
            <a:r>
              <a:rPr lang="fr-FR" sz="2800" dirty="0" err="1">
                <a:solidFill>
                  <a:schemeClr val="lt1"/>
                </a:solidFill>
              </a:rPr>
              <a:t>features</a:t>
            </a:r>
            <a:r>
              <a:rPr lang="fr-FR" sz="2800" dirty="0">
                <a:solidFill>
                  <a:schemeClr val="lt1"/>
                </a:solidFill>
              </a:rPr>
              <a:t> </a:t>
            </a:r>
            <a:r>
              <a:rPr lang="fr-FR" sz="2800" dirty="0" err="1">
                <a:solidFill>
                  <a:schemeClr val="lt1"/>
                </a:solidFill>
              </a:rPr>
              <a:t>using</a:t>
            </a:r>
            <a:r>
              <a:rPr lang="fr-FR" sz="2800" dirty="0">
                <a:solidFill>
                  <a:schemeClr val="lt1"/>
                </a:solidFill>
              </a:rPr>
              <a:t> </a:t>
            </a:r>
            <a:r>
              <a:rPr lang="fr-FR" sz="2800" dirty="0" err="1">
                <a:solidFill>
                  <a:schemeClr val="lt1"/>
                </a:solidFill>
              </a:rPr>
              <a:t>synthetic</a:t>
            </a:r>
            <a:r>
              <a:rPr lang="fr-FR" sz="2800" dirty="0">
                <a:solidFill>
                  <a:schemeClr val="lt1"/>
                </a:solidFill>
              </a:rPr>
              <a:t> data, a blind </a:t>
            </a:r>
            <a:r>
              <a:rPr lang="fr-FR" sz="2800" dirty="0" err="1">
                <a:solidFill>
                  <a:schemeClr val="lt1"/>
                </a:solidFill>
              </a:rPr>
              <a:t>analysis</a:t>
            </a:r>
            <a:r>
              <a:rPr lang="fr-FR" sz="2800" dirty="0">
                <a:solidFill>
                  <a:schemeClr val="lt1"/>
                </a:solidFill>
              </a:rPr>
              <a:t> </a:t>
            </a:r>
            <a:r>
              <a:rPr lang="fr-FR" sz="2800" dirty="0" err="1">
                <a:solidFill>
                  <a:schemeClr val="lt1"/>
                </a:solidFill>
              </a:rPr>
              <a:t>was</a:t>
            </a:r>
            <a:r>
              <a:rPr lang="fr-FR" sz="2800" dirty="0">
                <a:solidFill>
                  <a:schemeClr val="lt1"/>
                </a:solidFill>
              </a:rPr>
              <a:t> </a:t>
            </a:r>
            <a:r>
              <a:rPr lang="fr-FR" sz="2800" dirty="0" err="1">
                <a:solidFill>
                  <a:schemeClr val="lt1"/>
                </a:solidFill>
              </a:rPr>
              <a:t>conducted</a:t>
            </a:r>
            <a:r>
              <a:rPr lang="fr-FR" sz="2800" dirty="0">
                <a:solidFill>
                  <a:schemeClr val="lt1"/>
                </a:solidFill>
              </a:rPr>
              <a:t> </a:t>
            </a:r>
            <a:r>
              <a:rPr lang="fr-FR" sz="2800" dirty="0" err="1">
                <a:solidFill>
                  <a:schemeClr val="lt1"/>
                </a:solidFill>
              </a:rPr>
              <a:t>that</a:t>
            </a:r>
            <a:r>
              <a:rPr lang="fr-FR" sz="2800" dirty="0">
                <a:solidFill>
                  <a:schemeClr val="lt1"/>
                </a:solidFill>
              </a:rPr>
              <a:t> </a:t>
            </a:r>
            <a:r>
              <a:rPr lang="fr-FR" sz="2800" dirty="0" err="1">
                <a:solidFill>
                  <a:schemeClr val="lt1"/>
                </a:solidFill>
              </a:rPr>
              <a:t>revealed</a:t>
            </a:r>
            <a:r>
              <a:rPr lang="fr-FR" sz="2800" dirty="0">
                <a:solidFill>
                  <a:schemeClr val="lt1"/>
                </a:solidFill>
              </a:rPr>
              <a:t> </a:t>
            </a:r>
            <a:r>
              <a:rPr lang="fr-FR" sz="2800" dirty="0" err="1">
                <a:solidFill>
                  <a:schemeClr val="lt1"/>
                </a:solidFill>
              </a:rPr>
              <a:t>additional</a:t>
            </a:r>
            <a:r>
              <a:rPr lang="fr-FR" sz="2800" dirty="0">
                <a:solidFill>
                  <a:schemeClr val="lt1"/>
                </a:solidFill>
              </a:rPr>
              <a:t> </a:t>
            </a:r>
            <a:r>
              <a:rPr lang="fr-FR" sz="2800" dirty="0" err="1">
                <a:solidFill>
                  <a:schemeClr val="lt1"/>
                </a:solidFill>
              </a:rPr>
              <a:t>malicious</a:t>
            </a:r>
            <a:r>
              <a:rPr lang="fr-FR" sz="2800" dirty="0">
                <a:solidFill>
                  <a:schemeClr val="lt1"/>
                </a:solidFill>
              </a:rPr>
              <a:t> </a:t>
            </a:r>
            <a:r>
              <a:rPr lang="fr-FR" sz="2800" dirty="0" err="1">
                <a:solidFill>
                  <a:schemeClr val="lt1"/>
                </a:solidFill>
              </a:rPr>
              <a:t>activity</a:t>
            </a:r>
            <a:r>
              <a:rPr lang="fr-FR" sz="2800" dirty="0">
                <a:solidFill>
                  <a:schemeClr val="lt1"/>
                </a:solidFill>
              </a:rPr>
              <a:t> </a:t>
            </a:r>
            <a:r>
              <a:rPr lang="fr-FR" sz="2800" dirty="0" err="1">
                <a:solidFill>
                  <a:schemeClr val="lt1"/>
                </a:solidFill>
              </a:rPr>
              <a:t>that</a:t>
            </a:r>
            <a:r>
              <a:rPr lang="fr-FR" sz="2800" dirty="0">
                <a:solidFill>
                  <a:schemeClr val="lt1"/>
                </a:solidFill>
              </a:rPr>
              <a:t> </a:t>
            </a:r>
            <a:r>
              <a:rPr lang="fr-FR" sz="2800" dirty="0" err="1">
                <a:solidFill>
                  <a:schemeClr val="lt1"/>
                </a:solidFill>
              </a:rPr>
              <a:t>weren’t</a:t>
            </a:r>
            <a:r>
              <a:rPr lang="fr-FR" sz="2800" dirty="0">
                <a:solidFill>
                  <a:schemeClr val="lt1"/>
                </a:solidFill>
              </a:rPr>
              <a:t> in the </a:t>
            </a:r>
            <a:r>
              <a:rPr lang="fr-FR" sz="2800" dirty="0" err="1">
                <a:solidFill>
                  <a:schemeClr val="lt1"/>
                </a:solidFill>
              </a:rPr>
              <a:t>provided</a:t>
            </a:r>
            <a:r>
              <a:rPr lang="fr-FR" sz="2800" dirty="0">
                <a:solidFill>
                  <a:schemeClr val="lt1"/>
                </a:solidFill>
              </a:rPr>
              <a:t> </a:t>
            </a:r>
            <a:r>
              <a:rPr lang="fr-FR" sz="2800" dirty="0" err="1">
                <a:solidFill>
                  <a:schemeClr val="lt1"/>
                </a:solidFill>
              </a:rPr>
              <a:t>alerts</a:t>
            </a:r>
            <a:r>
              <a:rPr lang="fr-FR" sz="2800" dirty="0">
                <a:solidFill>
                  <a:schemeClr val="lt1"/>
                </a:solidFill>
              </a:rPr>
              <a:t> file. </a:t>
            </a:r>
            <a:r>
              <a:rPr lang="fr-FR" sz="2800" dirty="0" err="1">
                <a:solidFill>
                  <a:schemeClr val="lt1"/>
                </a:solidFill>
              </a:rPr>
              <a:t>What</a:t>
            </a:r>
            <a:r>
              <a:rPr lang="fr-FR" sz="2800" dirty="0">
                <a:solidFill>
                  <a:schemeClr val="lt1"/>
                </a:solidFill>
              </a:rPr>
              <a:t> </a:t>
            </a:r>
            <a:r>
              <a:rPr lang="fr-FR" sz="2800" dirty="0" err="1">
                <a:solidFill>
                  <a:schemeClr val="lt1"/>
                </a:solidFill>
              </a:rPr>
              <a:t>started</a:t>
            </a:r>
            <a:r>
              <a:rPr lang="fr-FR" sz="2800" dirty="0">
                <a:solidFill>
                  <a:schemeClr val="lt1"/>
                </a:solidFill>
              </a:rPr>
              <a:t> as a </a:t>
            </a:r>
            <a:r>
              <a:rPr lang="fr-FR" sz="2800" dirty="0" err="1">
                <a:solidFill>
                  <a:schemeClr val="lt1"/>
                </a:solidFill>
              </a:rPr>
              <a:t>straightforward</a:t>
            </a:r>
            <a:r>
              <a:rPr lang="fr-FR" sz="2800" dirty="0">
                <a:solidFill>
                  <a:schemeClr val="lt1"/>
                </a:solidFill>
              </a:rPr>
              <a:t> ”</a:t>
            </a:r>
            <a:r>
              <a:rPr lang="fr-FR" sz="2800" b="1" dirty="0">
                <a:solidFill>
                  <a:schemeClr val="lt1"/>
                </a:solidFill>
              </a:rPr>
              <a:t>Can Splunk Enterprise </a:t>
            </a:r>
            <a:r>
              <a:rPr lang="fr-FR" sz="2800" b="1" dirty="0" err="1">
                <a:solidFill>
                  <a:schemeClr val="lt1"/>
                </a:solidFill>
              </a:rPr>
              <a:t>detect</a:t>
            </a:r>
            <a:r>
              <a:rPr lang="fr-FR" sz="2800" b="1" dirty="0">
                <a:solidFill>
                  <a:schemeClr val="lt1"/>
                </a:solidFill>
              </a:rPr>
              <a:t> </a:t>
            </a:r>
            <a:r>
              <a:rPr lang="fr-FR" sz="2800" b="1" dirty="0" err="1">
                <a:solidFill>
                  <a:schemeClr val="lt1"/>
                </a:solidFill>
              </a:rPr>
              <a:t>threats</a:t>
            </a:r>
            <a:r>
              <a:rPr lang="fr-FR" sz="2800" dirty="0">
                <a:solidFill>
                  <a:schemeClr val="lt1"/>
                </a:solidFill>
              </a:rPr>
              <a:t>?” </a:t>
            </a:r>
            <a:r>
              <a:rPr lang="fr-FR" sz="2800" dirty="0" err="1">
                <a:solidFill>
                  <a:schemeClr val="lt1"/>
                </a:solidFill>
              </a:rPr>
              <a:t>turned</a:t>
            </a:r>
            <a:r>
              <a:rPr lang="fr-FR" sz="2800" dirty="0">
                <a:solidFill>
                  <a:schemeClr val="lt1"/>
                </a:solidFill>
              </a:rPr>
              <a:t> </a:t>
            </a:r>
            <a:r>
              <a:rPr lang="fr-FR" sz="2800" dirty="0" err="1">
                <a:solidFill>
                  <a:schemeClr val="lt1"/>
                </a:solidFill>
              </a:rPr>
              <a:t>into</a:t>
            </a:r>
            <a:r>
              <a:rPr lang="fr-FR" sz="2800" dirty="0">
                <a:solidFill>
                  <a:schemeClr val="lt1"/>
                </a:solidFill>
              </a:rPr>
              <a:t> a </a:t>
            </a:r>
            <a:r>
              <a:rPr lang="fr-FR" sz="2800" dirty="0" err="1">
                <a:solidFill>
                  <a:schemeClr val="lt1"/>
                </a:solidFill>
              </a:rPr>
              <a:t>much</a:t>
            </a:r>
            <a:r>
              <a:rPr lang="fr-FR" sz="2800" dirty="0">
                <a:solidFill>
                  <a:schemeClr val="lt1"/>
                </a:solidFill>
              </a:rPr>
              <a:t> more </a:t>
            </a:r>
            <a:r>
              <a:rPr lang="fr-FR" sz="2800" dirty="0" err="1">
                <a:solidFill>
                  <a:schemeClr val="lt1"/>
                </a:solidFill>
              </a:rPr>
              <a:t>intriguing</a:t>
            </a:r>
            <a:r>
              <a:rPr lang="fr-FR" sz="2800" dirty="0">
                <a:solidFill>
                  <a:schemeClr val="lt1"/>
                </a:solidFill>
              </a:rPr>
              <a:t> question: ”</a:t>
            </a:r>
            <a:r>
              <a:rPr lang="fr-FR" sz="2800" b="1" dirty="0">
                <a:solidFill>
                  <a:schemeClr val="lt1"/>
                </a:solidFill>
              </a:rPr>
              <a:t>Can Splunk Enterprise </a:t>
            </a:r>
            <a:r>
              <a:rPr lang="fr-FR" sz="2800" b="1" dirty="0" err="1">
                <a:solidFill>
                  <a:schemeClr val="lt1"/>
                </a:solidFill>
              </a:rPr>
              <a:t>effectively</a:t>
            </a:r>
            <a:r>
              <a:rPr lang="fr-FR" sz="2800" b="1" dirty="0">
                <a:solidFill>
                  <a:schemeClr val="lt1"/>
                </a:solidFill>
              </a:rPr>
              <a:t> </a:t>
            </a:r>
            <a:r>
              <a:rPr lang="fr-FR" sz="2800" b="1" dirty="0" err="1">
                <a:solidFill>
                  <a:schemeClr val="lt1"/>
                </a:solidFill>
              </a:rPr>
              <a:t>identify</a:t>
            </a:r>
            <a:r>
              <a:rPr lang="fr-FR" sz="2800" b="1" dirty="0">
                <a:solidFill>
                  <a:schemeClr val="lt1"/>
                </a:solidFill>
              </a:rPr>
              <a:t> </a:t>
            </a:r>
            <a:r>
              <a:rPr lang="fr-FR" sz="2800" b="1" dirty="0" err="1">
                <a:solidFill>
                  <a:schemeClr val="lt1"/>
                </a:solidFill>
              </a:rPr>
              <a:t>additional</a:t>
            </a:r>
            <a:r>
              <a:rPr lang="fr-FR" sz="2800" b="1" dirty="0">
                <a:solidFill>
                  <a:schemeClr val="lt1"/>
                </a:solidFill>
              </a:rPr>
              <a:t> </a:t>
            </a:r>
            <a:r>
              <a:rPr lang="fr-FR" sz="2800" b="1" dirty="0" err="1">
                <a:solidFill>
                  <a:schemeClr val="lt1"/>
                </a:solidFill>
              </a:rPr>
              <a:t>threats</a:t>
            </a:r>
            <a:r>
              <a:rPr lang="fr-FR" sz="2800" b="1" dirty="0">
                <a:solidFill>
                  <a:schemeClr val="lt1"/>
                </a:solidFill>
              </a:rPr>
              <a:t> </a:t>
            </a:r>
            <a:r>
              <a:rPr lang="fr-FR" sz="2800" b="1" dirty="0" err="1">
                <a:solidFill>
                  <a:schemeClr val="lt1"/>
                </a:solidFill>
              </a:rPr>
              <a:t>that</a:t>
            </a:r>
            <a:r>
              <a:rPr lang="fr-FR" sz="2800" b="1" dirty="0">
                <a:solidFill>
                  <a:schemeClr val="lt1"/>
                </a:solidFill>
              </a:rPr>
              <a:t> </a:t>
            </a:r>
            <a:r>
              <a:rPr lang="fr-FR" sz="2800" b="1" dirty="0" err="1">
                <a:solidFill>
                  <a:schemeClr val="lt1"/>
                </a:solidFill>
              </a:rPr>
              <a:t>were</a:t>
            </a:r>
            <a:r>
              <a:rPr lang="fr-FR" sz="2800" b="1" dirty="0">
                <a:solidFill>
                  <a:schemeClr val="lt1"/>
                </a:solidFill>
              </a:rPr>
              <a:t> </a:t>
            </a:r>
            <a:r>
              <a:rPr lang="fr-FR" sz="2800" b="1" dirty="0" err="1">
                <a:solidFill>
                  <a:schemeClr val="lt1"/>
                </a:solidFill>
              </a:rPr>
              <a:t>missed</a:t>
            </a:r>
            <a:r>
              <a:rPr lang="fr-FR" sz="2800" dirty="0">
                <a:solidFill>
                  <a:schemeClr val="lt1"/>
                </a:solidFill>
              </a:rPr>
              <a:t>?” This report documents </a:t>
            </a:r>
            <a:r>
              <a:rPr lang="fr-FR" sz="2800" dirty="0" err="1">
                <a:solidFill>
                  <a:schemeClr val="lt1"/>
                </a:solidFill>
              </a:rPr>
              <a:t>my</a:t>
            </a:r>
            <a:r>
              <a:rPr lang="fr-FR" sz="2800" dirty="0">
                <a:solidFill>
                  <a:schemeClr val="lt1"/>
                </a:solidFill>
              </a:rPr>
              <a:t> </a:t>
            </a:r>
            <a:r>
              <a:rPr lang="fr-FR" sz="2800" dirty="0" err="1">
                <a:solidFill>
                  <a:schemeClr val="lt1"/>
                </a:solidFill>
              </a:rPr>
              <a:t>attempts</a:t>
            </a:r>
            <a:r>
              <a:rPr lang="fr-FR" sz="2800" dirty="0">
                <a:solidFill>
                  <a:schemeClr val="lt1"/>
                </a:solidFill>
              </a:rPr>
              <a:t> to </a:t>
            </a:r>
            <a:r>
              <a:rPr lang="fr-FR" sz="2800" dirty="0" err="1">
                <a:solidFill>
                  <a:schemeClr val="lt1"/>
                </a:solidFill>
              </a:rPr>
              <a:t>answer</a:t>
            </a:r>
            <a:r>
              <a:rPr lang="fr-FR" sz="2800" dirty="0">
                <a:solidFill>
                  <a:schemeClr val="lt1"/>
                </a:solidFill>
              </a:rPr>
              <a:t> </a:t>
            </a:r>
            <a:r>
              <a:rPr lang="fr-FR" sz="2800" dirty="0" err="1">
                <a:solidFill>
                  <a:schemeClr val="lt1"/>
                </a:solidFill>
              </a:rPr>
              <a:t>this</a:t>
            </a:r>
            <a:r>
              <a:rPr lang="fr-FR" sz="2800" dirty="0">
                <a:solidFill>
                  <a:schemeClr val="lt1"/>
                </a:solidFill>
              </a:rPr>
              <a:t> question.</a:t>
            </a:r>
            <a:endParaRPr sz="2800" b="1" dirty="0">
              <a:solidFill>
                <a:schemeClr val="lt1"/>
              </a:solidFill>
              <a:latin typeface="Verdana"/>
              <a:ea typeface="Verdana"/>
              <a:cs typeface="Verdana"/>
              <a:sym typeface="Verdana"/>
            </a:endParaRPr>
          </a:p>
        </p:txBody>
      </p:sp>
      <p:pic>
        <p:nvPicPr>
          <p:cNvPr id="58" name="Google Shape;58;p2"/>
          <p:cNvPicPr preferRelativeResize="0"/>
          <p:nvPr/>
        </p:nvPicPr>
        <p:blipFill rotWithShape="1">
          <a:blip r:embed="rId3">
            <a:alphaModFix/>
          </a:blip>
          <a:srcRect/>
          <a:stretch/>
        </p:blipFill>
        <p:spPr>
          <a:xfrm>
            <a:off x="5377411" y="8343900"/>
            <a:ext cx="12037199" cy="91499"/>
          </a:xfrm>
          <a:prstGeom prst="rect">
            <a:avLst/>
          </a:prstGeom>
          <a:noFill/>
          <a:ln>
            <a:noFill/>
          </a:ln>
        </p:spPr>
      </p:pic>
      <p:pic>
        <p:nvPicPr>
          <p:cNvPr id="59" name="Google Shape;59;p2"/>
          <p:cNvPicPr preferRelativeResize="0"/>
          <p:nvPr/>
        </p:nvPicPr>
        <p:blipFill rotWithShape="1">
          <a:blip r:embed="rId4">
            <a:alphaModFix/>
          </a:blip>
          <a:srcRect/>
          <a:stretch/>
        </p:blipFill>
        <p:spPr>
          <a:xfrm>
            <a:off x="4800600" y="0"/>
            <a:ext cx="146399" cy="102869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pic>
        <p:nvPicPr>
          <p:cNvPr id="64" name="Google Shape;64;p3"/>
          <p:cNvPicPr preferRelativeResize="0"/>
          <p:nvPr/>
        </p:nvPicPr>
        <p:blipFill rotWithShape="1">
          <a:blip r:embed="rId3">
            <a:alphaModFix/>
          </a:blip>
          <a:srcRect/>
          <a:stretch/>
        </p:blipFill>
        <p:spPr>
          <a:xfrm>
            <a:off x="1212342" y="3878197"/>
            <a:ext cx="3026699" cy="3022599"/>
          </a:xfrm>
          <a:prstGeom prst="rect">
            <a:avLst/>
          </a:prstGeom>
          <a:noFill/>
          <a:ln>
            <a:noFill/>
          </a:ln>
        </p:spPr>
      </p:pic>
      <p:sp>
        <p:nvSpPr>
          <p:cNvPr id="65" name="Google Shape;65;p3"/>
          <p:cNvSpPr/>
          <p:nvPr/>
        </p:nvSpPr>
        <p:spPr>
          <a:xfrm>
            <a:off x="6018762" y="0"/>
            <a:ext cx="28575" cy="10287000"/>
          </a:xfrm>
          <a:custGeom>
            <a:avLst/>
            <a:gdLst/>
            <a:ahLst/>
            <a:cxnLst/>
            <a:rect l="l" t="t" r="r" b="b"/>
            <a:pathLst>
              <a:path w="28575" h="10287000" extrusionOk="0">
                <a:moveTo>
                  <a:pt x="0" y="0"/>
                </a:moveTo>
                <a:lnTo>
                  <a:pt x="28574" y="0"/>
                </a:lnTo>
                <a:lnTo>
                  <a:pt x="28574" y="10286999"/>
                </a:lnTo>
                <a:lnTo>
                  <a:pt x="0" y="10286999"/>
                </a:lnTo>
                <a:lnTo>
                  <a:pt x="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6" name="Google Shape;66;p3"/>
          <p:cNvSpPr txBox="1">
            <a:spLocks noGrp="1"/>
          </p:cNvSpPr>
          <p:nvPr>
            <p:ph type="title"/>
          </p:nvPr>
        </p:nvSpPr>
        <p:spPr>
          <a:xfrm>
            <a:off x="381000" y="2507278"/>
            <a:ext cx="7357109"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4400"/>
              <a:t>Primary Objectives </a:t>
            </a:r>
            <a:endParaRPr sz="4400"/>
          </a:p>
        </p:txBody>
      </p:sp>
      <p:sp>
        <p:nvSpPr>
          <p:cNvPr id="67" name="Google Shape;67;p3"/>
          <p:cNvSpPr txBox="1">
            <a:spLocks noGrp="1"/>
          </p:cNvSpPr>
          <p:nvPr>
            <p:ph type="body" idx="1"/>
          </p:nvPr>
        </p:nvSpPr>
        <p:spPr>
          <a:xfrm>
            <a:off x="7086600" y="3357861"/>
            <a:ext cx="11049000" cy="3526606"/>
          </a:xfrm>
          <a:prstGeom prst="rect">
            <a:avLst/>
          </a:prstGeom>
          <a:noFill/>
          <a:ln>
            <a:noFill/>
          </a:ln>
        </p:spPr>
        <p:txBody>
          <a:bodyPr spcFirstLastPara="1" wrap="square" lIns="0" tIns="218425" rIns="0" bIns="0" anchor="t" anchorCtr="0">
            <a:spAutoFit/>
          </a:bodyPr>
          <a:lstStyle/>
          <a:p>
            <a:pPr marL="355600" lvl="0" indent="-342900" algn="l" rtl="0">
              <a:lnSpc>
                <a:spcPct val="100000"/>
              </a:lnSpc>
              <a:spcBef>
                <a:spcPts val="0"/>
              </a:spcBef>
              <a:spcAft>
                <a:spcPts val="0"/>
              </a:spcAft>
              <a:buClr>
                <a:schemeClr val="lt1"/>
              </a:buClr>
              <a:buSzPts val="2400"/>
              <a:buFont typeface="Arial"/>
              <a:buChar char="•"/>
            </a:pPr>
            <a:r>
              <a:rPr lang="fr-FR"/>
              <a:t>Ingest log datasets </a:t>
            </a:r>
            <a:endParaRPr/>
          </a:p>
          <a:p>
            <a:pPr marL="355600" lvl="0" indent="-342900" algn="l" rtl="0">
              <a:lnSpc>
                <a:spcPct val="100000"/>
              </a:lnSpc>
              <a:spcBef>
                <a:spcPts val="1720"/>
              </a:spcBef>
              <a:spcAft>
                <a:spcPts val="0"/>
              </a:spcAft>
              <a:buClr>
                <a:schemeClr val="lt1"/>
              </a:buClr>
              <a:buSzPts val="2400"/>
              <a:buFont typeface="Arial"/>
              <a:buChar char="•"/>
            </a:pPr>
            <a:r>
              <a:rPr lang="fr-FR"/>
              <a:t>Real-time analytics via Search Processing Language (SPL) </a:t>
            </a:r>
            <a:endParaRPr/>
          </a:p>
          <a:p>
            <a:pPr marL="355600" lvl="0" indent="-342900" algn="l" rtl="0">
              <a:lnSpc>
                <a:spcPct val="100000"/>
              </a:lnSpc>
              <a:spcBef>
                <a:spcPts val="1720"/>
              </a:spcBef>
              <a:spcAft>
                <a:spcPts val="0"/>
              </a:spcAft>
              <a:buClr>
                <a:schemeClr val="lt1"/>
              </a:buClr>
              <a:buSzPts val="2400"/>
              <a:buFont typeface="Arial"/>
              <a:buChar char="•"/>
            </a:pPr>
            <a:r>
              <a:rPr lang="fr-FR"/>
              <a:t>Test AI toolkit </a:t>
            </a:r>
            <a:endParaRPr/>
          </a:p>
          <a:p>
            <a:pPr marL="355600" lvl="0" indent="-342900" algn="l" rtl="0">
              <a:lnSpc>
                <a:spcPct val="100000"/>
              </a:lnSpc>
              <a:spcBef>
                <a:spcPts val="1720"/>
              </a:spcBef>
              <a:spcAft>
                <a:spcPts val="0"/>
              </a:spcAft>
              <a:buClr>
                <a:schemeClr val="lt1"/>
              </a:buClr>
              <a:buSzPts val="2400"/>
              <a:buFont typeface="Arial"/>
              <a:buChar char="•"/>
            </a:pPr>
            <a:r>
              <a:rPr lang="fr-FR"/>
              <a:t>Leverage Splunk’s BI-style dashboards </a:t>
            </a:r>
            <a:endParaRPr/>
          </a:p>
          <a:p>
            <a:pPr marL="355600" lvl="0" indent="-342900" algn="l" rtl="0">
              <a:lnSpc>
                <a:spcPct val="100000"/>
              </a:lnSpc>
              <a:spcBef>
                <a:spcPts val="1720"/>
              </a:spcBef>
              <a:spcAft>
                <a:spcPts val="0"/>
              </a:spcAft>
              <a:buClr>
                <a:schemeClr val="lt1"/>
              </a:buClr>
              <a:buSzPts val="2400"/>
              <a:buFont typeface="Arial"/>
              <a:buChar char="•"/>
            </a:pPr>
            <a:r>
              <a:rPr lang="fr-FR"/>
              <a:t>Threat detection and risk scoring </a:t>
            </a:r>
            <a:endParaRPr/>
          </a:p>
          <a:p>
            <a:pPr marL="355600" lvl="0" indent="-342900" algn="l" rtl="0">
              <a:lnSpc>
                <a:spcPct val="100000"/>
              </a:lnSpc>
              <a:spcBef>
                <a:spcPts val="1720"/>
              </a:spcBef>
              <a:spcAft>
                <a:spcPts val="0"/>
              </a:spcAft>
              <a:buClr>
                <a:schemeClr val="lt1"/>
              </a:buClr>
              <a:buSzPts val="2400"/>
              <a:buFont typeface="Arial"/>
              <a:buChar char="•"/>
            </a:pPr>
            <a:r>
              <a:rPr lang="fr-FR"/>
              <a:t>Evaluate performance</a:t>
            </a:r>
            <a:endParaRPr/>
          </a:p>
        </p:txBody>
      </p:sp>
      <p:sp>
        <p:nvSpPr>
          <p:cNvPr id="68" name="Google Shape;68;p3"/>
          <p:cNvSpPr txBox="1"/>
          <p:nvPr/>
        </p:nvSpPr>
        <p:spPr>
          <a:xfrm>
            <a:off x="2215243" y="4604667"/>
            <a:ext cx="2154022" cy="156966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9600" b="1">
                <a:solidFill>
                  <a:schemeClr val="lt1"/>
                </a:solidFill>
              </a:rPr>
              <a:t>&gt;</a:t>
            </a:r>
            <a:r>
              <a:rPr lang="fr-FR" sz="1800" b="1"/>
              <a:t> </a:t>
            </a:r>
            <a:endParaRPr sz="18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4"/>
          <p:cNvSpPr txBox="1">
            <a:spLocks noGrp="1"/>
          </p:cNvSpPr>
          <p:nvPr>
            <p:ph type="title"/>
          </p:nvPr>
        </p:nvSpPr>
        <p:spPr>
          <a:xfrm>
            <a:off x="3352800" y="1312998"/>
            <a:ext cx="13652500" cy="1075294"/>
          </a:xfrm>
          <a:prstGeom prst="rect">
            <a:avLst/>
          </a:prstGeom>
          <a:noFill/>
          <a:ln>
            <a:noFill/>
          </a:ln>
        </p:spPr>
        <p:txBody>
          <a:bodyPr spcFirstLastPara="1" wrap="square" lIns="0" tIns="333375" rIns="0" bIns="0" anchor="t" anchorCtr="0">
            <a:spAutoFit/>
          </a:bodyPr>
          <a:lstStyle/>
          <a:p>
            <a:pPr marL="12700" lvl="0" indent="0" algn="l" rtl="0">
              <a:lnSpc>
                <a:spcPct val="100000"/>
              </a:lnSpc>
              <a:spcBef>
                <a:spcPts val="0"/>
              </a:spcBef>
              <a:spcAft>
                <a:spcPts val="0"/>
              </a:spcAft>
              <a:buNone/>
            </a:pPr>
            <a:r>
              <a:rPr lang="fr-FR" sz="4800"/>
              <a:t>Methodology &amp; Evaluation Metrics</a:t>
            </a:r>
            <a:endParaRPr sz="4800">
              <a:latin typeface="Verdana"/>
              <a:ea typeface="Verdana"/>
              <a:cs typeface="Verdana"/>
              <a:sym typeface="Verdana"/>
            </a:endParaRPr>
          </a:p>
        </p:txBody>
      </p:sp>
      <p:sp>
        <p:nvSpPr>
          <p:cNvPr id="74" name="Google Shape;74;p4"/>
          <p:cNvSpPr txBox="1"/>
          <p:nvPr/>
        </p:nvSpPr>
        <p:spPr>
          <a:xfrm>
            <a:off x="620860" y="5275776"/>
            <a:ext cx="5113244" cy="2598147"/>
          </a:xfrm>
          <a:prstGeom prst="rect">
            <a:avLst/>
          </a:prstGeom>
          <a:noFill/>
          <a:ln>
            <a:noFill/>
          </a:ln>
        </p:spPr>
        <p:txBody>
          <a:bodyPr spcFirstLastPara="1" wrap="square" lIns="0" tIns="12700" rIns="0" bIns="0" anchor="t" anchorCtr="0">
            <a:spAutoFit/>
          </a:bodyPr>
          <a:lstStyle/>
          <a:p>
            <a:pPr marL="342900" lvl="0" indent="-342900" algn="l" rtl="0">
              <a:spcBef>
                <a:spcPts val="0"/>
              </a:spcBef>
              <a:spcAft>
                <a:spcPts val="0"/>
              </a:spcAft>
              <a:buClr>
                <a:schemeClr val="lt1"/>
              </a:buClr>
              <a:buSzPts val="2400"/>
              <a:buFont typeface="Arial"/>
              <a:buChar char="•"/>
            </a:pPr>
            <a:r>
              <a:rPr lang="fr-FR" sz="2400">
                <a:solidFill>
                  <a:schemeClr val="lt1"/>
                </a:solidFill>
              </a:rPr>
              <a:t>Dataset: WarmCookie malware traffic (pcap + alerts)</a:t>
            </a:r>
            <a:endParaRPr/>
          </a:p>
          <a:p>
            <a:pPr marL="342900" lvl="0" indent="-342900" algn="l" rtl="0">
              <a:spcBef>
                <a:spcPts val="0"/>
              </a:spcBef>
              <a:spcAft>
                <a:spcPts val="0"/>
              </a:spcAft>
              <a:buClr>
                <a:schemeClr val="lt1"/>
              </a:buClr>
              <a:buSzPts val="2400"/>
              <a:buFont typeface="Arial"/>
              <a:buChar char="•"/>
            </a:pPr>
            <a:r>
              <a:rPr lang="fr-FR" sz="2400">
                <a:solidFill>
                  <a:schemeClr val="lt1"/>
                </a:solidFill>
              </a:rPr>
              <a:t>Time windows: 4 min (alerts) /</a:t>
            </a:r>
            <a:endParaRPr/>
          </a:p>
          <a:p>
            <a:pPr marL="0" lvl="0" indent="0" algn="l" rtl="0">
              <a:spcBef>
                <a:spcPts val="0"/>
              </a:spcBef>
              <a:spcAft>
                <a:spcPts val="0"/>
              </a:spcAft>
              <a:buNone/>
            </a:pPr>
            <a:r>
              <a:rPr lang="fr-FR" sz="2400">
                <a:solidFill>
                  <a:schemeClr val="lt1"/>
                </a:solidFill>
              </a:rPr>
              <a:t>    32 min (traffic)</a:t>
            </a:r>
            <a:endParaRPr/>
          </a:p>
          <a:p>
            <a:pPr marL="342900" lvl="0" indent="-342900" algn="l" rtl="0">
              <a:spcBef>
                <a:spcPts val="0"/>
              </a:spcBef>
              <a:spcAft>
                <a:spcPts val="0"/>
              </a:spcAft>
              <a:buClr>
                <a:schemeClr val="lt1"/>
              </a:buClr>
              <a:buSzPts val="2400"/>
              <a:buFont typeface="Arial"/>
              <a:buChar char="•"/>
            </a:pPr>
            <a:r>
              <a:rPr lang="fr-FR" sz="2400">
                <a:solidFill>
                  <a:schemeClr val="lt1"/>
                </a:solidFill>
              </a:rPr>
              <a:t>Total packets: 18,189</a:t>
            </a:r>
            <a:endParaRPr/>
          </a:p>
          <a:p>
            <a:pPr marL="342900" lvl="0" indent="-342900" algn="l" rtl="0">
              <a:spcBef>
                <a:spcPts val="0"/>
              </a:spcBef>
              <a:spcAft>
                <a:spcPts val="0"/>
              </a:spcAft>
              <a:buClr>
                <a:schemeClr val="lt1"/>
              </a:buClr>
              <a:buSzPts val="2400"/>
              <a:buFont typeface="Arial"/>
              <a:buChar char="•"/>
            </a:pPr>
            <a:r>
              <a:rPr lang="fr-FR" sz="2400">
                <a:solidFill>
                  <a:schemeClr val="lt1"/>
                </a:solidFill>
              </a:rPr>
              <a:t>Data converted to CSV for Splunk ingestion.</a:t>
            </a:r>
            <a:endParaRPr sz="2400">
              <a:solidFill>
                <a:schemeClr val="lt1"/>
              </a:solidFill>
              <a:latin typeface="Verdana"/>
              <a:ea typeface="Verdana"/>
              <a:cs typeface="Verdana"/>
              <a:sym typeface="Verdana"/>
            </a:endParaRPr>
          </a:p>
        </p:txBody>
      </p:sp>
      <p:sp>
        <p:nvSpPr>
          <p:cNvPr id="75" name="Google Shape;75;p4"/>
          <p:cNvSpPr txBox="1"/>
          <p:nvPr/>
        </p:nvSpPr>
        <p:spPr>
          <a:xfrm>
            <a:off x="6683005" y="4914900"/>
            <a:ext cx="4980800" cy="2967479"/>
          </a:xfrm>
          <a:prstGeom prst="rect">
            <a:avLst/>
          </a:prstGeom>
          <a:noFill/>
          <a:ln>
            <a:noFill/>
          </a:ln>
        </p:spPr>
        <p:txBody>
          <a:bodyPr spcFirstLastPara="1" wrap="square" lIns="0" tIns="12700" rIns="0" bIns="0" anchor="t" anchorCtr="0">
            <a:spAutoFit/>
          </a:bodyPr>
          <a:lstStyle/>
          <a:p>
            <a:pPr marL="342900" lvl="0" indent="-190500" algn="l" rtl="0">
              <a:spcBef>
                <a:spcPts val="0"/>
              </a:spcBef>
              <a:spcAft>
                <a:spcPts val="0"/>
              </a:spcAft>
              <a:buSzPts val="2400"/>
              <a:buFont typeface="Arial"/>
              <a:buNone/>
            </a:pPr>
            <a:endParaRPr sz="2400">
              <a:solidFill>
                <a:schemeClr val="lt1"/>
              </a:solidFill>
            </a:endParaRPr>
          </a:p>
          <a:p>
            <a:pPr marL="342900" lvl="0" indent="-342900" algn="l" rtl="0">
              <a:spcBef>
                <a:spcPts val="0"/>
              </a:spcBef>
              <a:spcAft>
                <a:spcPts val="0"/>
              </a:spcAft>
              <a:buClr>
                <a:schemeClr val="lt1"/>
              </a:buClr>
              <a:buSzPts val="2400"/>
              <a:buFont typeface="Arial"/>
              <a:buChar char="•"/>
            </a:pPr>
            <a:r>
              <a:rPr lang="fr-FR" sz="2400">
                <a:solidFill>
                  <a:schemeClr val="lt1"/>
                </a:solidFill>
              </a:rPr>
              <a:t>Alert Coverage </a:t>
            </a:r>
            <a:endParaRPr/>
          </a:p>
          <a:p>
            <a:pPr marL="342900" lvl="0" indent="-342900" algn="l" rtl="0">
              <a:spcBef>
                <a:spcPts val="0"/>
              </a:spcBef>
              <a:spcAft>
                <a:spcPts val="0"/>
              </a:spcAft>
              <a:buClr>
                <a:schemeClr val="lt1"/>
              </a:buClr>
              <a:buSzPts val="2400"/>
              <a:buFont typeface="Arial"/>
              <a:buChar char="•"/>
            </a:pPr>
            <a:r>
              <a:rPr lang="fr-FR" sz="2400">
                <a:solidFill>
                  <a:schemeClr val="lt1"/>
                </a:solidFill>
              </a:rPr>
              <a:t>Threat Discovery Rate </a:t>
            </a:r>
            <a:endParaRPr/>
          </a:p>
          <a:p>
            <a:pPr marL="342900" lvl="0" indent="-342900" algn="l" rtl="0">
              <a:spcBef>
                <a:spcPts val="0"/>
              </a:spcBef>
              <a:spcAft>
                <a:spcPts val="0"/>
              </a:spcAft>
              <a:buClr>
                <a:schemeClr val="lt1"/>
              </a:buClr>
              <a:buSzPts val="2400"/>
              <a:buFont typeface="Arial"/>
              <a:buChar char="•"/>
            </a:pPr>
            <a:r>
              <a:rPr lang="fr-FR" sz="2400">
                <a:solidFill>
                  <a:schemeClr val="lt1"/>
                </a:solidFill>
              </a:rPr>
              <a:t>Data Loss Amount </a:t>
            </a:r>
            <a:endParaRPr/>
          </a:p>
          <a:p>
            <a:pPr marL="342900" lvl="0" indent="-342900" algn="l" rtl="0">
              <a:spcBef>
                <a:spcPts val="0"/>
              </a:spcBef>
              <a:spcAft>
                <a:spcPts val="0"/>
              </a:spcAft>
              <a:buClr>
                <a:schemeClr val="lt1"/>
              </a:buClr>
              <a:buSzPts val="2400"/>
              <a:buFont typeface="Arial"/>
              <a:buChar char="•"/>
            </a:pPr>
            <a:r>
              <a:rPr lang="fr-FR" sz="2400">
                <a:solidFill>
                  <a:schemeClr val="lt1"/>
                </a:solidFill>
              </a:rPr>
              <a:t>Attacker Servers </a:t>
            </a:r>
            <a:endParaRPr/>
          </a:p>
          <a:p>
            <a:pPr marL="342900" lvl="0" indent="-342900" algn="l" rtl="0">
              <a:spcBef>
                <a:spcPts val="0"/>
              </a:spcBef>
              <a:spcAft>
                <a:spcPts val="0"/>
              </a:spcAft>
              <a:buClr>
                <a:schemeClr val="lt1"/>
              </a:buClr>
              <a:buSzPts val="2400"/>
              <a:buFont typeface="Arial"/>
              <a:buChar char="•"/>
            </a:pPr>
            <a:r>
              <a:rPr lang="fr-FR" sz="2400">
                <a:solidFill>
                  <a:schemeClr val="lt1"/>
                </a:solidFill>
              </a:rPr>
              <a:t>Malware Delivery</a:t>
            </a:r>
            <a:endParaRPr/>
          </a:p>
          <a:p>
            <a:pPr marL="342900" lvl="0" indent="-342900" algn="l" rtl="0">
              <a:spcBef>
                <a:spcPts val="0"/>
              </a:spcBef>
              <a:spcAft>
                <a:spcPts val="0"/>
              </a:spcAft>
              <a:buClr>
                <a:schemeClr val="lt1"/>
              </a:buClr>
              <a:buSzPts val="2400"/>
              <a:buFont typeface="Arial"/>
              <a:buChar char="•"/>
            </a:pPr>
            <a:r>
              <a:rPr lang="fr-FR" sz="2400">
                <a:solidFill>
                  <a:schemeClr val="lt1"/>
                </a:solidFill>
              </a:rPr>
              <a:t>Attack Infrastructure</a:t>
            </a:r>
            <a:endParaRPr/>
          </a:p>
          <a:p>
            <a:pPr marL="342900" lvl="0" indent="-342900" algn="l" rtl="0">
              <a:spcBef>
                <a:spcPts val="0"/>
              </a:spcBef>
              <a:spcAft>
                <a:spcPts val="0"/>
              </a:spcAft>
              <a:buClr>
                <a:schemeClr val="lt1"/>
              </a:buClr>
              <a:buSzPts val="2400"/>
              <a:buFont typeface="Arial"/>
              <a:buChar char="•"/>
            </a:pPr>
            <a:r>
              <a:rPr lang="fr-FR" sz="2400">
                <a:solidFill>
                  <a:schemeClr val="lt1"/>
                </a:solidFill>
              </a:rPr>
              <a:t>Behavioral Patterns </a:t>
            </a:r>
            <a:endParaRPr sz="2400" b="1">
              <a:solidFill>
                <a:schemeClr val="lt1"/>
              </a:solidFill>
            </a:endParaRPr>
          </a:p>
        </p:txBody>
      </p:sp>
      <p:sp>
        <p:nvSpPr>
          <p:cNvPr id="76" name="Google Shape;76;p4"/>
          <p:cNvSpPr txBox="1"/>
          <p:nvPr/>
        </p:nvSpPr>
        <p:spPr>
          <a:xfrm>
            <a:off x="12214681" y="5263240"/>
            <a:ext cx="5755500" cy="830997"/>
          </a:xfrm>
          <a:prstGeom prst="rect">
            <a:avLst/>
          </a:prstGeom>
          <a:noFill/>
          <a:ln>
            <a:noFill/>
          </a:ln>
        </p:spPr>
        <p:txBody>
          <a:bodyPr spcFirstLastPara="1" wrap="square" lIns="91425" tIns="45700" rIns="91425" bIns="45700" anchor="t" anchorCtr="0">
            <a:spAutoFit/>
          </a:bodyPr>
          <a:lstStyle/>
          <a:p>
            <a:pPr marL="342900" lvl="0" indent="-342900" algn="l" rtl="0">
              <a:spcBef>
                <a:spcPts val="0"/>
              </a:spcBef>
              <a:spcAft>
                <a:spcPts val="0"/>
              </a:spcAft>
              <a:buClr>
                <a:schemeClr val="lt1"/>
              </a:buClr>
              <a:buSzPts val="2400"/>
              <a:buFont typeface="Arial"/>
              <a:buChar char="•"/>
            </a:pPr>
            <a:r>
              <a:rPr lang="fr-FR" sz="2400">
                <a:solidFill>
                  <a:schemeClr val="lt1"/>
                </a:solidFill>
              </a:rPr>
              <a:t>Analysis using SPL queries for threat discovery and validation</a:t>
            </a:r>
            <a:endParaRPr/>
          </a:p>
        </p:txBody>
      </p:sp>
      <p:pic>
        <p:nvPicPr>
          <p:cNvPr id="77" name="Google Shape;77;p4"/>
          <p:cNvPicPr preferRelativeResize="0"/>
          <p:nvPr/>
        </p:nvPicPr>
        <p:blipFill rotWithShape="1">
          <a:blip r:embed="rId3">
            <a:alphaModFix/>
          </a:blip>
          <a:srcRect/>
          <a:stretch/>
        </p:blipFill>
        <p:spPr>
          <a:xfrm>
            <a:off x="623261" y="3617607"/>
            <a:ext cx="4800600" cy="692451"/>
          </a:xfrm>
          <a:prstGeom prst="rect">
            <a:avLst/>
          </a:prstGeom>
          <a:noFill/>
          <a:ln>
            <a:noFill/>
          </a:ln>
        </p:spPr>
      </p:pic>
      <p:sp>
        <p:nvSpPr>
          <p:cNvPr id="78" name="Google Shape;78;p4"/>
          <p:cNvSpPr txBox="1"/>
          <p:nvPr/>
        </p:nvSpPr>
        <p:spPr>
          <a:xfrm>
            <a:off x="1712099" y="3546734"/>
            <a:ext cx="9144000" cy="769441"/>
          </a:xfrm>
          <a:prstGeom prst="rect">
            <a:avLst/>
          </a:prstGeom>
          <a:noFill/>
          <a:ln>
            <a:noFill/>
          </a:ln>
        </p:spPr>
        <p:txBody>
          <a:bodyPr spcFirstLastPara="1" wrap="square" lIns="91425" tIns="45700" rIns="91425" bIns="45700" anchor="t" anchorCtr="0">
            <a:spAutoFit/>
          </a:bodyPr>
          <a:lstStyle/>
          <a:p>
            <a:pPr marL="12700" lvl="0" indent="0" algn="l" rtl="0">
              <a:lnSpc>
                <a:spcPct val="100000"/>
              </a:lnSpc>
              <a:spcBef>
                <a:spcPts val="0"/>
              </a:spcBef>
              <a:spcAft>
                <a:spcPts val="0"/>
              </a:spcAft>
              <a:buNone/>
            </a:pPr>
            <a:r>
              <a:rPr lang="fr-FR" sz="4400" b="1">
                <a:solidFill>
                  <a:schemeClr val="lt1"/>
                </a:solidFill>
                <a:latin typeface="Tahoma"/>
                <a:ea typeface="Tahoma"/>
                <a:cs typeface="Tahoma"/>
                <a:sym typeface="Tahoma"/>
              </a:rPr>
              <a:t>Set up</a:t>
            </a:r>
            <a:endParaRPr sz="4400">
              <a:solidFill>
                <a:schemeClr val="lt1"/>
              </a:solidFill>
              <a:latin typeface="Tahoma"/>
              <a:ea typeface="Tahoma"/>
              <a:cs typeface="Tahoma"/>
              <a:sym typeface="Tahoma"/>
            </a:endParaRPr>
          </a:p>
        </p:txBody>
      </p:sp>
      <p:pic>
        <p:nvPicPr>
          <p:cNvPr id="79" name="Google Shape;79;p4"/>
          <p:cNvPicPr preferRelativeResize="0"/>
          <p:nvPr/>
        </p:nvPicPr>
        <p:blipFill rotWithShape="1">
          <a:blip r:embed="rId4">
            <a:alphaModFix/>
          </a:blip>
          <a:srcRect/>
          <a:stretch/>
        </p:blipFill>
        <p:spPr>
          <a:xfrm>
            <a:off x="6644905" y="3600533"/>
            <a:ext cx="4477489" cy="712584"/>
          </a:xfrm>
          <a:prstGeom prst="rect">
            <a:avLst/>
          </a:prstGeom>
          <a:noFill/>
          <a:ln>
            <a:noFill/>
          </a:ln>
        </p:spPr>
      </p:pic>
      <p:sp>
        <p:nvSpPr>
          <p:cNvPr id="80" name="Google Shape;80;p4"/>
          <p:cNvSpPr txBox="1"/>
          <p:nvPr/>
        </p:nvSpPr>
        <p:spPr>
          <a:xfrm>
            <a:off x="7029505" y="3540617"/>
            <a:ext cx="9144000" cy="769441"/>
          </a:xfrm>
          <a:prstGeom prst="rect">
            <a:avLst/>
          </a:prstGeom>
          <a:noFill/>
          <a:ln>
            <a:noFill/>
          </a:ln>
        </p:spPr>
        <p:txBody>
          <a:bodyPr spcFirstLastPara="1" wrap="square" lIns="91425" tIns="45700" rIns="91425" bIns="45700" anchor="t" anchorCtr="0">
            <a:spAutoFit/>
          </a:bodyPr>
          <a:lstStyle/>
          <a:p>
            <a:pPr marL="12700" lvl="0" indent="0" algn="l" rtl="0">
              <a:lnSpc>
                <a:spcPct val="100000"/>
              </a:lnSpc>
              <a:spcBef>
                <a:spcPts val="0"/>
              </a:spcBef>
              <a:spcAft>
                <a:spcPts val="0"/>
              </a:spcAft>
              <a:buNone/>
            </a:pPr>
            <a:r>
              <a:rPr lang="fr-FR" sz="4400" b="1">
                <a:solidFill>
                  <a:schemeClr val="lt1"/>
                </a:solidFill>
                <a:latin typeface="Tahoma"/>
                <a:ea typeface="Tahoma"/>
                <a:cs typeface="Tahoma"/>
                <a:sym typeface="Tahoma"/>
              </a:rPr>
              <a:t>Key Metrics</a:t>
            </a:r>
            <a:endParaRPr sz="4400">
              <a:solidFill>
                <a:schemeClr val="lt1"/>
              </a:solidFill>
              <a:latin typeface="Tahoma"/>
              <a:ea typeface="Tahoma"/>
              <a:cs typeface="Tahoma"/>
              <a:sym typeface="Tahoma"/>
            </a:endParaRPr>
          </a:p>
        </p:txBody>
      </p:sp>
      <p:pic>
        <p:nvPicPr>
          <p:cNvPr id="81" name="Google Shape;81;p4"/>
          <p:cNvPicPr preferRelativeResize="0"/>
          <p:nvPr/>
        </p:nvPicPr>
        <p:blipFill rotWithShape="1">
          <a:blip r:embed="rId3">
            <a:alphaModFix/>
          </a:blip>
          <a:srcRect/>
          <a:stretch/>
        </p:blipFill>
        <p:spPr>
          <a:xfrm>
            <a:off x="12236452" y="3617607"/>
            <a:ext cx="5755500" cy="712583"/>
          </a:xfrm>
          <a:prstGeom prst="rect">
            <a:avLst/>
          </a:prstGeom>
          <a:noFill/>
          <a:ln>
            <a:noFill/>
          </a:ln>
        </p:spPr>
      </p:pic>
      <p:sp>
        <p:nvSpPr>
          <p:cNvPr id="82" name="Google Shape;82;p4"/>
          <p:cNvSpPr txBox="1"/>
          <p:nvPr/>
        </p:nvSpPr>
        <p:spPr>
          <a:xfrm>
            <a:off x="12499843" y="3589177"/>
            <a:ext cx="5755500" cy="769441"/>
          </a:xfrm>
          <a:prstGeom prst="rect">
            <a:avLst/>
          </a:prstGeom>
          <a:noFill/>
          <a:ln>
            <a:noFill/>
          </a:ln>
        </p:spPr>
        <p:txBody>
          <a:bodyPr spcFirstLastPara="1" wrap="square" lIns="91425" tIns="45700" rIns="91425" bIns="45700" anchor="t" anchorCtr="0">
            <a:spAutoFit/>
          </a:bodyPr>
          <a:lstStyle/>
          <a:p>
            <a:pPr marL="12700" lvl="0" indent="0" algn="l" rtl="0">
              <a:lnSpc>
                <a:spcPct val="100000"/>
              </a:lnSpc>
              <a:spcBef>
                <a:spcPts val="0"/>
              </a:spcBef>
              <a:spcAft>
                <a:spcPts val="0"/>
              </a:spcAft>
              <a:buNone/>
            </a:pPr>
            <a:r>
              <a:rPr lang="fr-FR" sz="4400" b="1">
                <a:solidFill>
                  <a:schemeClr val="lt1"/>
                </a:solidFill>
              </a:rPr>
              <a:t>Analysis Approach</a:t>
            </a:r>
            <a:endParaRPr sz="4400">
              <a:solidFill>
                <a:schemeClr val="lt1"/>
              </a:solidFill>
              <a:latin typeface="Tahoma"/>
              <a:ea typeface="Tahoma"/>
              <a:cs typeface="Tahoma"/>
              <a:sym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5"/>
          <p:cNvPicPr preferRelativeResize="0"/>
          <p:nvPr/>
        </p:nvPicPr>
        <p:blipFill rotWithShape="1">
          <a:blip r:embed="rId3">
            <a:alphaModFix/>
          </a:blip>
          <a:srcRect/>
          <a:stretch/>
        </p:blipFill>
        <p:spPr>
          <a:xfrm>
            <a:off x="0" y="0"/>
            <a:ext cx="146399" cy="10286999"/>
          </a:xfrm>
          <a:prstGeom prst="rect">
            <a:avLst/>
          </a:prstGeom>
          <a:noFill/>
          <a:ln>
            <a:noFill/>
          </a:ln>
        </p:spPr>
      </p:pic>
      <p:sp>
        <p:nvSpPr>
          <p:cNvPr id="88" name="Google Shape;88;p5"/>
          <p:cNvSpPr txBox="1">
            <a:spLocks noGrp="1"/>
          </p:cNvSpPr>
          <p:nvPr>
            <p:ph type="title"/>
          </p:nvPr>
        </p:nvSpPr>
        <p:spPr>
          <a:xfrm>
            <a:off x="450736" y="1333500"/>
            <a:ext cx="5569064" cy="3369057"/>
          </a:xfrm>
          <a:prstGeom prst="rect">
            <a:avLst/>
          </a:prstGeom>
          <a:noFill/>
          <a:ln>
            <a:noFill/>
          </a:ln>
        </p:spPr>
        <p:txBody>
          <a:bodyPr spcFirstLastPara="1" wrap="square" lIns="0" tIns="349425" rIns="0" bIns="0" anchor="t" anchorCtr="0">
            <a:spAutoFit/>
          </a:bodyPr>
          <a:lstStyle/>
          <a:p>
            <a:pPr marL="12700" lvl="0" indent="0" algn="l" rtl="0">
              <a:lnSpc>
                <a:spcPct val="100000"/>
              </a:lnSpc>
              <a:spcBef>
                <a:spcPts val="0"/>
              </a:spcBef>
              <a:spcAft>
                <a:spcPts val="0"/>
              </a:spcAft>
              <a:buNone/>
            </a:pPr>
            <a:r>
              <a:rPr lang="fr-FR" sz="4400"/>
              <a:t>Log Ingestion</a:t>
            </a:r>
            <a:br>
              <a:rPr lang="fr-FR"/>
            </a:br>
            <a:br>
              <a:rPr lang="fr-FR"/>
            </a:br>
            <a:br>
              <a:rPr lang="fr-FR" sz="2300" b="0"/>
            </a:br>
            <a:r>
              <a:rPr lang="fr-FR" sz="2300" b="0"/>
              <a:t>The traffic data ingestion happened through a lookup creation which helped to parse the log effectively.</a:t>
            </a:r>
            <a:endParaRPr sz="2300" b="0"/>
          </a:p>
        </p:txBody>
      </p:sp>
      <p:pic>
        <p:nvPicPr>
          <p:cNvPr id="89" name="Google Shape;89;p5"/>
          <p:cNvPicPr preferRelativeResize="0"/>
          <p:nvPr/>
        </p:nvPicPr>
        <p:blipFill rotWithShape="1">
          <a:blip r:embed="rId4">
            <a:alphaModFix/>
          </a:blip>
          <a:srcRect/>
          <a:stretch/>
        </p:blipFill>
        <p:spPr>
          <a:xfrm>
            <a:off x="6508013" y="-7364"/>
            <a:ext cx="11774543" cy="4429743"/>
          </a:xfrm>
          <a:prstGeom prst="rect">
            <a:avLst/>
          </a:prstGeom>
          <a:noFill/>
          <a:ln>
            <a:noFill/>
          </a:ln>
        </p:spPr>
      </p:pic>
      <p:pic>
        <p:nvPicPr>
          <p:cNvPr id="90" name="Google Shape;90;p5"/>
          <p:cNvPicPr preferRelativeResize="0"/>
          <p:nvPr/>
        </p:nvPicPr>
        <p:blipFill rotWithShape="1">
          <a:blip r:embed="rId5">
            <a:alphaModFix/>
          </a:blip>
          <a:srcRect/>
          <a:stretch/>
        </p:blipFill>
        <p:spPr>
          <a:xfrm>
            <a:off x="6508013" y="4422379"/>
            <a:ext cx="11774543" cy="3277057"/>
          </a:xfrm>
          <a:prstGeom prst="rect">
            <a:avLst/>
          </a:prstGeom>
          <a:noFill/>
          <a:ln>
            <a:noFill/>
          </a:ln>
        </p:spPr>
      </p:pic>
      <p:pic>
        <p:nvPicPr>
          <p:cNvPr id="91" name="Google Shape;91;p5"/>
          <p:cNvPicPr preferRelativeResize="0"/>
          <p:nvPr/>
        </p:nvPicPr>
        <p:blipFill rotWithShape="1">
          <a:blip r:embed="rId6">
            <a:alphaModFix/>
          </a:blip>
          <a:srcRect/>
          <a:stretch/>
        </p:blipFill>
        <p:spPr>
          <a:xfrm>
            <a:off x="6508013" y="7699436"/>
            <a:ext cx="11781153" cy="327705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6"/>
          <p:cNvPicPr preferRelativeResize="0"/>
          <p:nvPr/>
        </p:nvPicPr>
        <p:blipFill rotWithShape="1">
          <a:blip r:embed="rId3">
            <a:alphaModFix/>
          </a:blip>
          <a:srcRect/>
          <a:stretch/>
        </p:blipFill>
        <p:spPr>
          <a:xfrm>
            <a:off x="0" y="0"/>
            <a:ext cx="146399" cy="10286999"/>
          </a:xfrm>
          <a:prstGeom prst="rect">
            <a:avLst/>
          </a:prstGeom>
          <a:noFill/>
          <a:ln>
            <a:noFill/>
          </a:ln>
        </p:spPr>
      </p:pic>
      <p:sp>
        <p:nvSpPr>
          <p:cNvPr id="97" name="Google Shape;97;p6"/>
          <p:cNvSpPr txBox="1"/>
          <p:nvPr/>
        </p:nvSpPr>
        <p:spPr>
          <a:xfrm>
            <a:off x="901700" y="889692"/>
            <a:ext cx="13728700" cy="2621872"/>
          </a:xfrm>
          <a:prstGeom prst="rect">
            <a:avLst/>
          </a:prstGeom>
          <a:noFill/>
          <a:ln>
            <a:noFill/>
          </a:ln>
        </p:spPr>
        <p:txBody>
          <a:bodyPr spcFirstLastPara="1" wrap="square" lIns="0" tIns="208900" rIns="0" bIns="0" anchor="t" anchorCtr="0">
            <a:spAutoFit/>
          </a:bodyPr>
          <a:lstStyle/>
          <a:p>
            <a:pPr marL="12700" marR="5080" lvl="0" indent="0" algn="l" rtl="0">
              <a:lnSpc>
                <a:spcPct val="89270"/>
              </a:lnSpc>
              <a:spcBef>
                <a:spcPts val="0"/>
              </a:spcBef>
              <a:spcAft>
                <a:spcPts val="0"/>
              </a:spcAft>
              <a:buNone/>
            </a:pPr>
            <a:r>
              <a:rPr lang="fr-FR" sz="9600" b="1">
                <a:solidFill>
                  <a:srgbClr val="FFFFFF"/>
                </a:solidFill>
                <a:latin typeface="Tahoma"/>
                <a:ea typeface="Tahoma"/>
                <a:cs typeface="Tahoma"/>
                <a:sym typeface="Tahoma"/>
              </a:rPr>
              <a:t>Experimental</a:t>
            </a:r>
            <a:endParaRPr/>
          </a:p>
          <a:p>
            <a:pPr marL="12700" marR="5080" lvl="0" indent="0" algn="l" rtl="0">
              <a:lnSpc>
                <a:spcPct val="89270"/>
              </a:lnSpc>
              <a:spcBef>
                <a:spcPts val="1645"/>
              </a:spcBef>
              <a:spcAft>
                <a:spcPts val="0"/>
              </a:spcAft>
              <a:buNone/>
            </a:pPr>
            <a:r>
              <a:rPr lang="fr-FR" sz="9600" b="1">
                <a:solidFill>
                  <a:srgbClr val="FFFFFF"/>
                </a:solidFill>
                <a:latin typeface="Tahoma"/>
                <a:ea typeface="Tahoma"/>
                <a:cs typeface="Tahoma"/>
                <a:sym typeface="Tahoma"/>
              </a:rPr>
              <a:t>Evaluation</a:t>
            </a:r>
            <a:endParaRPr sz="9600">
              <a:latin typeface="Tahoma"/>
              <a:ea typeface="Tahoma"/>
              <a:cs typeface="Tahoma"/>
              <a:sym typeface="Tahom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7"/>
          <p:cNvPicPr preferRelativeResize="0"/>
          <p:nvPr/>
        </p:nvPicPr>
        <p:blipFill rotWithShape="1">
          <a:blip r:embed="rId3">
            <a:alphaModFix/>
          </a:blip>
          <a:srcRect/>
          <a:stretch/>
        </p:blipFill>
        <p:spPr>
          <a:xfrm>
            <a:off x="0" y="0"/>
            <a:ext cx="146399" cy="10286999"/>
          </a:xfrm>
          <a:prstGeom prst="rect">
            <a:avLst/>
          </a:prstGeom>
          <a:noFill/>
          <a:ln>
            <a:noFill/>
          </a:ln>
        </p:spPr>
      </p:pic>
      <p:sp>
        <p:nvSpPr>
          <p:cNvPr id="103" name="Google Shape;103;p7"/>
          <p:cNvSpPr txBox="1">
            <a:spLocks noGrp="1"/>
          </p:cNvSpPr>
          <p:nvPr>
            <p:ph type="title"/>
          </p:nvPr>
        </p:nvSpPr>
        <p:spPr>
          <a:xfrm>
            <a:off x="5630447" y="30316"/>
            <a:ext cx="15633700" cy="1444626"/>
          </a:xfrm>
          <a:prstGeom prst="rect">
            <a:avLst/>
          </a:prstGeom>
          <a:noFill/>
          <a:ln>
            <a:noFill/>
          </a:ln>
        </p:spPr>
        <p:txBody>
          <a:bodyPr spcFirstLastPara="1" wrap="square" lIns="0" tIns="333375" rIns="0" bIns="0" anchor="t" anchorCtr="0">
            <a:spAutoFit/>
          </a:bodyPr>
          <a:lstStyle/>
          <a:p>
            <a:pPr marL="0" lvl="0" indent="0" algn="l" rtl="0">
              <a:spcBef>
                <a:spcPts val="0"/>
              </a:spcBef>
              <a:spcAft>
                <a:spcPts val="0"/>
              </a:spcAft>
              <a:buNone/>
            </a:pPr>
            <a:r>
              <a:rPr lang="fr-FR" sz="4800" dirty="0"/>
              <a:t>Network Discovery</a:t>
            </a:r>
            <a:br>
              <a:rPr lang="fr-FR" dirty="0"/>
            </a:br>
            <a:endParaRPr sz="2400" b="0" dirty="0">
              <a:latin typeface="Verdana"/>
              <a:ea typeface="Verdana"/>
              <a:cs typeface="Verdana"/>
              <a:sym typeface="Verdana"/>
            </a:endParaRPr>
          </a:p>
        </p:txBody>
      </p:sp>
      <p:pic>
        <p:nvPicPr>
          <p:cNvPr id="104" name="Google Shape;104;p7"/>
          <p:cNvPicPr preferRelativeResize="0"/>
          <p:nvPr/>
        </p:nvPicPr>
        <p:blipFill rotWithShape="1">
          <a:blip r:embed="rId4">
            <a:alphaModFix/>
          </a:blip>
          <a:srcRect l="494" t="2016" r="53044" b="41514"/>
          <a:stretch>
            <a:fillRect/>
          </a:stretch>
        </p:blipFill>
        <p:spPr>
          <a:xfrm>
            <a:off x="10162862" y="3800053"/>
            <a:ext cx="7635040" cy="249827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11" name="Google Shape;111;p8"/>
          <p:cNvPicPr preferRelativeResize="0"/>
          <p:nvPr/>
        </p:nvPicPr>
        <p:blipFill rotWithShape="1">
          <a:blip r:embed="rId5">
            <a:alphaModFix/>
          </a:blip>
          <a:srcRect r="59041" b="76562"/>
          <a:stretch>
            <a:fillRect/>
          </a:stretch>
        </p:blipFill>
        <p:spPr>
          <a:xfrm>
            <a:off x="10141720" y="1646806"/>
            <a:ext cx="7635040" cy="184473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18" name="Google Shape;118;p9"/>
          <p:cNvPicPr preferRelativeResize="0"/>
          <p:nvPr/>
        </p:nvPicPr>
        <p:blipFill rotWithShape="1">
          <a:blip r:embed="rId6">
            <a:alphaModFix/>
          </a:blip>
          <a:srcRect t="50725" r="45902"/>
          <a:stretch>
            <a:fillRect/>
          </a:stretch>
        </p:blipFill>
        <p:spPr>
          <a:xfrm>
            <a:off x="10107998" y="6503258"/>
            <a:ext cx="7744768" cy="3177584"/>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3" name="ZoneTexte 2">
            <a:extLst>
              <a:ext uri="{FF2B5EF4-FFF2-40B4-BE49-F238E27FC236}">
                <a16:creationId xmlns:a16="http://schemas.microsoft.com/office/drawing/2014/main" id="{9BEAA255-C4BA-DBAD-EC14-2A1F94B17992}"/>
              </a:ext>
            </a:extLst>
          </p:cNvPr>
          <p:cNvSpPr txBox="1"/>
          <p:nvPr/>
        </p:nvSpPr>
        <p:spPr>
          <a:xfrm>
            <a:off x="1376855" y="1932367"/>
            <a:ext cx="4253592" cy="1938992"/>
          </a:xfrm>
          <a:prstGeom prst="rect">
            <a:avLst/>
          </a:prstGeom>
          <a:noFill/>
        </p:spPr>
        <p:txBody>
          <a:bodyPr wrap="square">
            <a:spAutoFit/>
          </a:bodyPr>
          <a:lstStyle/>
          <a:p>
            <a:r>
              <a:rPr lang="fr-FR" sz="2400" b="1" dirty="0">
                <a:solidFill>
                  <a:schemeClr val="bg1"/>
                </a:solidFill>
              </a:rPr>
              <a:t>Baseline </a:t>
            </a:r>
            <a:r>
              <a:rPr lang="fr-FR" sz="2400" b="1" dirty="0" err="1">
                <a:solidFill>
                  <a:schemeClr val="bg1"/>
                </a:solidFill>
              </a:rPr>
              <a:t>Statistics</a:t>
            </a:r>
            <a:r>
              <a:rPr lang="fr-FR" sz="2400" b="1" dirty="0">
                <a:solidFill>
                  <a:schemeClr val="bg1"/>
                </a:solidFill>
              </a:rPr>
              <a:t>:</a:t>
            </a:r>
          </a:p>
          <a:p>
            <a:pPr marL="342900" indent="-342900">
              <a:buClr>
                <a:schemeClr val="bg1"/>
              </a:buClr>
              <a:buFont typeface="Arial" panose="020B0604020202020204" pitchFamily="34" charset="0"/>
              <a:buChar char="•"/>
            </a:pPr>
            <a:r>
              <a:rPr lang="fr-FR" sz="2400" dirty="0">
                <a:solidFill>
                  <a:schemeClr val="bg1"/>
                </a:solidFill>
              </a:rPr>
              <a:t>Total </a:t>
            </a:r>
            <a:r>
              <a:rPr lang="fr-FR" sz="2400" dirty="0" err="1">
                <a:solidFill>
                  <a:schemeClr val="bg1"/>
                </a:solidFill>
              </a:rPr>
              <a:t>Packets</a:t>
            </a:r>
            <a:r>
              <a:rPr lang="fr-FR" sz="2400" dirty="0">
                <a:solidFill>
                  <a:schemeClr val="bg1"/>
                </a:solidFill>
              </a:rPr>
              <a:t>: 18,189</a:t>
            </a:r>
          </a:p>
          <a:p>
            <a:pPr marL="342900" indent="-342900">
              <a:buClr>
                <a:schemeClr val="bg1"/>
              </a:buClr>
              <a:buFont typeface="Arial" panose="020B0604020202020204" pitchFamily="34" charset="0"/>
              <a:buChar char="•"/>
            </a:pPr>
            <a:r>
              <a:rPr lang="fr-FR" sz="2400" dirty="0">
                <a:solidFill>
                  <a:schemeClr val="bg1"/>
                </a:solidFill>
              </a:rPr>
              <a:t>Unique Sources: 72</a:t>
            </a:r>
          </a:p>
          <a:p>
            <a:pPr marL="342900" indent="-342900">
              <a:buClr>
                <a:schemeClr val="bg1"/>
              </a:buClr>
              <a:buFont typeface="Arial" panose="020B0604020202020204" pitchFamily="34" charset="0"/>
              <a:buChar char="•"/>
            </a:pPr>
            <a:r>
              <a:rPr lang="fr-FR" sz="2400" dirty="0">
                <a:solidFill>
                  <a:schemeClr val="bg1"/>
                </a:solidFill>
              </a:rPr>
              <a:t>Unique Destinations: 78</a:t>
            </a:r>
          </a:p>
          <a:p>
            <a:pPr marL="342900" indent="-342900">
              <a:buClr>
                <a:schemeClr val="bg1"/>
              </a:buClr>
              <a:buFont typeface="Arial" panose="020B0604020202020204" pitchFamily="34" charset="0"/>
              <a:buChar char="•"/>
            </a:pPr>
            <a:r>
              <a:rPr lang="fr-FR" sz="2400" dirty="0" err="1">
                <a:solidFill>
                  <a:schemeClr val="bg1"/>
                </a:solidFill>
              </a:rPr>
              <a:t>Avg</a:t>
            </a:r>
            <a:r>
              <a:rPr lang="fr-FR" sz="2400" dirty="0">
                <a:solidFill>
                  <a:schemeClr val="bg1"/>
                </a:solidFill>
              </a:rPr>
              <a:t> </a:t>
            </a:r>
            <a:r>
              <a:rPr lang="fr-FR" sz="2400" dirty="0" err="1">
                <a:solidFill>
                  <a:schemeClr val="bg1"/>
                </a:solidFill>
              </a:rPr>
              <a:t>Packet</a:t>
            </a:r>
            <a:r>
              <a:rPr lang="fr-FR" sz="2400" dirty="0">
                <a:solidFill>
                  <a:schemeClr val="bg1"/>
                </a:solidFill>
              </a:rPr>
              <a:t> Size: 642 bytes</a:t>
            </a:r>
          </a:p>
        </p:txBody>
      </p:sp>
      <p:sp>
        <p:nvSpPr>
          <p:cNvPr id="5" name="ZoneTexte 4">
            <a:extLst>
              <a:ext uri="{FF2B5EF4-FFF2-40B4-BE49-F238E27FC236}">
                <a16:creationId xmlns:a16="http://schemas.microsoft.com/office/drawing/2014/main" id="{ED810BD4-69ED-6D85-3A1E-8AB76E751F4B}"/>
              </a:ext>
            </a:extLst>
          </p:cNvPr>
          <p:cNvSpPr txBox="1"/>
          <p:nvPr/>
        </p:nvSpPr>
        <p:spPr>
          <a:xfrm>
            <a:off x="1376855" y="4264359"/>
            <a:ext cx="8603473" cy="1569660"/>
          </a:xfrm>
          <a:prstGeom prst="rect">
            <a:avLst/>
          </a:prstGeom>
          <a:noFill/>
        </p:spPr>
        <p:txBody>
          <a:bodyPr wrap="square">
            <a:spAutoFit/>
          </a:bodyPr>
          <a:lstStyle/>
          <a:p>
            <a:r>
              <a:rPr lang="fr-FR" sz="2400" b="1" dirty="0">
                <a:solidFill>
                  <a:schemeClr val="bg1"/>
                </a:solidFill>
              </a:rPr>
              <a:t>The ‘</a:t>
            </a:r>
            <a:r>
              <a:rPr lang="fr-FR" sz="2400" b="1" dirty="0" err="1">
                <a:solidFill>
                  <a:schemeClr val="bg1"/>
                </a:solidFill>
              </a:rPr>
              <a:t>Noisiest</a:t>
            </a:r>
            <a:r>
              <a:rPr lang="fr-FR" sz="2400" b="1" dirty="0">
                <a:solidFill>
                  <a:schemeClr val="bg1"/>
                </a:solidFill>
              </a:rPr>
              <a:t>’ </a:t>
            </a:r>
            <a:r>
              <a:rPr lang="fr-FR" sz="2400" b="1" dirty="0" err="1">
                <a:solidFill>
                  <a:schemeClr val="bg1"/>
                </a:solidFill>
              </a:rPr>
              <a:t>Device</a:t>
            </a:r>
            <a:r>
              <a:rPr lang="fr-FR" sz="2400" b="1" dirty="0">
                <a:solidFill>
                  <a:schemeClr val="bg1"/>
                </a:solidFill>
              </a:rPr>
              <a:t>:</a:t>
            </a:r>
          </a:p>
          <a:p>
            <a:pPr marL="342900" indent="-342900">
              <a:buClr>
                <a:schemeClr val="bg1"/>
              </a:buClr>
              <a:buFont typeface="Arial" panose="020B0604020202020204" pitchFamily="34" charset="0"/>
              <a:buChar char="•"/>
            </a:pPr>
            <a:r>
              <a:rPr lang="fr-FR" sz="2400" dirty="0">
                <a:solidFill>
                  <a:schemeClr val="bg1"/>
                </a:solidFill>
              </a:rPr>
              <a:t>10.8.15.133 </a:t>
            </a:r>
          </a:p>
          <a:p>
            <a:pPr marL="342900" indent="-342900">
              <a:buClr>
                <a:schemeClr val="bg1"/>
              </a:buClr>
              <a:buFont typeface="Arial" panose="020B0604020202020204" pitchFamily="34" charset="0"/>
              <a:buChar char="•"/>
            </a:pPr>
            <a:r>
              <a:rPr lang="fr-FR" sz="2400" dirty="0">
                <a:solidFill>
                  <a:schemeClr val="bg1"/>
                </a:solidFill>
              </a:rPr>
              <a:t>6,646 </a:t>
            </a:r>
            <a:r>
              <a:rPr lang="fr-FR" sz="2400" dirty="0" err="1">
                <a:solidFill>
                  <a:schemeClr val="bg1"/>
                </a:solidFill>
              </a:rPr>
              <a:t>packets</a:t>
            </a:r>
            <a:r>
              <a:rPr lang="fr-FR" sz="2400" dirty="0">
                <a:solidFill>
                  <a:schemeClr val="bg1"/>
                </a:solidFill>
              </a:rPr>
              <a:t> (36.5% of all </a:t>
            </a:r>
            <a:r>
              <a:rPr lang="fr-FR" sz="2400" dirty="0" err="1">
                <a:solidFill>
                  <a:schemeClr val="bg1"/>
                </a:solidFill>
              </a:rPr>
              <a:t>traffic</a:t>
            </a:r>
            <a:r>
              <a:rPr lang="fr-FR" sz="2400" dirty="0">
                <a:solidFill>
                  <a:schemeClr val="bg1"/>
                </a:solidFill>
              </a:rPr>
              <a:t>)</a:t>
            </a:r>
          </a:p>
          <a:p>
            <a:pPr marL="342900" indent="-342900">
              <a:buClr>
                <a:schemeClr val="bg1"/>
              </a:buClr>
              <a:buFont typeface="Arial" panose="020B0604020202020204" pitchFamily="34" charset="0"/>
              <a:buChar char="•"/>
            </a:pPr>
            <a:r>
              <a:rPr lang="fr-FR" sz="2400" dirty="0">
                <a:solidFill>
                  <a:schemeClr val="bg1"/>
                </a:solidFill>
              </a:rPr>
              <a:t>One </a:t>
            </a:r>
            <a:r>
              <a:rPr lang="fr-FR" sz="2400" dirty="0" err="1">
                <a:solidFill>
                  <a:schemeClr val="bg1"/>
                </a:solidFill>
              </a:rPr>
              <a:t>internal</a:t>
            </a:r>
            <a:r>
              <a:rPr lang="fr-FR" sz="2400" dirty="0">
                <a:solidFill>
                  <a:schemeClr val="bg1"/>
                </a:solidFill>
              </a:rPr>
              <a:t> </a:t>
            </a:r>
            <a:r>
              <a:rPr lang="fr-FR" sz="2400" dirty="0" err="1">
                <a:solidFill>
                  <a:schemeClr val="bg1"/>
                </a:solidFill>
              </a:rPr>
              <a:t>device</a:t>
            </a:r>
            <a:r>
              <a:rPr lang="fr-FR" sz="2400" dirty="0">
                <a:solidFill>
                  <a:schemeClr val="bg1"/>
                </a:solidFill>
              </a:rPr>
              <a:t> </a:t>
            </a:r>
            <a:r>
              <a:rPr lang="fr-FR" sz="2400" dirty="0" err="1">
                <a:solidFill>
                  <a:schemeClr val="bg1"/>
                </a:solidFill>
              </a:rPr>
              <a:t>doing</a:t>
            </a:r>
            <a:r>
              <a:rPr lang="fr-FR" sz="2400" dirty="0">
                <a:solidFill>
                  <a:schemeClr val="bg1"/>
                </a:solidFill>
              </a:rPr>
              <a:t> 1/3 of the </a:t>
            </a:r>
            <a:r>
              <a:rPr lang="fr-FR" sz="2400" dirty="0" err="1">
                <a:solidFill>
                  <a:schemeClr val="bg1"/>
                </a:solidFill>
              </a:rPr>
              <a:t>traffic</a:t>
            </a:r>
            <a:endParaRPr lang="fr-FR" sz="2400" dirty="0">
              <a:solidFill>
                <a:schemeClr val="bg1"/>
              </a:solidFill>
            </a:endParaRPr>
          </a:p>
        </p:txBody>
      </p:sp>
      <p:sp>
        <p:nvSpPr>
          <p:cNvPr id="4" name="ZoneTexte 3">
            <a:extLst>
              <a:ext uri="{FF2B5EF4-FFF2-40B4-BE49-F238E27FC236}">
                <a16:creationId xmlns:a16="http://schemas.microsoft.com/office/drawing/2014/main" id="{AC2AF81E-BE5A-0D53-C1BE-31A83E3E62CE}"/>
              </a:ext>
            </a:extLst>
          </p:cNvPr>
          <p:cNvSpPr txBox="1"/>
          <p:nvPr/>
        </p:nvSpPr>
        <p:spPr>
          <a:xfrm>
            <a:off x="1376855" y="6116281"/>
            <a:ext cx="4762688" cy="1200329"/>
          </a:xfrm>
          <a:prstGeom prst="rect">
            <a:avLst/>
          </a:prstGeom>
          <a:noFill/>
        </p:spPr>
        <p:txBody>
          <a:bodyPr wrap="square">
            <a:spAutoFit/>
          </a:bodyPr>
          <a:lstStyle/>
          <a:p>
            <a:r>
              <a:rPr lang="fr-FR" sz="2400" b="1" dirty="0" err="1">
                <a:solidFill>
                  <a:schemeClr val="bg1"/>
                </a:solidFill>
              </a:rPr>
              <a:t>External</a:t>
            </a:r>
            <a:r>
              <a:rPr lang="fr-FR" sz="2400" b="1" dirty="0">
                <a:solidFill>
                  <a:schemeClr val="bg1"/>
                </a:solidFill>
              </a:rPr>
              <a:t> Communication:</a:t>
            </a:r>
          </a:p>
          <a:p>
            <a:pPr marL="342900" indent="-342900">
              <a:buClr>
                <a:schemeClr val="bg1"/>
              </a:buClr>
              <a:buFont typeface="Arial" panose="020B0604020202020204" pitchFamily="34" charset="0"/>
              <a:buChar char="•"/>
            </a:pPr>
            <a:r>
              <a:rPr lang="fr-FR" sz="2400" dirty="0">
                <a:solidFill>
                  <a:schemeClr val="bg1"/>
                </a:solidFill>
              </a:rPr>
              <a:t>Top destination: 72.5.43.29</a:t>
            </a:r>
          </a:p>
          <a:p>
            <a:pPr marL="342900" indent="-342900">
              <a:buClr>
                <a:schemeClr val="bg1"/>
              </a:buClr>
              <a:buFont typeface="Arial" panose="020B0604020202020204" pitchFamily="34" charset="0"/>
              <a:buChar char="•"/>
            </a:pPr>
            <a:r>
              <a:rPr lang="en-US" sz="2400" dirty="0">
                <a:solidFill>
                  <a:schemeClr val="bg1"/>
                </a:solidFill>
              </a:rPr>
              <a:t>1,844 packets to this single IP </a:t>
            </a:r>
          </a:p>
        </p:txBody>
      </p:sp>
      <p:sp>
        <p:nvSpPr>
          <p:cNvPr id="7" name="ZoneTexte 6">
            <a:extLst>
              <a:ext uri="{FF2B5EF4-FFF2-40B4-BE49-F238E27FC236}">
                <a16:creationId xmlns:a16="http://schemas.microsoft.com/office/drawing/2014/main" id="{583D296B-940B-3EEA-1798-D38F8A547B2D}"/>
              </a:ext>
            </a:extLst>
          </p:cNvPr>
          <p:cNvSpPr txBox="1"/>
          <p:nvPr/>
        </p:nvSpPr>
        <p:spPr>
          <a:xfrm>
            <a:off x="745478" y="8285157"/>
            <a:ext cx="9396242" cy="1569660"/>
          </a:xfrm>
          <a:prstGeom prst="rect">
            <a:avLst/>
          </a:prstGeom>
          <a:noFill/>
        </p:spPr>
        <p:txBody>
          <a:bodyPr wrap="square">
            <a:spAutoFit/>
          </a:bodyPr>
          <a:lstStyle/>
          <a:p>
            <a:r>
              <a:rPr lang="fr-FR" sz="2400" b="1" dirty="0">
                <a:solidFill>
                  <a:schemeClr val="bg1"/>
                </a:solidFill>
              </a:rPr>
              <a:t>Discovery </a:t>
            </a:r>
            <a:r>
              <a:rPr lang="fr-FR" sz="2400" b="1" dirty="0" err="1">
                <a:solidFill>
                  <a:schemeClr val="bg1"/>
                </a:solidFill>
              </a:rPr>
              <a:t>Takeaway</a:t>
            </a:r>
            <a:r>
              <a:rPr lang="fr-FR" sz="2400" b="1" dirty="0">
                <a:solidFill>
                  <a:schemeClr val="bg1"/>
                </a:solidFill>
              </a:rPr>
              <a:t>:</a:t>
            </a:r>
          </a:p>
          <a:p>
            <a:r>
              <a:rPr lang="fr-FR" sz="2400" dirty="0">
                <a:solidFill>
                  <a:schemeClr val="bg1"/>
                </a:solidFill>
              </a:rPr>
              <a:t>The network </a:t>
            </a:r>
            <a:r>
              <a:rPr lang="fr-FR" sz="2400" dirty="0" err="1">
                <a:solidFill>
                  <a:schemeClr val="bg1"/>
                </a:solidFill>
              </a:rPr>
              <a:t>baseline</a:t>
            </a:r>
            <a:r>
              <a:rPr lang="fr-FR" sz="2400" dirty="0">
                <a:solidFill>
                  <a:schemeClr val="bg1"/>
                </a:solidFill>
              </a:rPr>
              <a:t> gave us a suspect (10.8.15.133) and a destination to </a:t>
            </a:r>
            <a:r>
              <a:rPr lang="fr-FR" sz="2400" dirty="0" err="1">
                <a:solidFill>
                  <a:schemeClr val="bg1"/>
                </a:solidFill>
              </a:rPr>
              <a:t>watch</a:t>
            </a:r>
            <a:r>
              <a:rPr lang="fr-FR" sz="2400" dirty="0">
                <a:solidFill>
                  <a:schemeClr val="bg1"/>
                </a:solidFill>
              </a:rPr>
              <a:t> (72.5.43.29). </a:t>
            </a:r>
          </a:p>
          <a:p>
            <a:endParaRPr lang="fr-FR" sz="2400" b="1" dirty="0">
              <a:solidFill>
                <a:schemeClr val="bg1"/>
              </a:solidFill>
            </a:endParaRPr>
          </a:p>
        </p:txBody>
      </p:sp>
      <p:sp>
        <p:nvSpPr>
          <p:cNvPr id="8" name="Google Shape;302;p27">
            <a:extLst>
              <a:ext uri="{FF2B5EF4-FFF2-40B4-BE49-F238E27FC236}">
                <a16:creationId xmlns:a16="http://schemas.microsoft.com/office/drawing/2014/main" id="{3FC523AB-B363-D83D-F0FB-D449D1A63656}"/>
              </a:ext>
            </a:extLst>
          </p:cNvPr>
          <p:cNvSpPr/>
          <p:nvPr/>
        </p:nvSpPr>
        <p:spPr>
          <a:xfrm>
            <a:off x="699759" y="8119753"/>
            <a:ext cx="45719" cy="1569660"/>
          </a:xfrm>
          <a:custGeom>
            <a:avLst/>
            <a:gdLst/>
            <a:ahLst/>
            <a:cxnLst/>
            <a:rect l="l" t="t" r="r" b="b"/>
            <a:pathLst>
              <a:path w="28575" h="10287000" extrusionOk="0">
                <a:moveTo>
                  <a:pt x="0" y="0"/>
                </a:moveTo>
                <a:lnTo>
                  <a:pt x="28574" y="0"/>
                </a:lnTo>
                <a:lnTo>
                  <a:pt x="28574" y="10286999"/>
                </a:lnTo>
                <a:lnTo>
                  <a:pt x="0" y="10286999"/>
                </a:lnTo>
                <a:lnTo>
                  <a:pt x="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 name="Google Shape;302;p27">
            <a:extLst>
              <a:ext uri="{FF2B5EF4-FFF2-40B4-BE49-F238E27FC236}">
                <a16:creationId xmlns:a16="http://schemas.microsoft.com/office/drawing/2014/main" id="{882CE168-2A39-8286-F855-3B95C21CAF88}"/>
              </a:ext>
            </a:extLst>
          </p:cNvPr>
          <p:cNvSpPr/>
          <p:nvPr/>
        </p:nvSpPr>
        <p:spPr>
          <a:xfrm rot="5400000">
            <a:off x="5057176" y="3744732"/>
            <a:ext cx="45719" cy="8761476"/>
          </a:xfrm>
          <a:custGeom>
            <a:avLst/>
            <a:gdLst/>
            <a:ahLst/>
            <a:cxnLst/>
            <a:rect l="l" t="t" r="r" b="b"/>
            <a:pathLst>
              <a:path w="28575" h="10287000" extrusionOk="0">
                <a:moveTo>
                  <a:pt x="0" y="0"/>
                </a:moveTo>
                <a:lnTo>
                  <a:pt x="28574" y="0"/>
                </a:lnTo>
                <a:lnTo>
                  <a:pt x="28574" y="10286999"/>
                </a:lnTo>
                <a:lnTo>
                  <a:pt x="0" y="10286999"/>
                </a:lnTo>
                <a:lnTo>
                  <a:pt x="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 name="Google Shape;302;p27">
            <a:extLst>
              <a:ext uri="{FF2B5EF4-FFF2-40B4-BE49-F238E27FC236}">
                <a16:creationId xmlns:a16="http://schemas.microsoft.com/office/drawing/2014/main" id="{BC86D8A1-A385-265A-DD16-9A739FE0B428}"/>
              </a:ext>
            </a:extLst>
          </p:cNvPr>
          <p:cNvSpPr/>
          <p:nvPr/>
        </p:nvSpPr>
        <p:spPr>
          <a:xfrm rot="5400000">
            <a:off x="5057176" y="5285815"/>
            <a:ext cx="45719" cy="8761476"/>
          </a:xfrm>
          <a:custGeom>
            <a:avLst/>
            <a:gdLst/>
            <a:ahLst/>
            <a:cxnLst/>
            <a:rect l="l" t="t" r="r" b="b"/>
            <a:pathLst>
              <a:path w="28575" h="10287000" extrusionOk="0">
                <a:moveTo>
                  <a:pt x="0" y="0"/>
                </a:moveTo>
                <a:lnTo>
                  <a:pt x="28574" y="0"/>
                </a:lnTo>
                <a:lnTo>
                  <a:pt x="28574" y="10286999"/>
                </a:lnTo>
                <a:lnTo>
                  <a:pt x="0" y="10286999"/>
                </a:lnTo>
                <a:lnTo>
                  <a:pt x="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2" name="Google Shape;302;p27">
            <a:extLst>
              <a:ext uri="{FF2B5EF4-FFF2-40B4-BE49-F238E27FC236}">
                <a16:creationId xmlns:a16="http://schemas.microsoft.com/office/drawing/2014/main" id="{605208DA-2477-DFDE-646B-59A25A5FA356}"/>
              </a:ext>
            </a:extLst>
          </p:cNvPr>
          <p:cNvSpPr/>
          <p:nvPr/>
        </p:nvSpPr>
        <p:spPr>
          <a:xfrm>
            <a:off x="9415055" y="8111182"/>
            <a:ext cx="45719" cy="1569660"/>
          </a:xfrm>
          <a:custGeom>
            <a:avLst/>
            <a:gdLst/>
            <a:ahLst/>
            <a:cxnLst/>
            <a:rect l="l" t="t" r="r" b="b"/>
            <a:pathLst>
              <a:path w="28575" h="10287000" extrusionOk="0">
                <a:moveTo>
                  <a:pt x="0" y="0"/>
                </a:moveTo>
                <a:lnTo>
                  <a:pt x="28574" y="0"/>
                </a:lnTo>
                <a:lnTo>
                  <a:pt x="28574" y="10286999"/>
                </a:lnTo>
                <a:lnTo>
                  <a:pt x="0" y="10286999"/>
                </a:lnTo>
                <a:lnTo>
                  <a:pt x="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20" name="Google Shape;292;p26">
            <a:extLst>
              <a:ext uri="{FF2B5EF4-FFF2-40B4-BE49-F238E27FC236}">
                <a16:creationId xmlns:a16="http://schemas.microsoft.com/office/drawing/2014/main" id="{3E438CE3-5E97-E607-B14F-E882BC57EBC5}"/>
              </a:ext>
            </a:extLst>
          </p:cNvPr>
          <p:cNvPicPr preferRelativeResize="0"/>
          <p:nvPr/>
        </p:nvPicPr>
        <p:blipFill rotWithShape="1">
          <a:blip r:embed="rId3">
            <a:alphaModFix/>
          </a:blip>
          <a:srcRect/>
          <a:stretch/>
        </p:blipFill>
        <p:spPr>
          <a:xfrm>
            <a:off x="3818404" y="5539803"/>
            <a:ext cx="6655824" cy="655357"/>
          </a:xfrm>
          <a:prstGeom prst="rect">
            <a:avLst/>
          </a:prstGeom>
          <a:noFill/>
          <a:ln>
            <a:noFill/>
          </a:ln>
        </p:spPr>
      </p:pic>
      <p:pic>
        <p:nvPicPr>
          <p:cNvPr id="18" name="Google Shape;292;p26">
            <a:extLst>
              <a:ext uri="{FF2B5EF4-FFF2-40B4-BE49-F238E27FC236}">
                <a16:creationId xmlns:a16="http://schemas.microsoft.com/office/drawing/2014/main" id="{13C25572-2AC1-7CC3-E1A3-93FBEBF43120}"/>
              </a:ext>
            </a:extLst>
          </p:cNvPr>
          <p:cNvPicPr preferRelativeResize="0"/>
          <p:nvPr/>
        </p:nvPicPr>
        <p:blipFill rotWithShape="1">
          <a:blip r:embed="rId3">
            <a:alphaModFix/>
          </a:blip>
          <a:srcRect/>
          <a:stretch/>
        </p:blipFill>
        <p:spPr>
          <a:xfrm>
            <a:off x="6239951" y="1296066"/>
            <a:ext cx="4861471" cy="655357"/>
          </a:xfrm>
          <a:prstGeom prst="rect">
            <a:avLst/>
          </a:prstGeom>
          <a:noFill/>
          <a:ln>
            <a:noFill/>
          </a:ln>
        </p:spPr>
      </p:pic>
      <p:pic>
        <p:nvPicPr>
          <p:cNvPr id="137" name="Google Shape;137;p11"/>
          <p:cNvPicPr preferRelativeResize="0"/>
          <p:nvPr/>
        </p:nvPicPr>
        <p:blipFill rotWithShape="1">
          <a:blip r:embed="rId4">
            <a:alphaModFix/>
          </a:blip>
          <a:srcRect/>
          <a:stretch/>
        </p:blipFill>
        <p:spPr>
          <a:xfrm>
            <a:off x="0" y="0"/>
            <a:ext cx="146399" cy="10286999"/>
          </a:xfrm>
          <a:prstGeom prst="rect">
            <a:avLst/>
          </a:prstGeom>
          <a:noFill/>
          <a:ln>
            <a:noFill/>
          </a:ln>
        </p:spPr>
      </p:pic>
      <p:sp>
        <p:nvSpPr>
          <p:cNvPr id="138" name="Google Shape;138;p11"/>
          <p:cNvSpPr txBox="1">
            <a:spLocks noGrp="1"/>
          </p:cNvSpPr>
          <p:nvPr>
            <p:ph type="title"/>
          </p:nvPr>
        </p:nvSpPr>
        <p:spPr>
          <a:xfrm>
            <a:off x="3522132" y="-497437"/>
            <a:ext cx="13435303" cy="3380216"/>
          </a:xfrm>
          <a:prstGeom prst="rect">
            <a:avLst/>
          </a:prstGeom>
          <a:noFill/>
          <a:ln>
            <a:noFill/>
          </a:ln>
        </p:spPr>
        <p:txBody>
          <a:bodyPr spcFirstLastPara="1" wrap="square" lIns="0" tIns="128900" rIns="0" bIns="0" anchor="t" anchorCtr="0">
            <a:spAutoFit/>
          </a:bodyPr>
          <a:lstStyle/>
          <a:p>
            <a:pPr marL="12700" marR="5080">
              <a:lnSpc>
                <a:spcPct val="95625"/>
              </a:lnSpc>
            </a:pPr>
            <a:br>
              <a:rPr lang="en-US" sz="4800" dirty="0"/>
            </a:br>
            <a:r>
              <a:rPr lang="en-US" sz="4800" dirty="0"/>
              <a:t>From Reconnaissance To Detection</a:t>
            </a:r>
            <a:br>
              <a:rPr lang="en-US" dirty="0"/>
            </a:br>
            <a:br>
              <a:rPr lang="fr-FR" sz="4800" dirty="0"/>
            </a:br>
            <a:br>
              <a:rPr lang="fr-FR" sz="4800" dirty="0"/>
            </a:br>
            <a:endParaRPr sz="2800" b="0" dirty="0">
              <a:latin typeface="Verdana"/>
              <a:ea typeface="Verdana"/>
              <a:cs typeface="Verdana"/>
              <a:sym typeface="Verdana"/>
            </a:endParaRPr>
          </a:p>
        </p:txBody>
      </p:sp>
      <p:sp>
        <p:nvSpPr>
          <p:cNvPr id="6" name="ZoneTexte 5">
            <a:extLst>
              <a:ext uri="{FF2B5EF4-FFF2-40B4-BE49-F238E27FC236}">
                <a16:creationId xmlns:a16="http://schemas.microsoft.com/office/drawing/2014/main" id="{64408448-94D3-370F-DF43-AAAC43EC44AB}"/>
              </a:ext>
            </a:extLst>
          </p:cNvPr>
          <p:cNvSpPr txBox="1"/>
          <p:nvPr/>
        </p:nvSpPr>
        <p:spPr>
          <a:xfrm>
            <a:off x="6239951" y="1298823"/>
            <a:ext cx="5167245" cy="592751"/>
          </a:xfrm>
          <a:prstGeom prst="rect">
            <a:avLst/>
          </a:prstGeom>
          <a:noFill/>
        </p:spPr>
        <p:txBody>
          <a:bodyPr wrap="square">
            <a:spAutoFit/>
          </a:bodyPr>
          <a:lstStyle/>
          <a:p>
            <a:r>
              <a:rPr lang="en-GB" sz="3200" dirty="0">
                <a:solidFill>
                  <a:schemeClr val="bg1"/>
                </a:solidFill>
                <a:latin typeface="Verdana" panose="020B0604030504040204" pitchFamily="34" charset="0"/>
                <a:ea typeface="Verdana" panose="020B0604030504040204" pitchFamily="34" charset="0"/>
              </a:rPr>
              <a:t>T</a:t>
            </a:r>
            <a:r>
              <a:rPr lang="fr-FR" sz="3200" dirty="0" err="1">
                <a:solidFill>
                  <a:schemeClr val="bg1"/>
                </a:solidFill>
                <a:latin typeface="Verdana" panose="020B0604030504040204" pitchFamily="34" charset="0"/>
                <a:ea typeface="Verdana" panose="020B0604030504040204" pitchFamily="34" charset="0"/>
              </a:rPr>
              <a:t>he</a:t>
            </a:r>
            <a:r>
              <a:rPr lang="fr-FR" sz="3200" dirty="0">
                <a:solidFill>
                  <a:schemeClr val="bg1"/>
                </a:solidFill>
                <a:latin typeface="Verdana" panose="020B0604030504040204" pitchFamily="34" charset="0"/>
                <a:ea typeface="Verdana" panose="020B0604030504040204" pitchFamily="34" charset="0"/>
              </a:rPr>
              <a:t> investigation flow</a:t>
            </a:r>
          </a:p>
        </p:txBody>
      </p:sp>
      <p:cxnSp>
        <p:nvCxnSpPr>
          <p:cNvPr id="8" name="Connecteur droit avec flèche 7">
            <a:extLst>
              <a:ext uri="{FF2B5EF4-FFF2-40B4-BE49-F238E27FC236}">
                <a16:creationId xmlns:a16="http://schemas.microsoft.com/office/drawing/2014/main" id="{CC10D863-F27F-BDAA-0FFF-107AF0831649}"/>
              </a:ext>
            </a:extLst>
          </p:cNvPr>
          <p:cNvCxnSpPr>
            <a:cxnSpLocks/>
          </p:cNvCxnSpPr>
          <p:nvPr/>
        </p:nvCxnSpPr>
        <p:spPr>
          <a:xfrm>
            <a:off x="3642215" y="3110449"/>
            <a:ext cx="880799" cy="0"/>
          </a:xfrm>
          <a:prstGeom prst="straightConnector1">
            <a:avLst/>
          </a:prstGeom>
          <a:ln>
            <a:solidFill>
              <a:schemeClr val="bg1"/>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9" name="Connecteur droit avec flèche 8">
            <a:extLst>
              <a:ext uri="{FF2B5EF4-FFF2-40B4-BE49-F238E27FC236}">
                <a16:creationId xmlns:a16="http://schemas.microsoft.com/office/drawing/2014/main" id="{C60D8E00-91FF-E138-C3DA-86DD5356CD75}"/>
              </a:ext>
            </a:extLst>
          </p:cNvPr>
          <p:cNvCxnSpPr>
            <a:cxnSpLocks/>
          </p:cNvCxnSpPr>
          <p:nvPr/>
        </p:nvCxnSpPr>
        <p:spPr>
          <a:xfrm>
            <a:off x="7723415" y="3143450"/>
            <a:ext cx="716719" cy="0"/>
          </a:xfrm>
          <a:prstGeom prst="straightConnector1">
            <a:avLst/>
          </a:prstGeom>
          <a:ln>
            <a:solidFill>
              <a:schemeClr val="bg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0" name="Rectangle : coins arrondis 9">
            <a:extLst>
              <a:ext uri="{FF2B5EF4-FFF2-40B4-BE49-F238E27FC236}">
                <a16:creationId xmlns:a16="http://schemas.microsoft.com/office/drawing/2014/main" id="{3BB8D2ED-5390-210E-53B7-926DE1D8F89D}"/>
              </a:ext>
            </a:extLst>
          </p:cNvPr>
          <p:cNvSpPr/>
          <p:nvPr/>
        </p:nvSpPr>
        <p:spPr>
          <a:xfrm>
            <a:off x="630223" y="2309060"/>
            <a:ext cx="3011992" cy="1962006"/>
          </a:xfrm>
          <a:prstGeom prst="roundRect">
            <a:avLst/>
          </a:prstGeom>
          <a:no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fr-FR"/>
          </a:p>
        </p:txBody>
      </p:sp>
      <p:sp>
        <p:nvSpPr>
          <p:cNvPr id="15" name="ZoneTexte 14">
            <a:extLst>
              <a:ext uri="{FF2B5EF4-FFF2-40B4-BE49-F238E27FC236}">
                <a16:creationId xmlns:a16="http://schemas.microsoft.com/office/drawing/2014/main" id="{C56CC339-488D-DB08-16BE-E3048CA0ECE4}"/>
              </a:ext>
            </a:extLst>
          </p:cNvPr>
          <p:cNvSpPr txBox="1"/>
          <p:nvPr/>
        </p:nvSpPr>
        <p:spPr>
          <a:xfrm>
            <a:off x="726021" y="2514806"/>
            <a:ext cx="4133611" cy="2123658"/>
          </a:xfrm>
          <a:prstGeom prst="rect">
            <a:avLst/>
          </a:prstGeom>
          <a:noFill/>
        </p:spPr>
        <p:txBody>
          <a:bodyPr wrap="square">
            <a:spAutoFit/>
          </a:bodyPr>
          <a:lstStyle/>
          <a:p>
            <a:r>
              <a:rPr lang="fr-FR" sz="2400" dirty="0" err="1">
                <a:solidFill>
                  <a:schemeClr val="bg1"/>
                </a:solidFill>
                <a:latin typeface="Verdana" panose="020B0604030504040204" pitchFamily="34" charset="0"/>
                <a:ea typeface="Verdana" panose="020B0604030504040204" pitchFamily="34" charset="0"/>
              </a:rPr>
              <a:t>Step</a:t>
            </a:r>
            <a:r>
              <a:rPr lang="fr-FR" sz="2400" dirty="0">
                <a:solidFill>
                  <a:schemeClr val="bg1"/>
                </a:solidFill>
                <a:latin typeface="Verdana" panose="020B0604030504040204" pitchFamily="34" charset="0"/>
                <a:ea typeface="Verdana" panose="020B0604030504040204" pitchFamily="34" charset="0"/>
              </a:rPr>
              <a:t> 1</a:t>
            </a:r>
            <a:r>
              <a:rPr lang="fr-FR" sz="2000" dirty="0">
                <a:solidFill>
                  <a:schemeClr val="bg1"/>
                </a:solidFill>
                <a:latin typeface="Verdana" panose="020B0604030504040204" pitchFamily="34" charset="0"/>
                <a:ea typeface="Verdana" panose="020B0604030504040204" pitchFamily="34" charset="0"/>
              </a:rPr>
              <a:t>:</a:t>
            </a:r>
          </a:p>
          <a:p>
            <a:endParaRPr lang="fr-FR" sz="2000" dirty="0">
              <a:solidFill>
                <a:schemeClr val="bg1"/>
              </a:solidFill>
              <a:latin typeface="Verdana" panose="020B0604030504040204" pitchFamily="34" charset="0"/>
              <a:ea typeface="Verdana" panose="020B0604030504040204" pitchFamily="34" charset="0"/>
            </a:endParaRPr>
          </a:p>
          <a:p>
            <a:r>
              <a:rPr lang="fr-FR" sz="2400" dirty="0" err="1">
                <a:solidFill>
                  <a:schemeClr val="bg1"/>
                </a:solidFill>
                <a:latin typeface="Verdana" panose="020B0604030504040204" pitchFamily="34" charset="0"/>
                <a:ea typeface="Verdana" panose="020B0604030504040204" pitchFamily="34" charset="0"/>
              </a:rPr>
              <a:t>Found</a:t>
            </a:r>
            <a:r>
              <a:rPr lang="fr-FR" sz="2400" dirty="0">
                <a:solidFill>
                  <a:schemeClr val="bg1"/>
                </a:solidFill>
                <a:latin typeface="Verdana" panose="020B0604030504040204" pitchFamily="34" charset="0"/>
                <a:ea typeface="Verdana" panose="020B0604030504040204" pitchFamily="34" charset="0"/>
              </a:rPr>
              <a:t> Noisy Host</a:t>
            </a:r>
          </a:p>
          <a:p>
            <a:r>
              <a:rPr lang="fr-FR" sz="2400" dirty="0">
                <a:solidFill>
                  <a:schemeClr val="bg1"/>
                </a:solidFill>
                <a:latin typeface="Verdana" panose="020B0604030504040204" pitchFamily="34" charset="0"/>
                <a:ea typeface="Verdana" panose="020B0604030504040204" pitchFamily="34" charset="0"/>
              </a:rPr>
              <a:t>10.8.15.133 </a:t>
            </a:r>
          </a:p>
          <a:p>
            <a:endParaRPr lang="fr-FR" sz="2000" dirty="0">
              <a:solidFill>
                <a:schemeClr val="bg1"/>
              </a:solidFill>
            </a:endParaRPr>
          </a:p>
          <a:p>
            <a:r>
              <a:rPr lang="fr-FR" sz="2000" dirty="0"/>
              <a:t>:</a:t>
            </a:r>
          </a:p>
        </p:txBody>
      </p:sp>
      <p:sp>
        <p:nvSpPr>
          <p:cNvPr id="16" name="Rectangle : coins arrondis 15">
            <a:extLst>
              <a:ext uri="{FF2B5EF4-FFF2-40B4-BE49-F238E27FC236}">
                <a16:creationId xmlns:a16="http://schemas.microsoft.com/office/drawing/2014/main" id="{7D3AD0FB-32F0-C8C5-100E-8D154FE2A74E}"/>
              </a:ext>
            </a:extLst>
          </p:cNvPr>
          <p:cNvSpPr/>
          <p:nvPr/>
        </p:nvSpPr>
        <p:spPr>
          <a:xfrm>
            <a:off x="4525912" y="2322030"/>
            <a:ext cx="3197503" cy="1953985"/>
          </a:xfrm>
          <a:prstGeom prst="roundRect">
            <a:avLst/>
          </a:prstGeom>
          <a:no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r>
              <a:rPr lang="fr-FR" sz="2400" dirty="0" err="1">
                <a:solidFill>
                  <a:schemeClr val="bg1"/>
                </a:solidFill>
                <a:latin typeface="Verdana" panose="020B0604030504040204" pitchFamily="34" charset="0"/>
                <a:ea typeface="Verdana" panose="020B0604030504040204" pitchFamily="34" charset="0"/>
              </a:rPr>
              <a:t>Step</a:t>
            </a:r>
            <a:r>
              <a:rPr lang="fr-FR" sz="2400" dirty="0">
                <a:solidFill>
                  <a:schemeClr val="bg1"/>
                </a:solidFill>
                <a:latin typeface="Verdana" panose="020B0604030504040204" pitchFamily="34" charset="0"/>
                <a:ea typeface="Verdana" panose="020B0604030504040204" pitchFamily="34" charset="0"/>
              </a:rPr>
              <a:t> 2:</a:t>
            </a:r>
          </a:p>
          <a:p>
            <a:endParaRPr lang="fr-FR" sz="2400" dirty="0">
              <a:solidFill>
                <a:schemeClr val="bg1"/>
              </a:solidFill>
              <a:latin typeface="Verdana" panose="020B0604030504040204" pitchFamily="34" charset="0"/>
              <a:ea typeface="Verdana" panose="020B0604030504040204" pitchFamily="34" charset="0"/>
            </a:endParaRPr>
          </a:p>
          <a:p>
            <a:r>
              <a:rPr lang="fr-FR" sz="2400" dirty="0" err="1">
                <a:solidFill>
                  <a:schemeClr val="bg1"/>
                </a:solidFill>
                <a:latin typeface="Verdana" panose="020B0604030504040204" pitchFamily="34" charset="0"/>
                <a:ea typeface="Verdana" panose="020B0604030504040204" pitchFamily="34" charset="0"/>
              </a:rPr>
              <a:t>Traced</a:t>
            </a:r>
            <a:r>
              <a:rPr lang="fr-FR" sz="2400" dirty="0">
                <a:solidFill>
                  <a:schemeClr val="bg1"/>
                </a:solidFill>
                <a:latin typeface="Verdana" panose="020B0604030504040204" pitchFamily="34" charset="0"/>
                <a:ea typeface="Verdana" panose="020B0604030504040204" pitchFamily="34" charset="0"/>
              </a:rPr>
              <a:t> </a:t>
            </a:r>
            <a:r>
              <a:rPr lang="fr-FR" sz="2400" dirty="0" err="1">
                <a:solidFill>
                  <a:schemeClr val="bg1"/>
                </a:solidFill>
                <a:latin typeface="Verdana" panose="020B0604030504040204" pitchFamily="34" charset="0"/>
                <a:ea typeface="Verdana" panose="020B0604030504040204" pitchFamily="34" charset="0"/>
              </a:rPr>
              <a:t>its</a:t>
            </a:r>
            <a:r>
              <a:rPr lang="fr-FR" sz="2400" dirty="0">
                <a:solidFill>
                  <a:schemeClr val="bg1"/>
                </a:solidFill>
                <a:latin typeface="Verdana" panose="020B0604030504040204" pitchFamily="34" charset="0"/>
                <a:ea typeface="Verdana" panose="020B0604030504040204" pitchFamily="34" charset="0"/>
              </a:rPr>
              <a:t> </a:t>
            </a:r>
            <a:r>
              <a:rPr lang="fr-FR" sz="2400" dirty="0" err="1">
                <a:solidFill>
                  <a:schemeClr val="bg1"/>
                </a:solidFill>
                <a:latin typeface="Verdana" panose="020B0604030504040204" pitchFamily="34" charset="0"/>
                <a:ea typeface="Verdana" panose="020B0604030504040204" pitchFamily="34" charset="0"/>
              </a:rPr>
              <a:t>traffic</a:t>
            </a:r>
            <a:endParaRPr lang="fr-FR" sz="2400" dirty="0">
              <a:solidFill>
                <a:schemeClr val="bg1"/>
              </a:solidFill>
              <a:latin typeface="Verdana" panose="020B0604030504040204" pitchFamily="34" charset="0"/>
              <a:ea typeface="Verdana" panose="020B0604030504040204" pitchFamily="34" charset="0"/>
            </a:endParaRPr>
          </a:p>
          <a:p>
            <a:r>
              <a:rPr lang="fr-FR" sz="2400" dirty="0">
                <a:solidFill>
                  <a:schemeClr val="bg1"/>
                </a:solidFill>
              </a:rPr>
              <a:t>to 72.5.43.29</a:t>
            </a:r>
          </a:p>
          <a:p>
            <a:endParaRPr lang="fr-FR" dirty="0">
              <a:solidFill>
                <a:schemeClr val="bg1"/>
              </a:solidFill>
              <a:latin typeface="Verdana" panose="020B0604030504040204" pitchFamily="34" charset="0"/>
              <a:ea typeface="Verdana" panose="020B0604030504040204" pitchFamily="34" charset="0"/>
            </a:endParaRPr>
          </a:p>
        </p:txBody>
      </p:sp>
      <p:sp>
        <p:nvSpPr>
          <p:cNvPr id="17" name="Rectangle : coins arrondis 16">
            <a:extLst>
              <a:ext uri="{FF2B5EF4-FFF2-40B4-BE49-F238E27FC236}">
                <a16:creationId xmlns:a16="http://schemas.microsoft.com/office/drawing/2014/main" id="{B25730DC-4C1E-4499-FCD3-8546B218D871}"/>
              </a:ext>
            </a:extLst>
          </p:cNvPr>
          <p:cNvSpPr/>
          <p:nvPr/>
        </p:nvSpPr>
        <p:spPr>
          <a:xfrm>
            <a:off x="8468711" y="2338368"/>
            <a:ext cx="2938485" cy="1953985"/>
          </a:xfrm>
          <a:prstGeom prst="roundRect">
            <a:avLst/>
          </a:prstGeom>
          <a:no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r>
              <a:rPr lang="fr-FR" sz="2400" dirty="0" err="1">
                <a:solidFill>
                  <a:schemeClr val="bg1"/>
                </a:solidFill>
                <a:latin typeface="Verdana" panose="020B0604030504040204" pitchFamily="34" charset="0"/>
                <a:ea typeface="Verdana" panose="020B0604030504040204" pitchFamily="34" charset="0"/>
              </a:rPr>
              <a:t>Step</a:t>
            </a:r>
            <a:r>
              <a:rPr lang="fr-FR" sz="2400" dirty="0">
                <a:solidFill>
                  <a:schemeClr val="bg1"/>
                </a:solidFill>
                <a:latin typeface="Verdana" panose="020B0604030504040204" pitchFamily="34" charset="0"/>
                <a:ea typeface="Verdana" panose="020B0604030504040204" pitchFamily="34" charset="0"/>
              </a:rPr>
              <a:t> 3:</a:t>
            </a:r>
          </a:p>
          <a:p>
            <a:r>
              <a:rPr lang="fr-FR" sz="2400" dirty="0" err="1">
                <a:solidFill>
                  <a:schemeClr val="bg1"/>
                </a:solidFill>
              </a:rPr>
              <a:t>Analyzed</a:t>
            </a:r>
            <a:r>
              <a:rPr lang="fr-FR" sz="2400" dirty="0">
                <a:solidFill>
                  <a:schemeClr val="bg1"/>
                </a:solidFill>
              </a:rPr>
              <a:t> </a:t>
            </a:r>
            <a:r>
              <a:rPr lang="fr-FR" sz="2400" dirty="0" err="1">
                <a:solidFill>
                  <a:schemeClr val="bg1"/>
                </a:solidFill>
              </a:rPr>
              <a:t>traffic</a:t>
            </a:r>
            <a:endParaRPr lang="fr-FR" sz="2400" dirty="0">
              <a:solidFill>
                <a:schemeClr val="bg1"/>
              </a:solidFill>
            </a:endParaRPr>
          </a:p>
          <a:p>
            <a:r>
              <a:rPr lang="fr-FR" sz="2400" dirty="0">
                <a:solidFill>
                  <a:schemeClr val="bg1"/>
                </a:solidFill>
              </a:rPr>
              <a:t>Malware, </a:t>
            </a:r>
            <a:r>
              <a:rPr lang="fr-FR" sz="2400" dirty="0" err="1">
                <a:solidFill>
                  <a:schemeClr val="bg1"/>
                </a:solidFill>
              </a:rPr>
              <a:t>Attacker</a:t>
            </a:r>
            <a:r>
              <a:rPr lang="fr-FR" sz="2400" dirty="0">
                <a:solidFill>
                  <a:schemeClr val="bg1"/>
                </a:solidFill>
              </a:rPr>
              <a:t> servers, and Exfiltration</a:t>
            </a:r>
          </a:p>
        </p:txBody>
      </p:sp>
      <p:sp>
        <p:nvSpPr>
          <p:cNvPr id="19" name="ZoneTexte 18">
            <a:extLst>
              <a:ext uri="{FF2B5EF4-FFF2-40B4-BE49-F238E27FC236}">
                <a16:creationId xmlns:a16="http://schemas.microsoft.com/office/drawing/2014/main" id="{192390D1-52AC-0E85-73D7-01EE37E3FF1D}"/>
              </a:ext>
            </a:extLst>
          </p:cNvPr>
          <p:cNvSpPr txBox="1"/>
          <p:nvPr/>
        </p:nvSpPr>
        <p:spPr>
          <a:xfrm>
            <a:off x="3818404" y="5546340"/>
            <a:ext cx="6859488" cy="584775"/>
          </a:xfrm>
          <a:prstGeom prst="rect">
            <a:avLst/>
          </a:prstGeom>
          <a:noFill/>
        </p:spPr>
        <p:txBody>
          <a:bodyPr wrap="square">
            <a:spAutoFit/>
          </a:bodyPr>
          <a:lstStyle/>
          <a:p>
            <a:r>
              <a:rPr lang="en-GB" sz="3200" dirty="0">
                <a:solidFill>
                  <a:schemeClr val="bg1"/>
                </a:solidFill>
                <a:latin typeface="Verdana" panose="020B0604030504040204" pitchFamily="34" charset="0"/>
                <a:ea typeface="Verdana" panose="020B0604030504040204" pitchFamily="34" charset="0"/>
              </a:rPr>
              <a:t>What the investigation revealed</a:t>
            </a:r>
            <a:endParaRPr lang="fr-FR" sz="3200" dirty="0">
              <a:solidFill>
                <a:schemeClr val="bg1"/>
              </a:solidFill>
              <a:latin typeface="Verdana" panose="020B0604030504040204" pitchFamily="34" charset="0"/>
              <a:ea typeface="Verdana" panose="020B0604030504040204" pitchFamily="34" charset="0"/>
            </a:endParaRPr>
          </a:p>
        </p:txBody>
      </p:sp>
      <p:pic>
        <p:nvPicPr>
          <p:cNvPr id="22" name="Image 21">
            <a:extLst>
              <a:ext uri="{FF2B5EF4-FFF2-40B4-BE49-F238E27FC236}">
                <a16:creationId xmlns:a16="http://schemas.microsoft.com/office/drawing/2014/main" id="{733063D8-4CA6-8287-FEA5-7970DB8E5FD5}"/>
              </a:ext>
            </a:extLst>
          </p:cNvPr>
          <p:cNvPicPr>
            <a:picLocks noChangeAspect="1"/>
          </p:cNvPicPr>
          <p:nvPr/>
        </p:nvPicPr>
        <p:blipFill>
          <a:blip r:embed="rId5"/>
          <a:stretch>
            <a:fillRect/>
          </a:stretch>
        </p:blipFill>
        <p:spPr>
          <a:xfrm>
            <a:off x="4310743" y="6628366"/>
            <a:ext cx="10173816" cy="264053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23" name="Google Shape;140;p11">
            <a:extLst>
              <a:ext uri="{FF2B5EF4-FFF2-40B4-BE49-F238E27FC236}">
                <a16:creationId xmlns:a16="http://schemas.microsoft.com/office/drawing/2014/main" id="{BBC1A0BC-6106-0C3A-9A72-D91F73DE4A93}"/>
              </a:ext>
            </a:extLst>
          </p:cNvPr>
          <p:cNvSpPr txBox="1"/>
          <p:nvPr/>
        </p:nvSpPr>
        <p:spPr>
          <a:xfrm>
            <a:off x="726021" y="6628366"/>
            <a:ext cx="3687777" cy="2862282"/>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lt1"/>
              </a:buClr>
              <a:buSzPts val="1800"/>
              <a:buFont typeface="Arial"/>
              <a:buNone/>
            </a:pPr>
            <a:r>
              <a:rPr lang="fr-FR" sz="2000" b="0" i="0" dirty="0" err="1">
                <a:solidFill>
                  <a:schemeClr val="lt1"/>
                </a:solidFill>
                <a:latin typeface="Arial"/>
                <a:ea typeface="Arial"/>
                <a:cs typeface="Arial"/>
                <a:sym typeface="Arial"/>
              </a:rPr>
              <a:t>Through</a:t>
            </a:r>
            <a:r>
              <a:rPr lang="fr-FR" sz="2000" b="0" i="0" dirty="0">
                <a:solidFill>
                  <a:schemeClr val="lt1"/>
                </a:solidFill>
                <a:latin typeface="Arial"/>
                <a:ea typeface="Arial"/>
                <a:cs typeface="Arial"/>
                <a:sym typeface="Arial"/>
              </a:rPr>
              <a:t> </a:t>
            </a:r>
            <a:r>
              <a:rPr lang="fr-FR" sz="2000" b="0" i="0" dirty="0" err="1">
                <a:solidFill>
                  <a:schemeClr val="lt1"/>
                </a:solidFill>
                <a:latin typeface="Arial"/>
                <a:ea typeface="Arial"/>
                <a:cs typeface="Arial"/>
                <a:sym typeface="Arial"/>
              </a:rPr>
              <a:t>correlation</a:t>
            </a:r>
            <a:r>
              <a:rPr lang="fr-FR" sz="2000" b="0" i="0" dirty="0">
                <a:solidFill>
                  <a:schemeClr val="lt1"/>
                </a:solidFill>
                <a:latin typeface="Arial"/>
                <a:ea typeface="Arial"/>
                <a:cs typeface="Arial"/>
                <a:sym typeface="Arial"/>
              </a:rPr>
              <a:t> of </a:t>
            </a:r>
            <a:r>
              <a:rPr lang="fr-FR" sz="2000" b="0" i="0" dirty="0" err="1">
                <a:solidFill>
                  <a:schemeClr val="lt1"/>
                </a:solidFill>
                <a:latin typeface="Arial"/>
                <a:ea typeface="Arial"/>
                <a:cs typeface="Arial"/>
                <a:sym typeface="Arial"/>
              </a:rPr>
              <a:t>our</a:t>
            </a:r>
            <a:r>
              <a:rPr lang="fr-FR" sz="2000" b="0" i="0" dirty="0">
                <a:solidFill>
                  <a:schemeClr val="lt1"/>
                </a:solidFill>
                <a:latin typeface="Arial"/>
                <a:ea typeface="Arial"/>
                <a:cs typeface="Arial"/>
                <a:sym typeface="Arial"/>
              </a:rPr>
              <a:t> </a:t>
            </a:r>
            <a:r>
              <a:rPr lang="fr-FR" sz="2000" b="0" i="0" dirty="0" err="1">
                <a:solidFill>
                  <a:schemeClr val="lt1"/>
                </a:solidFill>
                <a:latin typeface="Arial"/>
                <a:ea typeface="Arial"/>
                <a:cs typeface="Arial"/>
                <a:sym typeface="Arial"/>
              </a:rPr>
              <a:t>findings</a:t>
            </a:r>
            <a:r>
              <a:rPr lang="fr-FR" sz="2000" b="0" i="0" dirty="0">
                <a:solidFill>
                  <a:schemeClr val="lt1"/>
                </a:solidFill>
                <a:latin typeface="Arial"/>
                <a:ea typeface="Arial"/>
                <a:cs typeface="Arial"/>
                <a:sym typeface="Arial"/>
              </a:rPr>
              <a:t>, the </a:t>
            </a:r>
            <a:r>
              <a:rPr lang="fr-FR" sz="2000" b="1" i="0" dirty="0">
                <a:solidFill>
                  <a:schemeClr val="lt1"/>
                </a:solidFill>
                <a:latin typeface="Arial"/>
                <a:ea typeface="Arial"/>
                <a:cs typeface="Arial"/>
                <a:sym typeface="Arial"/>
              </a:rPr>
              <a:t>4 </a:t>
            </a:r>
            <a:r>
              <a:rPr lang="fr-FR" sz="2000" b="1" dirty="0" err="1">
                <a:solidFill>
                  <a:schemeClr val="lt1"/>
                </a:solidFill>
                <a:latin typeface="Arial"/>
                <a:ea typeface="Arial"/>
                <a:cs typeface="Arial"/>
                <a:sym typeface="Arial"/>
              </a:rPr>
              <a:t>Attacker</a:t>
            </a:r>
            <a:r>
              <a:rPr lang="fr-FR" sz="2000" b="1" dirty="0">
                <a:solidFill>
                  <a:schemeClr val="lt1"/>
                </a:solidFill>
                <a:latin typeface="Arial"/>
                <a:ea typeface="Arial"/>
                <a:cs typeface="Arial"/>
                <a:sym typeface="Arial"/>
              </a:rPr>
              <a:t> </a:t>
            </a:r>
            <a:r>
              <a:rPr lang="fr-FR" sz="2000" b="1" i="0" dirty="0">
                <a:solidFill>
                  <a:schemeClr val="lt1"/>
                </a:solidFill>
                <a:latin typeface="Arial"/>
                <a:ea typeface="Arial"/>
                <a:cs typeface="Arial"/>
                <a:sym typeface="Arial"/>
              </a:rPr>
              <a:t>servers</a:t>
            </a:r>
            <a:r>
              <a:rPr lang="fr-FR" sz="2000" b="0" i="0" dirty="0">
                <a:solidFill>
                  <a:schemeClr val="lt1"/>
                </a:solidFill>
                <a:latin typeface="Arial"/>
                <a:ea typeface="Arial"/>
                <a:cs typeface="Arial"/>
                <a:sym typeface="Arial"/>
              </a:rPr>
              <a:t> are:</a:t>
            </a:r>
            <a:endParaRPr sz="2000" dirty="0">
              <a:solidFill>
                <a:schemeClr val="lt1"/>
              </a:solidFill>
              <a:latin typeface="Arial"/>
              <a:ea typeface="Arial"/>
              <a:cs typeface="Arial"/>
              <a:sym typeface="Arial"/>
            </a:endParaRPr>
          </a:p>
          <a:p>
            <a:pPr marL="0" lvl="0" indent="0" algn="l" rtl="0">
              <a:spcBef>
                <a:spcPts val="1200"/>
              </a:spcBef>
              <a:spcAft>
                <a:spcPts val="0"/>
              </a:spcAft>
              <a:buClr>
                <a:schemeClr val="lt1"/>
              </a:buClr>
              <a:buSzPts val="1800"/>
              <a:buFont typeface="Arial"/>
              <a:buNone/>
            </a:pPr>
            <a:r>
              <a:rPr lang="fr-FR" sz="2000" b="0" i="0" dirty="0">
                <a:solidFill>
                  <a:schemeClr val="lt1"/>
                </a:solidFill>
                <a:latin typeface="Arial"/>
                <a:ea typeface="Arial"/>
                <a:cs typeface="Arial"/>
                <a:sym typeface="Arial"/>
              </a:rPr>
              <a:t>72.5.43.29</a:t>
            </a:r>
            <a:r>
              <a:rPr lang="fr-FR" sz="2000" dirty="0">
                <a:solidFill>
                  <a:schemeClr val="lt1"/>
                </a:solidFill>
                <a:latin typeface="Arial"/>
                <a:ea typeface="Arial"/>
                <a:cs typeface="Arial"/>
                <a:sym typeface="Arial"/>
              </a:rPr>
              <a:t>,</a:t>
            </a:r>
          </a:p>
          <a:p>
            <a:pPr marL="0" lvl="0" indent="0" algn="l" rtl="0">
              <a:spcBef>
                <a:spcPts val="1200"/>
              </a:spcBef>
              <a:spcAft>
                <a:spcPts val="0"/>
              </a:spcAft>
              <a:buClr>
                <a:schemeClr val="lt1"/>
              </a:buClr>
              <a:buSzPts val="1800"/>
              <a:buFont typeface="Arial"/>
              <a:buNone/>
            </a:pPr>
            <a:r>
              <a:rPr lang="fr-FR" sz="2000" b="0" i="0" dirty="0">
                <a:solidFill>
                  <a:schemeClr val="lt1"/>
                </a:solidFill>
                <a:latin typeface="Arial"/>
                <a:ea typeface="Arial"/>
                <a:cs typeface="Arial"/>
                <a:sym typeface="Arial"/>
              </a:rPr>
              <a:t>104.21.55.70</a:t>
            </a:r>
            <a:r>
              <a:rPr lang="fr-FR" sz="2000" dirty="0">
                <a:solidFill>
                  <a:schemeClr val="lt1"/>
                </a:solidFill>
                <a:latin typeface="Arial"/>
                <a:ea typeface="Arial"/>
                <a:cs typeface="Arial"/>
                <a:sym typeface="Arial"/>
              </a:rPr>
              <a:t>,</a:t>
            </a:r>
          </a:p>
          <a:p>
            <a:pPr marL="0" lvl="0" indent="0" algn="l" rtl="0">
              <a:spcBef>
                <a:spcPts val="1200"/>
              </a:spcBef>
              <a:spcAft>
                <a:spcPts val="0"/>
              </a:spcAft>
              <a:buClr>
                <a:schemeClr val="lt1"/>
              </a:buClr>
              <a:buSzPts val="1800"/>
              <a:buFont typeface="Arial"/>
              <a:buNone/>
            </a:pPr>
            <a:r>
              <a:rPr lang="fr-FR" sz="2000" b="0" i="0" dirty="0">
                <a:solidFill>
                  <a:schemeClr val="lt1"/>
                </a:solidFill>
                <a:latin typeface="Arial"/>
                <a:ea typeface="Arial"/>
                <a:cs typeface="Arial"/>
                <a:sym typeface="Arial"/>
              </a:rPr>
              <a:t>23.220.103.8</a:t>
            </a:r>
            <a:r>
              <a:rPr lang="fr-FR" sz="2000" dirty="0">
                <a:solidFill>
                  <a:schemeClr val="lt1"/>
                </a:solidFill>
                <a:latin typeface="Arial"/>
                <a:ea typeface="Arial"/>
                <a:cs typeface="Arial"/>
                <a:sym typeface="Arial"/>
              </a:rPr>
              <a:t>,</a:t>
            </a:r>
          </a:p>
          <a:p>
            <a:pPr marL="0" lvl="0" indent="0" algn="l" rtl="0">
              <a:spcBef>
                <a:spcPts val="1200"/>
              </a:spcBef>
              <a:spcAft>
                <a:spcPts val="0"/>
              </a:spcAft>
              <a:buClr>
                <a:schemeClr val="lt1"/>
              </a:buClr>
              <a:buSzPts val="1800"/>
              <a:buFont typeface="Arial"/>
              <a:buNone/>
            </a:pPr>
            <a:r>
              <a:rPr lang="fr-FR" sz="2000" b="0" i="0" dirty="0">
                <a:solidFill>
                  <a:schemeClr val="lt1"/>
                </a:solidFill>
                <a:latin typeface="Arial"/>
                <a:ea typeface="Arial"/>
                <a:cs typeface="Arial"/>
                <a:sym typeface="Arial"/>
              </a:rPr>
              <a:t>23.220.103.18</a:t>
            </a:r>
            <a:endParaRPr sz="2000" b="0" i="0" dirty="0">
              <a:solidFill>
                <a:schemeClr val="lt1"/>
              </a:solidFill>
              <a:latin typeface="Arial"/>
              <a:ea typeface="Arial"/>
              <a:cs typeface="Arial"/>
              <a:sym typeface="Arial"/>
            </a:endParaRPr>
          </a:p>
        </p:txBody>
      </p:sp>
      <p:pic>
        <p:nvPicPr>
          <p:cNvPr id="24" name="Google Shape;142;p11"/>
          <p:cNvPicPr preferRelativeResize="0"/>
          <p:nvPr/>
        </p:nvPicPr>
        <p:blipFill rotWithShape="1">
          <a:blip r:embed="rId6">
            <a:alphaModFix/>
          </a:blip>
          <a:srcRect l="1526" t="3858" r="59252" b="39805"/>
          <a:stretch>
            <a:fillRect/>
          </a:stretch>
        </p:blipFill>
        <p:spPr>
          <a:xfrm>
            <a:off x="11869878" y="2322030"/>
            <a:ext cx="6189713" cy="257681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8" name="ZoneTexte 27">
            <a:extLst>
              <a:ext uri="{FF2B5EF4-FFF2-40B4-BE49-F238E27FC236}">
                <a16:creationId xmlns:a16="http://schemas.microsoft.com/office/drawing/2014/main" id="{34F6BBD2-F2D2-C2DD-625B-4BAED5751129}"/>
              </a:ext>
            </a:extLst>
          </p:cNvPr>
          <p:cNvSpPr txBox="1"/>
          <p:nvPr/>
        </p:nvSpPr>
        <p:spPr>
          <a:xfrm>
            <a:off x="12012663" y="4930524"/>
            <a:ext cx="5916108" cy="646331"/>
          </a:xfrm>
          <a:prstGeom prst="rect">
            <a:avLst/>
          </a:prstGeom>
          <a:noFill/>
        </p:spPr>
        <p:txBody>
          <a:bodyPr wrap="square">
            <a:spAutoFit/>
          </a:bodyPr>
          <a:lstStyle/>
          <a:p>
            <a:r>
              <a:rPr lang="fr-FR" sz="1800" dirty="0" err="1">
                <a:solidFill>
                  <a:schemeClr val="bg1"/>
                </a:solidFill>
              </a:rPr>
              <a:t>Query</a:t>
            </a:r>
            <a:r>
              <a:rPr lang="fr-FR" sz="1800" dirty="0">
                <a:solidFill>
                  <a:schemeClr val="bg1"/>
                </a:solidFill>
              </a:rPr>
              <a:t> identifies the </a:t>
            </a:r>
            <a:r>
              <a:rPr lang="fr-FR" sz="1800" dirty="0" err="1">
                <a:solidFill>
                  <a:schemeClr val="bg1"/>
                </a:solidFill>
              </a:rPr>
              <a:t>communiation</a:t>
            </a:r>
            <a:r>
              <a:rPr lang="fr-FR" sz="1800" dirty="0">
                <a:solidFill>
                  <a:schemeClr val="bg1"/>
                </a:solidFill>
              </a:rPr>
              <a:t> pattern </a:t>
            </a:r>
            <a:r>
              <a:rPr lang="fr-FR" sz="1800" dirty="0" err="1">
                <a:solidFill>
                  <a:schemeClr val="bg1"/>
                </a:solidFill>
              </a:rPr>
              <a:t>between</a:t>
            </a:r>
            <a:r>
              <a:rPr lang="fr-FR" sz="1800" dirty="0">
                <a:solidFill>
                  <a:schemeClr val="bg1"/>
                </a:solidFill>
              </a:rPr>
              <a:t> the </a:t>
            </a:r>
            <a:r>
              <a:rPr lang="fr-FR" sz="1800" dirty="0" err="1">
                <a:solidFill>
                  <a:schemeClr val="bg1"/>
                </a:solidFill>
              </a:rPr>
              <a:t>infected</a:t>
            </a:r>
            <a:r>
              <a:rPr lang="fr-FR" sz="1800" dirty="0">
                <a:solidFill>
                  <a:schemeClr val="bg1"/>
                </a:solidFill>
              </a:rPr>
              <a:t> host and </a:t>
            </a:r>
            <a:r>
              <a:rPr lang="fr-FR" sz="1800" dirty="0" err="1">
                <a:solidFill>
                  <a:schemeClr val="bg1"/>
                </a:solidFill>
              </a:rPr>
              <a:t>known</a:t>
            </a:r>
            <a:r>
              <a:rPr lang="fr-FR" sz="1800" dirty="0">
                <a:solidFill>
                  <a:schemeClr val="bg1"/>
                </a:solidFill>
              </a:rPr>
              <a:t> </a:t>
            </a:r>
            <a:r>
              <a:rPr lang="fr-FR" sz="1800" dirty="0" err="1">
                <a:solidFill>
                  <a:schemeClr val="bg1"/>
                </a:solidFill>
              </a:rPr>
              <a:t>malicious</a:t>
            </a:r>
            <a:r>
              <a:rPr lang="fr-FR" sz="1800" dirty="0">
                <a:solidFill>
                  <a:schemeClr val="bg1"/>
                </a:solidFill>
              </a:rPr>
              <a:t> servers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16"/>
          <p:cNvPicPr preferRelativeResize="0"/>
          <p:nvPr/>
        </p:nvPicPr>
        <p:blipFill rotWithShape="1">
          <a:blip r:embed="rId3">
            <a:alphaModFix/>
          </a:blip>
          <a:srcRect/>
          <a:stretch/>
        </p:blipFill>
        <p:spPr>
          <a:xfrm>
            <a:off x="0" y="0"/>
            <a:ext cx="146399" cy="10286999"/>
          </a:xfrm>
          <a:prstGeom prst="rect">
            <a:avLst/>
          </a:prstGeom>
          <a:noFill/>
          <a:ln>
            <a:noFill/>
          </a:ln>
        </p:spPr>
      </p:pic>
      <p:sp>
        <p:nvSpPr>
          <p:cNvPr id="161" name="Google Shape;161;p16"/>
          <p:cNvSpPr txBox="1">
            <a:spLocks noGrp="1"/>
          </p:cNvSpPr>
          <p:nvPr>
            <p:ph type="title"/>
          </p:nvPr>
        </p:nvSpPr>
        <p:spPr>
          <a:xfrm>
            <a:off x="507720" y="190500"/>
            <a:ext cx="17791166" cy="1998624"/>
          </a:xfrm>
          <a:prstGeom prst="rect">
            <a:avLst/>
          </a:prstGeom>
          <a:noFill/>
          <a:ln>
            <a:noFill/>
          </a:ln>
        </p:spPr>
        <p:txBody>
          <a:bodyPr spcFirstLastPara="1" wrap="square" lIns="0" tIns="333375" rIns="0" bIns="0" anchor="t" anchorCtr="0">
            <a:spAutoFit/>
          </a:bodyPr>
          <a:lstStyle/>
          <a:p>
            <a:pPr marL="12700" lvl="0" indent="0" algn="l" rtl="0">
              <a:lnSpc>
                <a:spcPct val="100000"/>
              </a:lnSpc>
              <a:spcBef>
                <a:spcPts val="0"/>
              </a:spcBef>
              <a:spcAft>
                <a:spcPts val="0"/>
              </a:spcAft>
              <a:buNone/>
            </a:pPr>
            <a:r>
              <a:rPr lang="fr-FR" sz="4800">
                <a:latin typeface="Verdana"/>
                <a:ea typeface="Verdana"/>
                <a:cs typeface="Verdana"/>
                <a:sym typeface="Verdana"/>
              </a:rPr>
              <a:t>Attack Timeline Reconstruction</a:t>
            </a:r>
            <a:br>
              <a:rPr lang="fr-FR" sz="4800">
                <a:latin typeface="Verdana"/>
                <a:ea typeface="Verdana"/>
                <a:cs typeface="Verdana"/>
                <a:sym typeface="Verdana"/>
              </a:rPr>
            </a:br>
            <a:br>
              <a:rPr lang="fr-FR" sz="3000" b="0">
                <a:latin typeface="Verdana"/>
                <a:ea typeface="Verdana"/>
                <a:cs typeface="Verdana"/>
                <a:sym typeface="Verdana"/>
              </a:rPr>
            </a:br>
            <a:endParaRPr sz="3000">
              <a:latin typeface="Verdana"/>
              <a:ea typeface="Verdana"/>
              <a:cs typeface="Verdana"/>
              <a:sym typeface="Verdana"/>
            </a:endParaRPr>
          </a:p>
        </p:txBody>
      </p:sp>
      <p:pic>
        <p:nvPicPr>
          <p:cNvPr id="162" name="Google Shape;162;p16"/>
          <p:cNvPicPr preferRelativeResize="0"/>
          <p:nvPr/>
        </p:nvPicPr>
        <p:blipFill rotWithShape="1">
          <a:blip r:embed="rId4">
            <a:alphaModFix/>
          </a:blip>
          <a:srcRect t="311" r="28576" b="46946"/>
          <a:stretch/>
        </p:blipFill>
        <p:spPr>
          <a:xfrm>
            <a:off x="6564075" y="2527280"/>
            <a:ext cx="11734800" cy="4410074"/>
          </a:xfrm>
          <a:prstGeom prst="rect">
            <a:avLst/>
          </a:prstGeom>
          <a:noFill/>
          <a:ln>
            <a:noFill/>
          </a:ln>
        </p:spPr>
      </p:pic>
      <p:pic>
        <p:nvPicPr>
          <p:cNvPr id="163" name="Google Shape;163;p16"/>
          <p:cNvPicPr preferRelativeResize="0"/>
          <p:nvPr/>
        </p:nvPicPr>
        <p:blipFill rotWithShape="1">
          <a:blip r:embed="rId5">
            <a:alphaModFix/>
          </a:blip>
          <a:srcRect/>
          <a:stretch/>
        </p:blipFill>
        <p:spPr>
          <a:xfrm>
            <a:off x="4653068" y="6937353"/>
            <a:ext cx="13645799" cy="3349647"/>
          </a:xfrm>
          <a:prstGeom prst="rect">
            <a:avLst/>
          </a:prstGeom>
          <a:noFill/>
          <a:ln>
            <a:noFill/>
          </a:ln>
        </p:spPr>
      </p:pic>
      <p:sp>
        <p:nvSpPr>
          <p:cNvPr id="164" name="Google Shape;164;p16"/>
          <p:cNvSpPr txBox="1"/>
          <p:nvPr/>
        </p:nvSpPr>
        <p:spPr>
          <a:xfrm>
            <a:off x="507720" y="3009900"/>
            <a:ext cx="5131080" cy="1631216"/>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2000">
                <a:solidFill>
                  <a:schemeClr val="lt1"/>
                </a:solidFill>
              </a:rPr>
              <a:t>Peak activity happened at time: 80.2 - 80.3 (between 00:10:20.200  and  00:10:20.300 UTC). The attack peaked at that specific moment with 946 packets representing the highest concentration of malicious activity. </a:t>
            </a:r>
            <a:endParaRPr sz="2000">
              <a:solidFill>
                <a:schemeClr val="lt1"/>
              </a:solidFill>
            </a:endParaRPr>
          </a:p>
        </p:txBody>
      </p:sp>
      <p:sp>
        <p:nvSpPr>
          <p:cNvPr id="165" name="Google Shape;165;p16"/>
          <p:cNvSpPr txBox="1"/>
          <p:nvPr/>
        </p:nvSpPr>
        <p:spPr>
          <a:xfrm>
            <a:off x="518606" y="1484187"/>
            <a:ext cx="17388394" cy="76944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2200" b="0">
                <a:solidFill>
                  <a:schemeClr val="lt1"/>
                </a:solidFill>
                <a:latin typeface="Verdana"/>
                <a:ea typeface="Verdana"/>
                <a:cs typeface="Verdana"/>
                <a:sym typeface="Verdana"/>
              </a:rPr>
              <a:t>Query Creates a time-series visualization of malicious activity by grouping traffic into time buckets and marking communications involving the infected host.</a:t>
            </a:r>
            <a:endParaRPr sz="2200">
              <a:solidFill>
                <a:schemeClr val="lt1"/>
              </a:solidFill>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grpSp>
        <p:nvGrpSpPr>
          <p:cNvPr id="170" name="Google Shape;170;p13"/>
          <p:cNvGrpSpPr/>
          <p:nvPr/>
        </p:nvGrpSpPr>
        <p:grpSpPr>
          <a:xfrm>
            <a:off x="4038600" y="1741845"/>
            <a:ext cx="14249281" cy="8811854"/>
            <a:chOff x="6700400" y="914400"/>
            <a:chExt cx="11587600" cy="9372599"/>
          </a:xfrm>
        </p:grpSpPr>
        <p:pic>
          <p:nvPicPr>
            <p:cNvPr id="171" name="Google Shape;171;p13"/>
            <p:cNvPicPr preferRelativeResize="0"/>
            <p:nvPr/>
          </p:nvPicPr>
          <p:blipFill rotWithShape="1">
            <a:blip r:embed="rId3">
              <a:alphaModFix/>
            </a:blip>
            <a:srcRect/>
            <a:stretch/>
          </p:blipFill>
          <p:spPr>
            <a:xfrm>
              <a:off x="6700400" y="914400"/>
              <a:ext cx="11587599" cy="9372599"/>
            </a:xfrm>
            <a:prstGeom prst="rect">
              <a:avLst/>
            </a:prstGeom>
            <a:noFill/>
            <a:ln>
              <a:noFill/>
            </a:ln>
          </p:spPr>
        </p:pic>
        <p:pic>
          <p:nvPicPr>
            <p:cNvPr id="172" name="Google Shape;172;p13"/>
            <p:cNvPicPr preferRelativeResize="0"/>
            <p:nvPr/>
          </p:nvPicPr>
          <p:blipFill rotWithShape="1">
            <a:blip r:embed="rId4">
              <a:alphaModFix/>
            </a:blip>
            <a:srcRect/>
            <a:stretch/>
          </p:blipFill>
          <p:spPr>
            <a:xfrm>
              <a:off x="6941750" y="1128650"/>
              <a:ext cx="11346250" cy="6946799"/>
            </a:xfrm>
            <a:prstGeom prst="rect">
              <a:avLst/>
            </a:prstGeom>
            <a:noFill/>
            <a:ln>
              <a:noFill/>
            </a:ln>
          </p:spPr>
        </p:pic>
        <p:pic>
          <p:nvPicPr>
            <p:cNvPr id="173" name="Google Shape;173;p13"/>
            <p:cNvPicPr preferRelativeResize="0"/>
            <p:nvPr/>
          </p:nvPicPr>
          <p:blipFill rotWithShape="1">
            <a:blip r:embed="rId5">
              <a:alphaModFix/>
            </a:blip>
            <a:srcRect/>
            <a:stretch/>
          </p:blipFill>
          <p:spPr>
            <a:xfrm>
              <a:off x="6824125" y="2704925"/>
              <a:ext cx="11463874" cy="5390124"/>
            </a:xfrm>
            <a:prstGeom prst="rect">
              <a:avLst/>
            </a:prstGeom>
            <a:noFill/>
            <a:ln>
              <a:noFill/>
            </a:ln>
          </p:spPr>
        </p:pic>
        <p:pic>
          <p:nvPicPr>
            <p:cNvPr id="174" name="Google Shape;174;p13"/>
            <p:cNvPicPr preferRelativeResize="0"/>
            <p:nvPr/>
          </p:nvPicPr>
          <p:blipFill rotWithShape="1">
            <a:blip r:embed="rId6">
              <a:alphaModFix/>
            </a:blip>
            <a:srcRect/>
            <a:stretch/>
          </p:blipFill>
          <p:spPr>
            <a:xfrm>
              <a:off x="14586725" y="5419824"/>
              <a:ext cx="2977549" cy="636874"/>
            </a:xfrm>
            <a:prstGeom prst="rect">
              <a:avLst/>
            </a:prstGeom>
            <a:noFill/>
            <a:ln>
              <a:noFill/>
            </a:ln>
          </p:spPr>
        </p:pic>
      </p:grpSp>
      <p:pic>
        <p:nvPicPr>
          <p:cNvPr id="175" name="Google Shape;175;p13"/>
          <p:cNvPicPr preferRelativeResize="0"/>
          <p:nvPr/>
        </p:nvPicPr>
        <p:blipFill rotWithShape="1">
          <a:blip r:embed="rId7">
            <a:alphaModFix/>
          </a:blip>
          <a:srcRect/>
          <a:stretch/>
        </p:blipFill>
        <p:spPr>
          <a:xfrm>
            <a:off x="0" y="0"/>
            <a:ext cx="146399" cy="10286999"/>
          </a:xfrm>
          <a:prstGeom prst="rect">
            <a:avLst/>
          </a:prstGeom>
          <a:noFill/>
          <a:ln>
            <a:noFill/>
          </a:ln>
        </p:spPr>
      </p:pic>
      <p:sp>
        <p:nvSpPr>
          <p:cNvPr id="176" name="Google Shape;176;p13"/>
          <p:cNvSpPr txBox="1">
            <a:spLocks noGrp="1"/>
          </p:cNvSpPr>
          <p:nvPr>
            <p:ph type="title"/>
          </p:nvPr>
        </p:nvSpPr>
        <p:spPr>
          <a:xfrm>
            <a:off x="612604" y="663533"/>
            <a:ext cx="13318552" cy="720069"/>
          </a:xfrm>
          <a:prstGeom prst="rect">
            <a:avLst/>
          </a:prstGeom>
          <a:noFill/>
          <a:ln>
            <a:noFill/>
          </a:ln>
        </p:spPr>
        <p:txBody>
          <a:bodyPr spcFirstLastPara="1" wrap="square" lIns="0" tIns="128900" rIns="0" bIns="0" anchor="t" anchorCtr="0">
            <a:spAutoFit/>
          </a:bodyPr>
          <a:lstStyle/>
          <a:p>
            <a:pPr marL="12700" marR="5080" lvl="0" indent="0" algn="l" rtl="0">
              <a:lnSpc>
                <a:spcPct val="95625"/>
              </a:lnSpc>
              <a:spcBef>
                <a:spcPts val="0"/>
              </a:spcBef>
              <a:spcAft>
                <a:spcPts val="0"/>
              </a:spcAft>
              <a:buNone/>
            </a:pPr>
            <a:r>
              <a:rPr lang="fr-FR" sz="4800"/>
              <a:t>Protocol-based Threat Categorization</a:t>
            </a:r>
            <a:endParaRPr sz="4500">
              <a:latin typeface="Verdana"/>
              <a:ea typeface="Verdana"/>
              <a:cs typeface="Verdana"/>
              <a:sym typeface="Verdana"/>
            </a:endParaRPr>
          </a:p>
        </p:txBody>
      </p:sp>
      <p:sp>
        <p:nvSpPr>
          <p:cNvPr id="177" name="Google Shape;177;p13"/>
          <p:cNvSpPr txBox="1"/>
          <p:nvPr/>
        </p:nvSpPr>
        <p:spPr>
          <a:xfrm>
            <a:off x="596275" y="2109775"/>
            <a:ext cx="3200400" cy="3477875"/>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2200">
                <a:solidFill>
                  <a:schemeClr val="lt1"/>
                </a:solidFill>
              </a:rPr>
              <a:t>Query groups all network traffic by protocol, then calculates for each protocol how many packets, average size and maximum size. </a:t>
            </a:r>
            <a:endParaRPr/>
          </a:p>
          <a:p>
            <a:pPr marL="0" lvl="0" indent="0" algn="l" rtl="0">
              <a:spcBef>
                <a:spcPts val="0"/>
              </a:spcBef>
              <a:spcAft>
                <a:spcPts val="0"/>
              </a:spcAft>
              <a:buNone/>
            </a:pPr>
            <a:r>
              <a:rPr lang="fr-FR" sz="2200">
                <a:solidFill>
                  <a:schemeClr val="lt1"/>
                </a:solidFill>
              </a:rPr>
              <a:t>Then classifies each protocol into a threat category based on some behavioral rules.</a:t>
            </a:r>
            <a:endParaRPr sz="2200">
              <a:solidFill>
                <a:schemeClr val="lt1"/>
              </a:solidFill>
            </a:endParaRPr>
          </a:p>
        </p:txBody>
      </p:sp>
      <p:pic>
        <p:nvPicPr>
          <p:cNvPr id="178" name="Google Shape;178;p13"/>
          <p:cNvPicPr preferRelativeResize="0"/>
          <p:nvPr/>
        </p:nvPicPr>
        <p:blipFill rotWithShape="1">
          <a:blip r:embed="rId8">
            <a:alphaModFix/>
          </a:blip>
          <a:srcRect r="1226" b="5618"/>
          <a:stretch/>
        </p:blipFill>
        <p:spPr>
          <a:xfrm>
            <a:off x="4234753" y="1908265"/>
            <a:ext cx="14053126" cy="776310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grpSp>
        <p:nvGrpSpPr>
          <p:cNvPr id="183" name="Google Shape;183;p14"/>
          <p:cNvGrpSpPr/>
          <p:nvPr/>
        </p:nvGrpSpPr>
        <p:grpSpPr>
          <a:xfrm>
            <a:off x="2895601" y="2933700"/>
            <a:ext cx="15392230" cy="7619999"/>
            <a:chOff x="6700400" y="914400"/>
            <a:chExt cx="11587600" cy="9372599"/>
          </a:xfrm>
        </p:grpSpPr>
        <p:pic>
          <p:nvPicPr>
            <p:cNvPr id="184" name="Google Shape;184;p14"/>
            <p:cNvPicPr preferRelativeResize="0"/>
            <p:nvPr/>
          </p:nvPicPr>
          <p:blipFill rotWithShape="1">
            <a:blip r:embed="rId3">
              <a:alphaModFix/>
            </a:blip>
            <a:srcRect/>
            <a:stretch/>
          </p:blipFill>
          <p:spPr>
            <a:xfrm>
              <a:off x="6700400" y="914400"/>
              <a:ext cx="11587599" cy="9372599"/>
            </a:xfrm>
            <a:prstGeom prst="rect">
              <a:avLst/>
            </a:prstGeom>
            <a:noFill/>
            <a:ln>
              <a:noFill/>
            </a:ln>
          </p:spPr>
        </p:pic>
        <p:pic>
          <p:nvPicPr>
            <p:cNvPr id="185" name="Google Shape;185;p14"/>
            <p:cNvPicPr preferRelativeResize="0"/>
            <p:nvPr/>
          </p:nvPicPr>
          <p:blipFill rotWithShape="1">
            <a:blip r:embed="rId4">
              <a:alphaModFix/>
            </a:blip>
            <a:srcRect/>
            <a:stretch/>
          </p:blipFill>
          <p:spPr>
            <a:xfrm>
              <a:off x="6941750" y="1128650"/>
              <a:ext cx="11346250" cy="6946799"/>
            </a:xfrm>
            <a:prstGeom prst="rect">
              <a:avLst/>
            </a:prstGeom>
            <a:noFill/>
            <a:ln>
              <a:noFill/>
            </a:ln>
          </p:spPr>
        </p:pic>
        <p:pic>
          <p:nvPicPr>
            <p:cNvPr id="186" name="Google Shape;186;p14"/>
            <p:cNvPicPr preferRelativeResize="0"/>
            <p:nvPr/>
          </p:nvPicPr>
          <p:blipFill rotWithShape="1">
            <a:blip r:embed="rId5">
              <a:alphaModFix/>
            </a:blip>
            <a:srcRect/>
            <a:stretch/>
          </p:blipFill>
          <p:spPr>
            <a:xfrm>
              <a:off x="6824125" y="2704925"/>
              <a:ext cx="11463874" cy="5390124"/>
            </a:xfrm>
            <a:prstGeom prst="rect">
              <a:avLst/>
            </a:prstGeom>
            <a:noFill/>
            <a:ln>
              <a:noFill/>
            </a:ln>
          </p:spPr>
        </p:pic>
        <p:pic>
          <p:nvPicPr>
            <p:cNvPr id="187" name="Google Shape;187;p14"/>
            <p:cNvPicPr preferRelativeResize="0"/>
            <p:nvPr/>
          </p:nvPicPr>
          <p:blipFill rotWithShape="1">
            <a:blip r:embed="rId6">
              <a:alphaModFix/>
            </a:blip>
            <a:srcRect/>
            <a:stretch/>
          </p:blipFill>
          <p:spPr>
            <a:xfrm>
              <a:off x="14586725" y="5419824"/>
              <a:ext cx="2977549" cy="636874"/>
            </a:xfrm>
            <a:prstGeom prst="rect">
              <a:avLst/>
            </a:prstGeom>
            <a:noFill/>
            <a:ln>
              <a:noFill/>
            </a:ln>
          </p:spPr>
        </p:pic>
      </p:grpSp>
      <p:pic>
        <p:nvPicPr>
          <p:cNvPr id="188" name="Google Shape;188;p14"/>
          <p:cNvPicPr preferRelativeResize="0"/>
          <p:nvPr/>
        </p:nvPicPr>
        <p:blipFill rotWithShape="1">
          <a:blip r:embed="rId7">
            <a:alphaModFix/>
          </a:blip>
          <a:srcRect/>
          <a:stretch/>
        </p:blipFill>
        <p:spPr>
          <a:xfrm>
            <a:off x="0" y="0"/>
            <a:ext cx="146399" cy="10286999"/>
          </a:xfrm>
          <a:prstGeom prst="rect">
            <a:avLst/>
          </a:prstGeom>
          <a:noFill/>
          <a:ln>
            <a:noFill/>
          </a:ln>
        </p:spPr>
      </p:pic>
      <p:sp>
        <p:nvSpPr>
          <p:cNvPr id="189" name="Google Shape;189;p14"/>
          <p:cNvSpPr txBox="1">
            <a:spLocks noGrp="1"/>
          </p:cNvSpPr>
          <p:nvPr>
            <p:ph type="title"/>
          </p:nvPr>
        </p:nvSpPr>
        <p:spPr>
          <a:xfrm>
            <a:off x="462642" y="520109"/>
            <a:ext cx="18589796" cy="1309974"/>
          </a:xfrm>
          <a:prstGeom prst="rect">
            <a:avLst/>
          </a:prstGeom>
          <a:noFill/>
          <a:ln>
            <a:noFill/>
          </a:ln>
        </p:spPr>
        <p:txBody>
          <a:bodyPr spcFirstLastPara="1" wrap="square" lIns="0" tIns="128900" rIns="0" bIns="0" anchor="t" anchorCtr="0">
            <a:spAutoFit/>
          </a:bodyPr>
          <a:lstStyle/>
          <a:p>
            <a:pPr marL="12700" marR="5080" lvl="0" indent="0" algn="l" rtl="0">
              <a:lnSpc>
                <a:spcPct val="95625"/>
              </a:lnSpc>
              <a:spcBef>
                <a:spcPts val="0"/>
              </a:spcBef>
              <a:spcAft>
                <a:spcPts val="0"/>
              </a:spcAft>
              <a:buNone/>
            </a:pPr>
            <a:r>
              <a:rPr lang="fr-FR" sz="4400"/>
              <a:t>Protocol-based Anomaly Detection (Baseline Comparison)</a:t>
            </a:r>
            <a:br>
              <a:rPr lang="fr-FR" sz="4800"/>
            </a:br>
            <a:endParaRPr sz="4500">
              <a:latin typeface="Verdana"/>
              <a:ea typeface="Verdana"/>
              <a:cs typeface="Verdana"/>
              <a:sym typeface="Verdana"/>
            </a:endParaRPr>
          </a:p>
        </p:txBody>
      </p:sp>
      <p:sp>
        <p:nvSpPr>
          <p:cNvPr id="190" name="Google Shape;190;p14"/>
          <p:cNvSpPr txBox="1"/>
          <p:nvPr/>
        </p:nvSpPr>
        <p:spPr>
          <a:xfrm>
            <a:off x="440871" y="1378232"/>
            <a:ext cx="18059400" cy="76944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2200" b="0">
                <a:solidFill>
                  <a:schemeClr val="lt1"/>
                </a:solidFill>
                <a:latin typeface="Verdana"/>
                <a:ea typeface="Verdana"/>
                <a:cs typeface="Verdana"/>
                <a:sym typeface="Verdana"/>
              </a:rPr>
              <a:t>Query sets a ”normal” packet size at 300 bytes, then computes avg packet size for each protocol to measure the deviation from the 300 bytes baseline using an anomaly score, then assigns risk levels (High/Medium/Low). </a:t>
            </a:r>
            <a:endParaRPr sz="2200">
              <a:solidFill>
                <a:schemeClr val="lt1"/>
              </a:solidFill>
            </a:endParaRPr>
          </a:p>
        </p:txBody>
      </p:sp>
      <p:pic>
        <p:nvPicPr>
          <p:cNvPr id="191" name="Google Shape;191;p14"/>
          <p:cNvPicPr preferRelativeResize="0"/>
          <p:nvPr/>
        </p:nvPicPr>
        <p:blipFill rotWithShape="1">
          <a:blip r:embed="rId8">
            <a:alphaModFix/>
          </a:blip>
          <a:srcRect b="4653"/>
          <a:stretch/>
        </p:blipFill>
        <p:spPr>
          <a:xfrm>
            <a:off x="3257575" y="3107887"/>
            <a:ext cx="15030425" cy="627506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15"/>
          <p:cNvPicPr preferRelativeResize="0"/>
          <p:nvPr/>
        </p:nvPicPr>
        <p:blipFill rotWithShape="1">
          <a:blip r:embed="rId3">
            <a:alphaModFix/>
          </a:blip>
          <a:srcRect/>
          <a:stretch/>
        </p:blipFill>
        <p:spPr>
          <a:xfrm>
            <a:off x="0" y="0"/>
            <a:ext cx="146399" cy="10286999"/>
          </a:xfrm>
          <a:prstGeom prst="rect">
            <a:avLst/>
          </a:prstGeom>
          <a:noFill/>
          <a:ln>
            <a:noFill/>
          </a:ln>
        </p:spPr>
      </p:pic>
      <p:sp>
        <p:nvSpPr>
          <p:cNvPr id="197" name="Google Shape;197;p15"/>
          <p:cNvSpPr txBox="1">
            <a:spLocks noGrp="1"/>
          </p:cNvSpPr>
          <p:nvPr>
            <p:ph type="title"/>
          </p:nvPr>
        </p:nvSpPr>
        <p:spPr>
          <a:xfrm>
            <a:off x="604157" y="-201113"/>
            <a:ext cx="15633700" cy="1444626"/>
          </a:xfrm>
          <a:prstGeom prst="rect">
            <a:avLst/>
          </a:prstGeom>
          <a:noFill/>
          <a:ln>
            <a:noFill/>
          </a:ln>
        </p:spPr>
        <p:txBody>
          <a:bodyPr spcFirstLastPara="1" wrap="square" lIns="0" tIns="333375" rIns="0" bIns="0" anchor="t" anchorCtr="0">
            <a:spAutoFit/>
          </a:bodyPr>
          <a:lstStyle/>
          <a:p>
            <a:pPr marL="0" lvl="0" indent="0" algn="l" rtl="0">
              <a:spcBef>
                <a:spcPts val="0"/>
              </a:spcBef>
              <a:spcAft>
                <a:spcPts val="0"/>
              </a:spcAft>
              <a:buNone/>
            </a:pPr>
            <a:r>
              <a:rPr lang="fr-FR" sz="4800" dirty="0" err="1"/>
              <a:t>Encrypted</a:t>
            </a:r>
            <a:r>
              <a:rPr lang="fr-FR" sz="4800" dirty="0"/>
              <a:t> Traffic </a:t>
            </a:r>
            <a:r>
              <a:rPr lang="fr-FR" sz="4800" dirty="0" err="1"/>
              <a:t>Analysis</a:t>
            </a:r>
            <a:br>
              <a:rPr lang="fr-FR" sz="4800" dirty="0"/>
            </a:br>
            <a:endParaRPr sz="2400" b="0" dirty="0">
              <a:latin typeface="Verdana"/>
              <a:ea typeface="Verdana"/>
              <a:cs typeface="Verdana"/>
              <a:sym typeface="Verdana"/>
            </a:endParaRPr>
          </a:p>
        </p:txBody>
      </p:sp>
      <p:pic>
        <p:nvPicPr>
          <p:cNvPr id="198" name="Google Shape;198;p15"/>
          <p:cNvPicPr preferRelativeResize="0"/>
          <p:nvPr/>
        </p:nvPicPr>
        <p:blipFill rotWithShape="1">
          <a:blip r:embed="rId4">
            <a:alphaModFix/>
          </a:blip>
          <a:srcRect/>
          <a:stretch/>
        </p:blipFill>
        <p:spPr>
          <a:xfrm>
            <a:off x="909356" y="1966848"/>
            <a:ext cx="12074211" cy="3206020"/>
          </a:xfrm>
          <a:prstGeom prst="rect">
            <a:avLst/>
          </a:prstGeom>
          <a:noFill/>
          <a:ln>
            <a:noFill/>
          </a:ln>
        </p:spPr>
      </p:pic>
      <p:sp>
        <p:nvSpPr>
          <p:cNvPr id="199" name="Google Shape;199;p15"/>
          <p:cNvSpPr txBox="1"/>
          <p:nvPr/>
        </p:nvSpPr>
        <p:spPr>
          <a:xfrm>
            <a:off x="795056" y="5423434"/>
            <a:ext cx="17091129" cy="1323399"/>
          </a:xfrm>
          <a:prstGeom prst="rect">
            <a:avLst/>
          </a:prstGeom>
          <a:noFill/>
          <a:ln>
            <a:noFill/>
          </a:ln>
        </p:spPr>
        <p:txBody>
          <a:bodyPr spcFirstLastPara="1" wrap="square" lIns="91425" tIns="45700" rIns="91425" bIns="45700" anchor="t" anchorCtr="0">
            <a:spAutoFit/>
          </a:bodyPr>
          <a:lstStyle/>
          <a:p>
            <a:pPr marL="285750" lvl="0" indent="-285750" algn="l" rtl="0">
              <a:spcBef>
                <a:spcPts val="0"/>
              </a:spcBef>
              <a:spcAft>
                <a:spcPts val="0"/>
              </a:spcAft>
              <a:buClr>
                <a:schemeClr val="lt1"/>
              </a:buClr>
              <a:buSzPts val="2000"/>
              <a:buFont typeface="Arial"/>
              <a:buChar char="•"/>
            </a:pPr>
            <a:r>
              <a:rPr lang="fr-FR" sz="2000" dirty="0">
                <a:solidFill>
                  <a:schemeClr val="lt1"/>
                </a:solidFill>
              </a:rPr>
              <a:t>22.9% of all network </a:t>
            </a:r>
            <a:r>
              <a:rPr lang="fr-FR" sz="2000" dirty="0" err="1">
                <a:solidFill>
                  <a:schemeClr val="lt1"/>
                </a:solidFill>
              </a:rPr>
              <a:t>traffic</a:t>
            </a:r>
            <a:r>
              <a:rPr lang="fr-FR" sz="2000" dirty="0">
                <a:solidFill>
                  <a:schemeClr val="lt1"/>
                </a:solidFill>
              </a:rPr>
              <a:t> </a:t>
            </a:r>
            <a:r>
              <a:rPr lang="fr-FR" sz="2000" dirty="0" err="1">
                <a:solidFill>
                  <a:schemeClr val="lt1"/>
                </a:solidFill>
              </a:rPr>
              <a:t>was</a:t>
            </a:r>
            <a:r>
              <a:rPr lang="fr-FR" sz="2000" dirty="0">
                <a:solidFill>
                  <a:schemeClr val="lt1"/>
                </a:solidFill>
              </a:rPr>
              <a:t> </a:t>
            </a:r>
            <a:r>
              <a:rPr lang="fr-FR" sz="2000" dirty="0" err="1">
                <a:solidFill>
                  <a:schemeClr val="lt1"/>
                </a:solidFill>
              </a:rPr>
              <a:t>encrypted</a:t>
            </a:r>
            <a:r>
              <a:rPr lang="fr-FR" sz="2000" dirty="0">
                <a:solidFill>
                  <a:schemeClr val="lt1"/>
                </a:solidFill>
              </a:rPr>
              <a:t> (QUIC + TLSv1.2 + TLSv1.3);</a:t>
            </a:r>
            <a:endParaRPr dirty="0"/>
          </a:p>
          <a:p>
            <a:pPr marL="285750" lvl="0" indent="-285750" algn="l" rtl="0">
              <a:spcBef>
                <a:spcPts val="0"/>
              </a:spcBef>
              <a:spcAft>
                <a:spcPts val="0"/>
              </a:spcAft>
              <a:buClr>
                <a:schemeClr val="lt1"/>
              </a:buClr>
              <a:buSzPts val="2000"/>
              <a:buFont typeface="Arial"/>
              <a:buChar char="•"/>
            </a:pPr>
            <a:r>
              <a:rPr lang="fr-FR" sz="2000" dirty="0">
                <a:solidFill>
                  <a:schemeClr val="lt1"/>
                </a:solidFill>
              </a:rPr>
              <a:t> This </a:t>
            </a:r>
            <a:r>
              <a:rPr lang="fr-FR" sz="2000" dirty="0" err="1">
                <a:solidFill>
                  <a:schemeClr val="lt1"/>
                </a:solidFill>
              </a:rPr>
              <a:t>represents</a:t>
            </a:r>
            <a:r>
              <a:rPr lang="fr-FR" sz="2000" dirty="0">
                <a:solidFill>
                  <a:schemeClr val="lt1"/>
                </a:solidFill>
              </a:rPr>
              <a:t> 3.15 MB of data </a:t>
            </a:r>
            <a:r>
              <a:rPr lang="fr-FR" sz="2000" dirty="0" err="1">
                <a:solidFill>
                  <a:schemeClr val="lt1"/>
                </a:solidFill>
              </a:rPr>
              <a:t>that</a:t>
            </a:r>
            <a:r>
              <a:rPr lang="fr-FR" sz="2000" dirty="0">
                <a:solidFill>
                  <a:schemeClr val="lt1"/>
                </a:solidFill>
              </a:rPr>
              <a:t> </a:t>
            </a:r>
            <a:r>
              <a:rPr lang="fr-FR" sz="2000" dirty="0" err="1">
                <a:solidFill>
                  <a:schemeClr val="lt1"/>
                </a:solidFill>
              </a:rPr>
              <a:t>cannot</a:t>
            </a:r>
            <a:r>
              <a:rPr lang="fr-FR" sz="2000" dirty="0">
                <a:solidFill>
                  <a:schemeClr val="lt1"/>
                </a:solidFill>
              </a:rPr>
              <a:t> </a:t>
            </a:r>
            <a:r>
              <a:rPr lang="fr-FR" sz="2000" dirty="0" err="1">
                <a:solidFill>
                  <a:schemeClr val="lt1"/>
                </a:solidFill>
              </a:rPr>
              <a:t>be</a:t>
            </a:r>
            <a:r>
              <a:rPr lang="fr-FR" sz="2000" dirty="0">
                <a:solidFill>
                  <a:schemeClr val="lt1"/>
                </a:solidFill>
              </a:rPr>
              <a:t> </a:t>
            </a:r>
            <a:r>
              <a:rPr lang="fr-FR" sz="2000" dirty="0" err="1">
                <a:solidFill>
                  <a:schemeClr val="lt1"/>
                </a:solidFill>
              </a:rPr>
              <a:t>inspected</a:t>
            </a:r>
            <a:r>
              <a:rPr lang="fr-FR" sz="2000" dirty="0">
                <a:solidFill>
                  <a:schemeClr val="lt1"/>
                </a:solidFill>
              </a:rPr>
              <a:t>;</a:t>
            </a:r>
            <a:endParaRPr dirty="0"/>
          </a:p>
          <a:p>
            <a:pPr marL="285750" lvl="0" indent="-285750" algn="l" rtl="0">
              <a:spcBef>
                <a:spcPts val="0"/>
              </a:spcBef>
              <a:spcAft>
                <a:spcPts val="0"/>
              </a:spcAft>
              <a:buClr>
                <a:schemeClr val="lt1"/>
              </a:buClr>
              <a:buSzPts val="2000"/>
              <a:buFont typeface="Arial"/>
              <a:buChar char="•"/>
            </a:pPr>
            <a:r>
              <a:rPr lang="fr-FR" sz="2000" dirty="0" err="1">
                <a:solidFill>
                  <a:schemeClr val="lt1"/>
                </a:solidFill>
              </a:rPr>
              <a:t>WarmCookie</a:t>
            </a:r>
            <a:r>
              <a:rPr lang="fr-FR" sz="2000" dirty="0">
                <a:solidFill>
                  <a:schemeClr val="lt1"/>
                </a:solidFill>
              </a:rPr>
              <a:t> malware </a:t>
            </a:r>
            <a:r>
              <a:rPr lang="fr-FR" sz="2000" dirty="0" err="1">
                <a:solidFill>
                  <a:schemeClr val="lt1"/>
                </a:solidFill>
              </a:rPr>
              <a:t>abused</a:t>
            </a:r>
            <a:r>
              <a:rPr lang="fr-FR" sz="2000" dirty="0">
                <a:solidFill>
                  <a:schemeClr val="lt1"/>
                </a:solidFill>
              </a:rPr>
              <a:t> QUIC ;</a:t>
            </a:r>
            <a:endParaRPr dirty="0"/>
          </a:p>
          <a:p>
            <a:pPr marL="285750" lvl="0" indent="-285750" algn="l" rtl="0">
              <a:spcBef>
                <a:spcPts val="0"/>
              </a:spcBef>
              <a:spcAft>
                <a:spcPts val="0"/>
              </a:spcAft>
              <a:buClr>
                <a:schemeClr val="lt1"/>
              </a:buClr>
              <a:buSzPts val="2000"/>
              <a:buFont typeface="Arial"/>
              <a:buChar char="•"/>
            </a:pPr>
            <a:r>
              <a:rPr lang="fr-FR" sz="2000" dirty="0">
                <a:solidFill>
                  <a:schemeClr val="lt1"/>
                </a:solidFill>
              </a:rPr>
              <a:t>The </a:t>
            </a:r>
            <a:r>
              <a:rPr lang="fr-FR" sz="2000" dirty="0" err="1">
                <a:solidFill>
                  <a:schemeClr val="lt1"/>
                </a:solidFill>
              </a:rPr>
              <a:t>existing</a:t>
            </a:r>
            <a:r>
              <a:rPr lang="fr-FR" sz="2000" dirty="0">
                <a:solidFill>
                  <a:schemeClr val="lt1"/>
                </a:solidFill>
              </a:rPr>
              <a:t> </a:t>
            </a:r>
            <a:r>
              <a:rPr lang="fr-FR" sz="2000" dirty="0" err="1">
                <a:solidFill>
                  <a:schemeClr val="lt1"/>
                </a:solidFill>
              </a:rPr>
              <a:t>security</a:t>
            </a:r>
            <a:r>
              <a:rPr lang="fr-FR" sz="2000" dirty="0">
                <a:solidFill>
                  <a:schemeClr val="lt1"/>
                </a:solidFill>
              </a:rPr>
              <a:t> </a:t>
            </a:r>
            <a:r>
              <a:rPr lang="fr-FR" sz="2000" dirty="0" err="1">
                <a:solidFill>
                  <a:schemeClr val="lt1"/>
                </a:solidFill>
              </a:rPr>
              <a:t>alerts</a:t>
            </a:r>
            <a:r>
              <a:rPr lang="fr-FR" sz="2000" dirty="0">
                <a:solidFill>
                  <a:schemeClr val="lt1"/>
                </a:solidFill>
              </a:rPr>
              <a:t> </a:t>
            </a:r>
            <a:r>
              <a:rPr lang="fr-FR" sz="2000" dirty="0" err="1">
                <a:solidFill>
                  <a:schemeClr val="lt1"/>
                </a:solidFill>
              </a:rPr>
              <a:t>didn’t</a:t>
            </a:r>
            <a:r>
              <a:rPr lang="fr-FR" sz="2000" dirty="0">
                <a:solidFill>
                  <a:schemeClr val="lt1"/>
                </a:solidFill>
              </a:rPr>
              <a:t> </a:t>
            </a:r>
            <a:r>
              <a:rPr lang="fr-FR" sz="2000" dirty="0" err="1">
                <a:solidFill>
                  <a:schemeClr val="lt1"/>
                </a:solidFill>
              </a:rPr>
              <a:t>include</a:t>
            </a:r>
            <a:r>
              <a:rPr lang="fr-FR" sz="2000" dirty="0">
                <a:solidFill>
                  <a:schemeClr val="lt1"/>
                </a:solidFill>
              </a:rPr>
              <a:t> </a:t>
            </a:r>
            <a:r>
              <a:rPr lang="fr-FR" sz="2000" dirty="0" err="1">
                <a:solidFill>
                  <a:schemeClr val="lt1"/>
                </a:solidFill>
              </a:rPr>
              <a:t>most</a:t>
            </a:r>
            <a:r>
              <a:rPr lang="fr-FR" sz="2000" dirty="0">
                <a:solidFill>
                  <a:schemeClr val="lt1"/>
                </a:solidFill>
              </a:rPr>
              <a:t> </a:t>
            </a:r>
            <a:r>
              <a:rPr lang="fr-FR" sz="2000" dirty="0" err="1">
                <a:solidFill>
                  <a:schemeClr val="lt1"/>
                </a:solidFill>
              </a:rPr>
              <a:t>encrypted</a:t>
            </a:r>
            <a:r>
              <a:rPr lang="fr-FR" sz="2000" dirty="0">
                <a:solidFill>
                  <a:schemeClr val="lt1"/>
                </a:solidFill>
              </a:rPr>
              <a:t> </a:t>
            </a:r>
            <a:r>
              <a:rPr lang="fr-FR" sz="2000" dirty="0" err="1">
                <a:solidFill>
                  <a:schemeClr val="lt1"/>
                </a:solidFill>
              </a:rPr>
              <a:t>threats</a:t>
            </a:r>
            <a:r>
              <a:rPr lang="fr-FR" sz="2000" dirty="0">
                <a:solidFill>
                  <a:schemeClr val="lt1"/>
                </a:solidFill>
              </a:rPr>
              <a:t>.</a:t>
            </a:r>
            <a:endParaRPr dirty="0"/>
          </a:p>
        </p:txBody>
      </p:sp>
      <p:sp>
        <p:nvSpPr>
          <p:cNvPr id="200" name="Google Shape;200;p15"/>
          <p:cNvSpPr txBox="1"/>
          <p:nvPr/>
        </p:nvSpPr>
        <p:spPr>
          <a:xfrm>
            <a:off x="795055" y="1008396"/>
            <a:ext cx="16088687" cy="707886"/>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2000" b="0" dirty="0" err="1">
                <a:solidFill>
                  <a:schemeClr val="lt1"/>
                </a:solidFill>
                <a:latin typeface="Verdana"/>
                <a:ea typeface="Verdana"/>
                <a:cs typeface="Verdana"/>
                <a:sym typeface="Verdana"/>
              </a:rPr>
              <a:t>Query</a:t>
            </a:r>
            <a:r>
              <a:rPr lang="fr-FR" sz="2000" b="0" dirty="0">
                <a:solidFill>
                  <a:schemeClr val="lt1"/>
                </a:solidFill>
                <a:latin typeface="Verdana"/>
                <a:ea typeface="Verdana"/>
                <a:cs typeface="Verdana"/>
                <a:sym typeface="Verdana"/>
              </a:rPr>
              <a:t> </a:t>
            </a:r>
            <a:r>
              <a:rPr lang="fr-FR" sz="2000" b="0" dirty="0" err="1">
                <a:solidFill>
                  <a:schemeClr val="lt1"/>
                </a:solidFill>
                <a:latin typeface="Verdana"/>
                <a:ea typeface="Verdana"/>
                <a:cs typeface="Verdana"/>
                <a:sym typeface="Verdana"/>
              </a:rPr>
              <a:t>filters</a:t>
            </a:r>
            <a:r>
              <a:rPr lang="fr-FR" sz="2000" b="0" dirty="0">
                <a:solidFill>
                  <a:schemeClr val="lt1"/>
                </a:solidFill>
                <a:latin typeface="Verdana"/>
                <a:ea typeface="Verdana"/>
                <a:cs typeface="Verdana"/>
                <a:sym typeface="Verdana"/>
              </a:rPr>
              <a:t> </a:t>
            </a:r>
            <a:r>
              <a:rPr lang="fr-FR" sz="2000" b="0" dirty="0" err="1">
                <a:solidFill>
                  <a:schemeClr val="lt1"/>
                </a:solidFill>
                <a:latin typeface="Verdana"/>
                <a:ea typeface="Verdana"/>
                <a:cs typeface="Verdana"/>
                <a:sym typeface="Verdana"/>
              </a:rPr>
              <a:t>only</a:t>
            </a:r>
            <a:r>
              <a:rPr lang="fr-FR" sz="2000" b="0" dirty="0">
                <a:solidFill>
                  <a:schemeClr val="lt1"/>
                </a:solidFill>
                <a:latin typeface="Verdana"/>
                <a:ea typeface="Verdana"/>
                <a:cs typeface="Verdana"/>
                <a:sym typeface="Verdana"/>
              </a:rPr>
              <a:t> </a:t>
            </a:r>
            <a:r>
              <a:rPr lang="fr-FR" sz="2000" b="0" dirty="0" err="1">
                <a:solidFill>
                  <a:schemeClr val="lt1"/>
                </a:solidFill>
                <a:latin typeface="Verdana"/>
                <a:ea typeface="Verdana"/>
                <a:cs typeface="Verdana"/>
                <a:sym typeface="Verdana"/>
              </a:rPr>
              <a:t>encrypted</a:t>
            </a:r>
            <a:r>
              <a:rPr lang="fr-FR" sz="2000" b="0" dirty="0">
                <a:solidFill>
                  <a:schemeClr val="lt1"/>
                </a:solidFill>
                <a:latin typeface="Verdana"/>
                <a:ea typeface="Verdana"/>
                <a:cs typeface="Verdana"/>
                <a:sym typeface="Verdana"/>
              </a:rPr>
              <a:t> </a:t>
            </a:r>
            <a:r>
              <a:rPr lang="fr-FR" sz="2000" b="0" dirty="0" err="1">
                <a:solidFill>
                  <a:schemeClr val="lt1"/>
                </a:solidFill>
                <a:latin typeface="Verdana"/>
                <a:ea typeface="Verdana"/>
                <a:cs typeface="Verdana"/>
                <a:sym typeface="Verdana"/>
              </a:rPr>
              <a:t>protocols</a:t>
            </a:r>
            <a:r>
              <a:rPr lang="fr-FR" sz="2000" b="0" dirty="0">
                <a:solidFill>
                  <a:schemeClr val="lt1"/>
                </a:solidFill>
                <a:latin typeface="Verdana"/>
                <a:ea typeface="Verdana"/>
                <a:cs typeface="Verdana"/>
                <a:sym typeface="Verdana"/>
              </a:rPr>
              <a:t> (TLSv1.2, TLSv1.3, QUIC), </a:t>
            </a:r>
            <a:r>
              <a:rPr lang="fr-FR" sz="2000" b="0" dirty="0" err="1">
                <a:solidFill>
                  <a:schemeClr val="lt1"/>
                </a:solidFill>
                <a:latin typeface="Verdana"/>
                <a:ea typeface="Verdana"/>
                <a:cs typeface="Verdana"/>
                <a:sym typeface="Verdana"/>
              </a:rPr>
              <a:t>then</a:t>
            </a:r>
            <a:r>
              <a:rPr lang="fr-FR" sz="2000" b="0" dirty="0">
                <a:solidFill>
                  <a:schemeClr val="lt1"/>
                </a:solidFill>
                <a:latin typeface="Verdana"/>
                <a:ea typeface="Verdana"/>
                <a:cs typeface="Verdana"/>
                <a:sym typeface="Verdana"/>
              </a:rPr>
              <a:t> </a:t>
            </a:r>
            <a:r>
              <a:rPr lang="fr-FR" sz="2000" b="0" dirty="0" err="1">
                <a:solidFill>
                  <a:schemeClr val="lt1"/>
                </a:solidFill>
                <a:latin typeface="Verdana"/>
                <a:ea typeface="Verdana"/>
                <a:cs typeface="Verdana"/>
                <a:sym typeface="Verdana"/>
              </a:rPr>
              <a:t>counts</a:t>
            </a:r>
            <a:r>
              <a:rPr lang="fr-FR" sz="2000" b="0" dirty="0">
                <a:solidFill>
                  <a:schemeClr val="lt1"/>
                </a:solidFill>
                <a:latin typeface="Verdana"/>
                <a:ea typeface="Verdana"/>
                <a:cs typeface="Verdana"/>
                <a:sym typeface="Verdana"/>
              </a:rPr>
              <a:t> total </a:t>
            </a:r>
            <a:r>
              <a:rPr lang="fr-FR" sz="2000" b="0" dirty="0" err="1">
                <a:solidFill>
                  <a:schemeClr val="lt1"/>
                </a:solidFill>
                <a:latin typeface="Verdana"/>
                <a:ea typeface="Verdana"/>
                <a:cs typeface="Verdana"/>
                <a:sym typeface="Verdana"/>
              </a:rPr>
              <a:t>encrypted</a:t>
            </a:r>
            <a:r>
              <a:rPr lang="fr-FR" sz="2000" b="0" dirty="0">
                <a:solidFill>
                  <a:schemeClr val="lt1"/>
                </a:solidFill>
                <a:latin typeface="Verdana"/>
                <a:ea typeface="Verdana"/>
                <a:cs typeface="Verdana"/>
                <a:sym typeface="Verdana"/>
              </a:rPr>
              <a:t> </a:t>
            </a:r>
            <a:r>
              <a:rPr lang="fr-FR" sz="2000" b="0" dirty="0" err="1">
                <a:solidFill>
                  <a:schemeClr val="lt1"/>
                </a:solidFill>
                <a:latin typeface="Verdana"/>
                <a:ea typeface="Verdana"/>
                <a:cs typeface="Verdana"/>
                <a:sym typeface="Verdana"/>
              </a:rPr>
              <a:t>packets</a:t>
            </a:r>
            <a:r>
              <a:rPr lang="fr-FR" sz="2000" b="0" dirty="0">
                <a:solidFill>
                  <a:schemeClr val="lt1"/>
                </a:solidFill>
                <a:latin typeface="Verdana"/>
                <a:ea typeface="Verdana"/>
                <a:cs typeface="Verdana"/>
                <a:sym typeface="Verdana"/>
              </a:rPr>
              <a:t> and </a:t>
            </a:r>
            <a:r>
              <a:rPr lang="fr-FR" sz="2000" b="0" dirty="0" err="1">
                <a:solidFill>
                  <a:schemeClr val="lt1"/>
                </a:solidFill>
                <a:latin typeface="Verdana"/>
                <a:ea typeface="Verdana"/>
                <a:cs typeface="Verdana"/>
                <a:sym typeface="Verdana"/>
              </a:rPr>
              <a:t>sum</a:t>
            </a:r>
            <a:r>
              <a:rPr lang="fr-FR" sz="2000" b="0" dirty="0">
                <a:solidFill>
                  <a:schemeClr val="lt1"/>
                </a:solidFill>
                <a:latin typeface="Verdana"/>
                <a:ea typeface="Verdana"/>
                <a:cs typeface="Verdana"/>
                <a:sym typeface="Verdana"/>
              </a:rPr>
              <a:t> </a:t>
            </a:r>
            <a:r>
              <a:rPr lang="fr-FR" sz="2000" b="0" dirty="0" err="1">
                <a:solidFill>
                  <a:schemeClr val="lt1"/>
                </a:solidFill>
                <a:latin typeface="Verdana"/>
                <a:ea typeface="Verdana"/>
                <a:cs typeface="Verdana"/>
                <a:sym typeface="Verdana"/>
              </a:rPr>
              <a:t>their</a:t>
            </a:r>
            <a:r>
              <a:rPr lang="fr-FR" sz="2000" b="0" dirty="0">
                <a:solidFill>
                  <a:schemeClr val="lt1"/>
                </a:solidFill>
                <a:latin typeface="Verdana"/>
                <a:ea typeface="Verdana"/>
                <a:cs typeface="Verdana"/>
                <a:sym typeface="Verdana"/>
              </a:rPr>
              <a:t> bytes, to </a:t>
            </a:r>
            <a:r>
              <a:rPr lang="fr-FR" sz="2000" b="0" dirty="0" err="1">
                <a:solidFill>
                  <a:schemeClr val="lt1"/>
                </a:solidFill>
                <a:latin typeface="Verdana"/>
                <a:ea typeface="Verdana"/>
                <a:cs typeface="Verdana"/>
                <a:sym typeface="Verdana"/>
              </a:rPr>
              <a:t>then</a:t>
            </a:r>
            <a:r>
              <a:rPr lang="fr-FR" sz="2000" b="0" dirty="0">
                <a:solidFill>
                  <a:schemeClr val="lt1"/>
                </a:solidFill>
                <a:latin typeface="Verdana"/>
                <a:ea typeface="Verdana"/>
                <a:cs typeface="Verdana"/>
                <a:sym typeface="Verdana"/>
              </a:rPr>
              <a:t> </a:t>
            </a:r>
            <a:r>
              <a:rPr lang="fr-FR" sz="2000" b="0" dirty="0" err="1">
                <a:solidFill>
                  <a:schemeClr val="lt1"/>
                </a:solidFill>
                <a:latin typeface="Verdana"/>
                <a:ea typeface="Verdana"/>
                <a:cs typeface="Verdana"/>
                <a:sym typeface="Verdana"/>
              </a:rPr>
              <a:t>calculate</a:t>
            </a:r>
            <a:r>
              <a:rPr lang="fr-FR" sz="2000" b="0" dirty="0">
                <a:solidFill>
                  <a:schemeClr val="lt1"/>
                </a:solidFill>
                <a:latin typeface="Verdana"/>
                <a:ea typeface="Verdana"/>
                <a:cs typeface="Verdana"/>
                <a:sym typeface="Verdana"/>
              </a:rPr>
              <a:t> </a:t>
            </a:r>
            <a:r>
              <a:rPr lang="fr-FR" sz="2000" b="0" dirty="0" err="1">
                <a:solidFill>
                  <a:schemeClr val="lt1"/>
                </a:solidFill>
                <a:latin typeface="Verdana"/>
                <a:ea typeface="Verdana"/>
                <a:cs typeface="Verdana"/>
                <a:sym typeface="Verdana"/>
              </a:rPr>
              <a:t>what</a:t>
            </a:r>
            <a:r>
              <a:rPr lang="fr-FR" sz="2000" b="0" dirty="0">
                <a:solidFill>
                  <a:schemeClr val="lt1"/>
                </a:solidFill>
                <a:latin typeface="Verdana"/>
                <a:ea typeface="Verdana"/>
                <a:cs typeface="Verdana"/>
                <a:sym typeface="Verdana"/>
              </a:rPr>
              <a:t> percentage of total </a:t>
            </a:r>
            <a:r>
              <a:rPr lang="fr-FR" sz="2000" b="0" dirty="0" err="1">
                <a:solidFill>
                  <a:schemeClr val="lt1"/>
                </a:solidFill>
                <a:latin typeface="Verdana"/>
                <a:ea typeface="Verdana"/>
                <a:cs typeface="Verdana"/>
                <a:sym typeface="Verdana"/>
              </a:rPr>
              <a:t>traffic</a:t>
            </a:r>
            <a:r>
              <a:rPr lang="fr-FR" sz="2000" b="0" dirty="0">
                <a:solidFill>
                  <a:schemeClr val="lt1"/>
                </a:solidFill>
                <a:latin typeface="Verdana"/>
                <a:ea typeface="Verdana"/>
                <a:cs typeface="Verdana"/>
                <a:sym typeface="Verdana"/>
              </a:rPr>
              <a:t> </a:t>
            </a:r>
            <a:r>
              <a:rPr lang="fr-FR" sz="2000" b="0" dirty="0" err="1">
                <a:solidFill>
                  <a:schemeClr val="lt1"/>
                </a:solidFill>
                <a:latin typeface="Verdana"/>
                <a:ea typeface="Verdana"/>
                <a:cs typeface="Verdana"/>
                <a:sym typeface="Verdana"/>
              </a:rPr>
              <a:t>is</a:t>
            </a:r>
            <a:r>
              <a:rPr lang="fr-FR" sz="2000" b="0" dirty="0">
                <a:solidFill>
                  <a:schemeClr val="lt1"/>
                </a:solidFill>
                <a:latin typeface="Verdana"/>
                <a:ea typeface="Verdana"/>
                <a:cs typeface="Verdana"/>
                <a:sym typeface="Verdana"/>
              </a:rPr>
              <a:t> </a:t>
            </a:r>
            <a:r>
              <a:rPr lang="fr-FR" sz="2000" b="0" dirty="0" err="1">
                <a:solidFill>
                  <a:schemeClr val="lt1"/>
                </a:solidFill>
                <a:latin typeface="Verdana"/>
                <a:ea typeface="Verdana"/>
                <a:cs typeface="Verdana"/>
                <a:sym typeface="Verdana"/>
              </a:rPr>
              <a:t>encrypted</a:t>
            </a:r>
            <a:r>
              <a:rPr lang="fr-FR" sz="2000" b="0" dirty="0">
                <a:solidFill>
                  <a:schemeClr val="lt1"/>
                </a:solidFill>
                <a:latin typeface="Verdana"/>
                <a:ea typeface="Verdana"/>
                <a:cs typeface="Verdana"/>
                <a:sym typeface="Verdana"/>
              </a:rPr>
              <a:t>.</a:t>
            </a:r>
            <a:endParaRPr sz="2000" dirty="0">
              <a:solidFill>
                <a:schemeClr val="lt1"/>
              </a:solidFill>
            </a:endParaRPr>
          </a:p>
        </p:txBody>
      </p:sp>
      <p:sp>
        <p:nvSpPr>
          <p:cNvPr id="3" name="ZoneTexte 2">
            <a:extLst>
              <a:ext uri="{FF2B5EF4-FFF2-40B4-BE49-F238E27FC236}">
                <a16:creationId xmlns:a16="http://schemas.microsoft.com/office/drawing/2014/main" id="{C40E5E24-716D-7C60-9BC3-90EBB45DB715}"/>
              </a:ext>
            </a:extLst>
          </p:cNvPr>
          <p:cNvSpPr txBox="1"/>
          <p:nvPr/>
        </p:nvSpPr>
        <p:spPr>
          <a:xfrm>
            <a:off x="598435" y="6935335"/>
            <a:ext cx="9030378" cy="769441"/>
          </a:xfrm>
          <a:prstGeom prst="rect">
            <a:avLst/>
          </a:prstGeom>
          <a:noFill/>
        </p:spPr>
        <p:txBody>
          <a:bodyPr wrap="square">
            <a:spAutoFit/>
          </a:bodyPr>
          <a:lstStyle/>
          <a:p>
            <a:r>
              <a:rPr lang="fr-FR" sz="4400" b="1" dirty="0">
                <a:solidFill>
                  <a:schemeClr val="bg1"/>
                </a:solidFill>
                <a:latin typeface="Tahoma" panose="020B0604030504040204" pitchFamily="34" charset="0"/>
                <a:ea typeface="Tahoma" panose="020B0604030504040204" pitchFamily="34" charset="0"/>
                <a:cs typeface="Tahoma" panose="020B0604030504040204" pitchFamily="34" charset="0"/>
              </a:rPr>
              <a:t>Clustering </a:t>
            </a:r>
            <a:r>
              <a:rPr lang="fr-FR" sz="4400" b="1" dirty="0" err="1">
                <a:solidFill>
                  <a:schemeClr val="bg1"/>
                </a:solidFill>
                <a:latin typeface="Tahoma" panose="020B0604030504040204" pitchFamily="34" charset="0"/>
                <a:ea typeface="Tahoma" panose="020B0604030504040204" pitchFamily="34" charset="0"/>
                <a:cs typeface="Tahoma" panose="020B0604030504040204" pitchFamily="34" charset="0"/>
              </a:rPr>
              <a:t>Analysis</a:t>
            </a:r>
            <a:endParaRPr lang="fr-FR"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5" name="ZoneTexte 4">
            <a:extLst>
              <a:ext uri="{FF2B5EF4-FFF2-40B4-BE49-F238E27FC236}">
                <a16:creationId xmlns:a16="http://schemas.microsoft.com/office/drawing/2014/main" id="{C12FE1C5-9968-9B98-5214-5469D4B8E583}"/>
              </a:ext>
            </a:extLst>
          </p:cNvPr>
          <p:cNvSpPr txBox="1"/>
          <p:nvPr/>
        </p:nvSpPr>
        <p:spPr>
          <a:xfrm>
            <a:off x="795055" y="7955165"/>
            <a:ext cx="5296179" cy="1323439"/>
          </a:xfrm>
          <a:prstGeom prst="rect">
            <a:avLst/>
          </a:prstGeom>
          <a:noFill/>
        </p:spPr>
        <p:txBody>
          <a:bodyPr wrap="square">
            <a:spAutoFit/>
          </a:bodyPr>
          <a:lstStyle/>
          <a:p>
            <a:r>
              <a:rPr lang="fr-FR" sz="2000" dirty="0" err="1">
                <a:solidFill>
                  <a:schemeClr val="bg1"/>
                </a:solidFill>
              </a:rPr>
              <a:t>Computes</a:t>
            </a:r>
            <a:r>
              <a:rPr lang="fr-FR" sz="2000" dirty="0">
                <a:solidFill>
                  <a:schemeClr val="bg1"/>
                </a:solidFill>
              </a:rPr>
              <a:t> </a:t>
            </a:r>
            <a:r>
              <a:rPr lang="fr-FR" sz="2000" dirty="0" err="1">
                <a:solidFill>
                  <a:schemeClr val="bg1"/>
                </a:solidFill>
              </a:rPr>
              <a:t>frequency</a:t>
            </a:r>
            <a:r>
              <a:rPr lang="fr-FR" sz="2000" dirty="0">
                <a:solidFill>
                  <a:schemeClr val="bg1"/>
                </a:solidFill>
              </a:rPr>
              <a:t> of the communication, the </a:t>
            </a:r>
            <a:r>
              <a:rPr lang="fr-FR" sz="2000" dirty="0" err="1">
                <a:solidFill>
                  <a:schemeClr val="bg1"/>
                </a:solidFill>
              </a:rPr>
              <a:t>average</a:t>
            </a:r>
            <a:r>
              <a:rPr lang="fr-FR" sz="2000" dirty="0">
                <a:solidFill>
                  <a:schemeClr val="bg1"/>
                </a:solidFill>
              </a:rPr>
              <a:t> message size, the </a:t>
            </a:r>
            <a:r>
              <a:rPr lang="fr-FR" sz="2000" dirty="0" err="1">
                <a:solidFill>
                  <a:schemeClr val="bg1"/>
                </a:solidFill>
              </a:rPr>
              <a:t>consistency</a:t>
            </a:r>
            <a:r>
              <a:rPr lang="fr-FR" sz="2000" dirty="0">
                <a:solidFill>
                  <a:schemeClr val="bg1"/>
                </a:solidFill>
              </a:rPr>
              <a:t> size for </a:t>
            </a:r>
            <a:r>
              <a:rPr lang="fr-FR" sz="2000" dirty="0" err="1">
                <a:solidFill>
                  <a:schemeClr val="bg1"/>
                </a:solidFill>
              </a:rPr>
              <a:t>each</a:t>
            </a:r>
            <a:r>
              <a:rPr lang="fr-FR" sz="2000" dirty="0">
                <a:solidFill>
                  <a:schemeClr val="bg1"/>
                </a:solidFill>
              </a:rPr>
              <a:t> src-dst pair, </a:t>
            </a:r>
            <a:r>
              <a:rPr lang="fr-FR" sz="2000" dirty="0" err="1">
                <a:solidFill>
                  <a:schemeClr val="bg1"/>
                </a:solidFill>
              </a:rPr>
              <a:t>then</a:t>
            </a:r>
            <a:r>
              <a:rPr lang="fr-FR" sz="2000" dirty="0">
                <a:solidFill>
                  <a:schemeClr val="bg1"/>
                </a:solidFill>
              </a:rPr>
              <a:t> clusters the </a:t>
            </a:r>
            <a:r>
              <a:rPr lang="fr-FR" sz="2000" dirty="0" err="1">
                <a:solidFill>
                  <a:schemeClr val="bg1"/>
                </a:solidFill>
              </a:rPr>
              <a:t>behavior</a:t>
            </a:r>
            <a:r>
              <a:rPr lang="fr-FR" sz="2000" dirty="0">
                <a:solidFill>
                  <a:schemeClr val="bg1"/>
                </a:solidFill>
              </a:rPr>
              <a:t>-type in </a:t>
            </a:r>
            <a:r>
              <a:rPr lang="fr-FR" sz="2000" dirty="0" err="1">
                <a:solidFill>
                  <a:schemeClr val="bg1"/>
                </a:solidFill>
              </a:rPr>
              <a:t>three</a:t>
            </a:r>
            <a:r>
              <a:rPr lang="fr-FR" sz="2000" dirty="0">
                <a:solidFill>
                  <a:schemeClr val="bg1"/>
                </a:solidFill>
              </a:rPr>
              <a:t> </a:t>
            </a:r>
            <a:r>
              <a:rPr lang="fr-FR" sz="2000" dirty="0" err="1">
                <a:solidFill>
                  <a:schemeClr val="bg1"/>
                </a:solidFill>
              </a:rPr>
              <a:t>categories</a:t>
            </a:r>
            <a:endParaRPr lang="fr-FR" sz="2000" dirty="0">
              <a:solidFill>
                <a:schemeClr val="bg1"/>
              </a:solidFill>
            </a:endParaRPr>
          </a:p>
        </p:txBody>
      </p:sp>
      <p:pic>
        <p:nvPicPr>
          <p:cNvPr id="7" name="Image 6">
            <a:extLst>
              <a:ext uri="{FF2B5EF4-FFF2-40B4-BE49-F238E27FC236}">
                <a16:creationId xmlns:a16="http://schemas.microsoft.com/office/drawing/2014/main" id="{0E6ADCA3-ADE4-AC91-A37B-75D2F2425509}"/>
              </a:ext>
            </a:extLst>
          </p:cNvPr>
          <p:cNvPicPr>
            <a:picLocks noChangeAspect="1"/>
          </p:cNvPicPr>
          <p:nvPr/>
        </p:nvPicPr>
        <p:blipFill>
          <a:blip r:embed="rId5"/>
          <a:stretch>
            <a:fillRect/>
          </a:stretch>
        </p:blipFill>
        <p:spPr>
          <a:xfrm>
            <a:off x="7359020" y="7643221"/>
            <a:ext cx="9508441" cy="23852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18"/>
          <p:cNvPicPr preferRelativeResize="0"/>
          <p:nvPr/>
        </p:nvPicPr>
        <p:blipFill rotWithShape="1">
          <a:blip r:embed="rId3">
            <a:alphaModFix/>
          </a:blip>
          <a:srcRect/>
          <a:stretch/>
        </p:blipFill>
        <p:spPr>
          <a:xfrm>
            <a:off x="0" y="0"/>
            <a:ext cx="146399" cy="10286999"/>
          </a:xfrm>
          <a:prstGeom prst="rect">
            <a:avLst/>
          </a:prstGeom>
          <a:noFill/>
          <a:ln>
            <a:noFill/>
          </a:ln>
        </p:spPr>
      </p:pic>
      <p:sp>
        <p:nvSpPr>
          <p:cNvPr id="219" name="Google Shape;219;p18"/>
          <p:cNvSpPr txBox="1"/>
          <p:nvPr/>
        </p:nvSpPr>
        <p:spPr>
          <a:xfrm>
            <a:off x="838200" y="3543300"/>
            <a:ext cx="13728700" cy="1313821"/>
          </a:xfrm>
          <a:prstGeom prst="rect">
            <a:avLst/>
          </a:prstGeom>
          <a:noFill/>
          <a:ln>
            <a:noFill/>
          </a:ln>
        </p:spPr>
        <p:txBody>
          <a:bodyPr spcFirstLastPara="1" wrap="square" lIns="0" tIns="208900" rIns="0" bIns="0" anchor="t" anchorCtr="0">
            <a:spAutoFit/>
          </a:bodyPr>
          <a:lstStyle/>
          <a:p>
            <a:pPr marL="12700" marR="5080" lvl="0" indent="0" algn="l" rtl="0">
              <a:lnSpc>
                <a:spcPct val="107125"/>
              </a:lnSpc>
              <a:spcBef>
                <a:spcPts val="0"/>
              </a:spcBef>
              <a:spcAft>
                <a:spcPts val="0"/>
              </a:spcAft>
              <a:buNone/>
            </a:pPr>
            <a:r>
              <a:rPr lang="fr-FR" sz="8000" b="1">
                <a:solidFill>
                  <a:schemeClr val="lt1"/>
                </a:solidFill>
                <a:latin typeface="Tahoma"/>
                <a:ea typeface="Tahoma"/>
                <a:cs typeface="Tahoma"/>
                <a:sym typeface="Tahoma"/>
              </a:rPr>
              <a:t>AI Toolkit</a:t>
            </a:r>
            <a:endParaRPr sz="8000" b="1">
              <a:solidFill>
                <a:schemeClr val="lt1"/>
              </a:solidFill>
              <a:latin typeface="Tahoma"/>
              <a:ea typeface="Tahoma"/>
              <a:cs typeface="Tahoma"/>
              <a:sym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grpSp>
        <p:nvGrpSpPr>
          <p:cNvPr id="224" name="Google Shape;224;p19"/>
          <p:cNvGrpSpPr/>
          <p:nvPr/>
        </p:nvGrpSpPr>
        <p:grpSpPr>
          <a:xfrm>
            <a:off x="1195968" y="2171700"/>
            <a:ext cx="17150239" cy="6216864"/>
            <a:chOff x="6700400" y="914400"/>
            <a:chExt cx="11587600" cy="10351913"/>
          </a:xfrm>
        </p:grpSpPr>
        <p:pic>
          <p:nvPicPr>
            <p:cNvPr id="225" name="Google Shape;225;p19"/>
            <p:cNvPicPr preferRelativeResize="0"/>
            <p:nvPr/>
          </p:nvPicPr>
          <p:blipFill rotWithShape="1">
            <a:blip r:embed="rId3">
              <a:alphaModFix/>
            </a:blip>
            <a:srcRect/>
            <a:stretch/>
          </p:blipFill>
          <p:spPr>
            <a:xfrm>
              <a:off x="6700400" y="914400"/>
              <a:ext cx="11587599" cy="10351913"/>
            </a:xfrm>
            <a:prstGeom prst="rect">
              <a:avLst/>
            </a:prstGeom>
            <a:noFill/>
            <a:ln>
              <a:noFill/>
            </a:ln>
          </p:spPr>
        </p:pic>
        <p:pic>
          <p:nvPicPr>
            <p:cNvPr id="226" name="Google Shape;226;p19"/>
            <p:cNvPicPr preferRelativeResize="0"/>
            <p:nvPr/>
          </p:nvPicPr>
          <p:blipFill rotWithShape="1">
            <a:blip r:embed="rId4">
              <a:alphaModFix/>
            </a:blip>
            <a:srcRect/>
            <a:stretch/>
          </p:blipFill>
          <p:spPr>
            <a:xfrm>
              <a:off x="6941750" y="1128650"/>
              <a:ext cx="11346250" cy="6946799"/>
            </a:xfrm>
            <a:prstGeom prst="rect">
              <a:avLst/>
            </a:prstGeom>
            <a:noFill/>
            <a:ln>
              <a:noFill/>
            </a:ln>
          </p:spPr>
        </p:pic>
        <p:pic>
          <p:nvPicPr>
            <p:cNvPr id="227" name="Google Shape;227;p19"/>
            <p:cNvPicPr preferRelativeResize="0"/>
            <p:nvPr/>
          </p:nvPicPr>
          <p:blipFill rotWithShape="1">
            <a:blip r:embed="rId5">
              <a:alphaModFix/>
            </a:blip>
            <a:srcRect/>
            <a:stretch/>
          </p:blipFill>
          <p:spPr>
            <a:xfrm>
              <a:off x="6824125" y="2704925"/>
              <a:ext cx="11463874" cy="5390124"/>
            </a:xfrm>
            <a:prstGeom prst="rect">
              <a:avLst/>
            </a:prstGeom>
            <a:noFill/>
            <a:ln>
              <a:noFill/>
            </a:ln>
          </p:spPr>
        </p:pic>
        <p:pic>
          <p:nvPicPr>
            <p:cNvPr id="228" name="Google Shape;228;p19"/>
            <p:cNvPicPr preferRelativeResize="0"/>
            <p:nvPr/>
          </p:nvPicPr>
          <p:blipFill rotWithShape="1">
            <a:blip r:embed="rId6">
              <a:alphaModFix/>
            </a:blip>
            <a:srcRect/>
            <a:stretch/>
          </p:blipFill>
          <p:spPr>
            <a:xfrm>
              <a:off x="14586725" y="5419824"/>
              <a:ext cx="2977549" cy="636874"/>
            </a:xfrm>
            <a:prstGeom prst="rect">
              <a:avLst/>
            </a:prstGeom>
            <a:noFill/>
            <a:ln>
              <a:noFill/>
            </a:ln>
          </p:spPr>
        </p:pic>
      </p:grpSp>
      <p:pic>
        <p:nvPicPr>
          <p:cNvPr id="229" name="Google Shape;229;p19"/>
          <p:cNvPicPr preferRelativeResize="0"/>
          <p:nvPr/>
        </p:nvPicPr>
        <p:blipFill rotWithShape="1">
          <a:blip r:embed="rId7">
            <a:alphaModFix/>
          </a:blip>
          <a:srcRect/>
          <a:stretch/>
        </p:blipFill>
        <p:spPr>
          <a:xfrm>
            <a:off x="0" y="0"/>
            <a:ext cx="146399" cy="10286999"/>
          </a:xfrm>
          <a:prstGeom prst="rect">
            <a:avLst/>
          </a:prstGeom>
          <a:noFill/>
          <a:ln>
            <a:noFill/>
          </a:ln>
        </p:spPr>
      </p:pic>
      <p:sp>
        <p:nvSpPr>
          <p:cNvPr id="230" name="Google Shape;230;p19"/>
          <p:cNvSpPr txBox="1">
            <a:spLocks noGrp="1"/>
          </p:cNvSpPr>
          <p:nvPr>
            <p:ph type="title"/>
          </p:nvPr>
        </p:nvSpPr>
        <p:spPr>
          <a:xfrm>
            <a:off x="612604" y="155640"/>
            <a:ext cx="9943266" cy="731867"/>
          </a:xfrm>
          <a:prstGeom prst="rect">
            <a:avLst/>
          </a:prstGeom>
          <a:noFill/>
          <a:ln>
            <a:noFill/>
          </a:ln>
        </p:spPr>
        <p:txBody>
          <a:bodyPr spcFirstLastPara="1" wrap="square" lIns="0" tIns="128900" rIns="0" bIns="0" anchor="t" anchorCtr="0">
            <a:spAutoFit/>
          </a:bodyPr>
          <a:lstStyle/>
          <a:p>
            <a:pPr marL="12700" marR="5080" lvl="0" indent="0" algn="l" rtl="0">
              <a:lnSpc>
                <a:spcPct val="95625"/>
              </a:lnSpc>
              <a:spcBef>
                <a:spcPts val="0"/>
              </a:spcBef>
              <a:spcAft>
                <a:spcPts val="0"/>
              </a:spcAft>
              <a:buNone/>
            </a:pPr>
            <a:r>
              <a:rPr lang="fr-FR" sz="4800"/>
              <a:t>Time Series Forecasting</a:t>
            </a:r>
            <a:endParaRPr sz="4500">
              <a:latin typeface="Verdana"/>
              <a:ea typeface="Verdana"/>
              <a:cs typeface="Verdana"/>
              <a:sym typeface="Verdana"/>
            </a:endParaRPr>
          </a:p>
        </p:txBody>
      </p:sp>
      <p:pic>
        <p:nvPicPr>
          <p:cNvPr id="231" name="Google Shape;231;p19"/>
          <p:cNvPicPr preferRelativeResize="0"/>
          <p:nvPr/>
        </p:nvPicPr>
        <p:blipFill rotWithShape="1">
          <a:blip r:embed="rId8">
            <a:alphaModFix/>
          </a:blip>
          <a:srcRect r="1662" b="33215"/>
          <a:stretch/>
        </p:blipFill>
        <p:spPr>
          <a:xfrm>
            <a:off x="1312385" y="2314974"/>
            <a:ext cx="17033820" cy="5101109"/>
          </a:xfrm>
          <a:prstGeom prst="rect">
            <a:avLst/>
          </a:prstGeom>
          <a:noFill/>
          <a:ln>
            <a:noFill/>
          </a:ln>
        </p:spPr>
      </p:pic>
      <p:pic>
        <p:nvPicPr>
          <p:cNvPr id="232" name="Google Shape;232;p19"/>
          <p:cNvPicPr preferRelativeResize="0"/>
          <p:nvPr/>
        </p:nvPicPr>
        <p:blipFill rotWithShape="1">
          <a:blip r:embed="rId9">
            <a:alphaModFix/>
          </a:blip>
          <a:srcRect/>
          <a:stretch/>
        </p:blipFill>
        <p:spPr>
          <a:xfrm>
            <a:off x="4564934" y="7771499"/>
            <a:ext cx="13792157" cy="2644438"/>
          </a:xfrm>
          <a:prstGeom prst="rect">
            <a:avLst/>
          </a:prstGeom>
          <a:noFill/>
          <a:ln>
            <a:noFill/>
          </a:ln>
        </p:spPr>
      </p:pic>
      <p:sp>
        <p:nvSpPr>
          <p:cNvPr id="233" name="Google Shape;233;p19"/>
          <p:cNvSpPr txBox="1"/>
          <p:nvPr/>
        </p:nvSpPr>
        <p:spPr>
          <a:xfrm>
            <a:off x="612604" y="1028150"/>
            <a:ext cx="16343740" cy="707886"/>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2000">
                <a:solidFill>
                  <a:schemeClr val="lt1"/>
                </a:solidFill>
                <a:latin typeface="Verdana"/>
                <a:ea typeface="Verdana"/>
                <a:cs typeface="Verdana"/>
                <a:sym typeface="Verdana"/>
              </a:rPr>
              <a:t>Query uses the LLT = Local Level Trend algorithm (exponential smoothing),which learns the normal traffic pattern and predicts what the next value should be, then it compares actual vs. predicted to measure accuracy.</a:t>
            </a:r>
            <a:endParaRPr sz="2000">
              <a:solidFill>
                <a:schemeClr val="lt1"/>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grpSp>
        <p:nvGrpSpPr>
          <p:cNvPr id="238" name="Google Shape;238;p20"/>
          <p:cNvGrpSpPr/>
          <p:nvPr/>
        </p:nvGrpSpPr>
        <p:grpSpPr>
          <a:xfrm>
            <a:off x="1980751" y="2330887"/>
            <a:ext cx="16307250" cy="6438900"/>
            <a:chOff x="6700400" y="914400"/>
            <a:chExt cx="11587600" cy="10351913"/>
          </a:xfrm>
        </p:grpSpPr>
        <p:pic>
          <p:nvPicPr>
            <p:cNvPr id="239" name="Google Shape;239;p20"/>
            <p:cNvPicPr preferRelativeResize="0"/>
            <p:nvPr/>
          </p:nvPicPr>
          <p:blipFill rotWithShape="1">
            <a:blip r:embed="rId3">
              <a:alphaModFix/>
            </a:blip>
            <a:srcRect/>
            <a:stretch/>
          </p:blipFill>
          <p:spPr>
            <a:xfrm>
              <a:off x="6700400" y="914400"/>
              <a:ext cx="11587599" cy="10351913"/>
            </a:xfrm>
            <a:prstGeom prst="rect">
              <a:avLst/>
            </a:prstGeom>
            <a:noFill/>
            <a:ln>
              <a:noFill/>
            </a:ln>
          </p:spPr>
        </p:pic>
        <p:pic>
          <p:nvPicPr>
            <p:cNvPr id="240" name="Google Shape;240;p20"/>
            <p:cNvPicPr preferRelativeResize="0"/>
            <p:nvPr/>
          </p:nvPicPr>
          <p:blipFill rotWithShape="1">
            <a:blip r:embed="rId4">
              <a:alphaModFix/>
            </a:blip>
            <a:srcRect/>
            <a:stretch/>
          </p:blipFill>
          <p:spPr>
            <a:xfrm>
              <a:off x="6941750" y="1128650"/>
              <a:ext cx="11346250" cy="6946799"/>
            </a:xfrm>
            <a:prstGeom prst="rect">
              <a:avLst/>
            </a:prstGeom>
            <a:noFill/>
            <a:ln>
              <a:noFill/>
            </a:ln>
          </p:spPr>
        </p:pic>
        <p:pic>
          <p:nvPicPr>
            <p:cNvPr id="241" name="Google Shape;241;p20"/>
            <p:cNvPicPr preferRelativeResize="0"/>
            <p:nvPr/>
          </p:nvPicPr>
          <p:blipFill rotWithShape="1">
            <a:blip r:embed="rId5">
              <a:alphaModFix/>
            </a:blip>
            <a:srcRect/>
            <a:stretch/>
          </p:blipFill>
          <p:spPr>
            <a:xfrm>
              <a:off x="6824125" y="2704925"/>
              <a:ext cx="11463874" cy="5390124"/>
            </a:xfrm>
            <a:prstGeom prst="rect">
              <a:avLst/>
            </a:prstGeom>
            <a:noFill/>
            <a:ln>
              <a:noFill/>
            </a:ln>
          </p:spPr>
        </p:pic>
        <p:pic>
          <p:nvPicPr>
            <p:cNvPr id="242" name="Google Shape;242;p20"/>
            <p:cNvPicPr preferRelativeResize="0"/>
            <p:nvPr/>
          </p:nvPicPr>
          <p:blipFill rotWithShape="1">
            <a:blip r:embed="rId6">
              <a:alphaModFix/>
            </a:blip>
            <a:srcRect/>
            <a:stretch/>
          </p:blipFill>
          <p:spPr>
            <a:xfrm>
              <a:off x="14586725" y="5419824"/>
              <a:ext cx="2977549" cy="636874"/>
            </a:xfrm>
            <a:prstGeom prst="rect">
              <a:avLst/>
            </a:prstGeom>
            <a:noFill/>
            <a:ln>
              <a:noFill/>
            </a:ln>
          </p:spPr>
        </p:pic>
      </p:grpSp>
      <p:pic>
        <p:nvPicPr>
          <p:cNvPr id="243" name="Google Shape;243;p20"/>
          <p:cNvPicPr preferRelativeResize="0"/>
          <p:nvPr/>
        </p:nvPicPr>
        <p:blipFill rotWithShape="1">
          <a:blip r:embed="rId7">
            <a:alphaModFix/>
          </a:blip>
          <a:srcRect/>
          <a:stretch/>
        </p:blipFill>
        <p:spPr>
          <a:xfrm>
            <a:off x="0" y="0"/>
            <a:ext cx="146399" cy="10286999"/>
          </a:xfrm>
          <a:prstGeom prst="rect">
            <a:avLst/>
          </a:prstGeom>
          <a:noFill/>
          <a:ln>
            <a:noFill/>
          </a:ln>
        </p:spPr>
      </p:pic>
      <p:sp>
        <p:nvSpPr>
          <p:cNvPr id="244" name="Google Shape;244;p20"/>
          <p:cNvSpPr txBox="1">
            <a:spLocks noGrp="1"/>
          </p:cNvSpPr>
          <p:nvPr>
            <p:ph type="title"/>
          </p:nvPr>
        </p:nvSpPr>
        <p:spPr>
          <a:xfrm>
            <a:off x="612604" y="663533"/>
            <a:ext cx="9943266" cy="731867"/>
          </a:xfrm>
          <a:prstGeom prst="rect">
            <a:avLst/>
          </a:prstGeom>
          <a:noFill/>
          <a:ln>
            <a:noFill/>
          </a:ln>
        </p:spPr>
        <p:txBody>
          <a:bodyPr spcFirstLastPara="1" wrap="square" lIns="0" tIns="128900" rIns="0" bIns="0" anchor="t" anchorCtr="0">
            <a:spAutoFit/>
          </a:bodyPr>
          <a:lstStyle/>
          <a:p>
            <a:pPr marL="12700" marR="5080" lvl="0" indent="0" algn="l" rtl="0">
              <a:lnSpc>
                <a:spcPct val="95625"/>
              </a:lnSpc>
              <a:spcBef>
                <a:spcPts val="0"/>
              </a:spcBef>
              <a:spcAft>
                <a:spcPts val="0"/>
              </a:spcAft>
              <a:buNone/>
            </a:pPr>
            <a:r>
              <a:rPr lang="fr-FR" sz="4800"/>
              <a:t>Anomaly Detection</a:t>
            </a:r>
            <a:endParaRPr sz="4500">
              <a:latin typeface="Verdana"/>
              <a:ea typeface="Verdana"/>
              <a:cs typeface="Verdana"/>
              <a:sym typeface="Verdana"/>
            </a:endParaRPr>
          </a:p>
        </p:txBody>
      </p:sp>
      <p:sp>
        <p:nvSpPr>
          <p:cNvPr id="245" name="Google Shape;245;p20"/>
          <p:cNvSpPr txBox="1"/>
          <p:nvPr/>
        </p:nvSpPr>
        <p:spPr>
          <a:xfrm>
            <a:off x="590833" y="1499890"/>
            <a:ext cx="17392367" cy="43088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2200">
                <a:solidFill>
                  <a:schemeClr val="lt1"/>
                </a:solidFill>
                <a:latin typeface="Verdana"/>
                <a:ea typeface="Verdana"/>
                <a:cs typeface="Verdana"/>
                <a:sym typeface="Verdana"/>
              </a:rPr>
              <a:t>Query uses</a:t>
            </a:r>
            <a:r>
              <a:rPr lang="fr-FR" sz="2200" b="1">
                <a:solidFill>
                  <a:schemeClr val="lt1"/>
                </a:solidFill>
                <a:latin typeface="Verdana"/>
                <a:ea typeface="Verdana"/>
                <a:cs typeface="Verdana"/>
                <a:sym typeface="Verdana"/>
              </a:rPr>
              <a:t> anomalydetection </a:t>
            </a:r>
            <a:r>
              <a:rPr lang="fr-FR" sz="2200">
                <a:solidFill>
                  <a:schemeClr val="lt1"/>
                </a:solidFill>
                <a:latin typeface="Verdana"/>
                <a:ea typeface="Verdana"/>
                <a:cs typeface="Verdana"/>
                <a:sym typeface="Verdana"/>
              </a:rPr>
              <a:t>(Probabilistic Autoregressive) algorithm to look for statistical outliers in packet sizes.</a:t>
            </a:r>
            <a:endParaRPr sz="2200">
              <a:solidFill>
                <a:schemeClr val="lt1"/>
              </a:solidFill>
              <a:latin typeface="Verdana"/>
              <a:ea typeface="Verdana"/>
              <a:cs typeface="Verdana"/>
              <a:sym typeface="Verdana"/>
            </a:endParaRPr>
          </a:p>
        </p:txBody>
      </p:sp>
      <p:pic>
        <p:nvPicPr>
          <p:cNvPr id="246" name="Google Shape;246;p20"/>
          <p:cNvPicPr preferRelativeResize="0"/>
          <p:nvPr/>
        </p:nvPicPr>
        <p:blipFill rotWithShape="1">
          <a:blip r:embed="rId8">
            <a:alphaModFix/>
          </a:blip>
          <a:srcRect l="100" t="-18844" r="743" b="18843"/>
          <a:stretch/>
        </p:blipFill>
        <p:spPr>
          <a:xfrm>
            <a:off x="2130026" y="1202768"/>
            <a:ext cx="16182815" cy="6438900"/>
          </a:xfrm>
          <a:prstGeom prst="rect">
            <a:avLst/>
          </a:prstGeom>
          <a:noFill/>
          <a:ln>
            <a:noFill/>
          </a:ln>
        </p:spPr>
      </p:pic>
      <p:pic>
        <p:nvPicPr>
          <p:cNvPr id="247" name="Google Shape;247;p20"/>
          <p:cNvPicPr preferRelativeResize="0"/>
          <p:nvPr/>
        </p:nvPicPr>
        <p:blipFill rotWithShape="1">
          <a:blip r:embed="rId9">
            <a:alphaModFix/>
          </a:blip>
          <a:srcRect/>
          <a:stretch/>
        </p:blipFill>
        <p:spPr>
          <a:xfrm>
            <a:off x="5029199" y="8152624"/>
            <a:ext cx="13258800" cy="294168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pic>
        <p:nvPicPr>
          <p:cNvPr id="252" name="Google Shape;252;p21"/>
          <p:cNvPicPr preferRelativeResize="0"/>
          <p:nvPr/>
        </p:nvPicPr>
        <p:blipFill rotWithShape="1">
          <a:blip r:embed="rId3">
            <a:alphaModFix/>
          </a:blip>
          <a:srcRect/>
          <a:stretch/>
        </p:blipFill>
        <p:spPr>
          <a:xfrm>
            <a:off x="0" y="0"/>
            <a:ext cx="146399" cy="10286999"/>
          </a:xfrm>
          <a:prstGeom prst="rect">
            <a:avLst/>
          </a:prstGeom>
          <a:noFill/>
          <a:ln>
            <a:noFill/>
          </a:ln>
        </p:spPr>
      </p:pic>
      <p:sp>
        <p:nvSpPr>
          <p:cNvPr id="253" name="Google Shape;253;p21"/>
          <p:cNvSpPr txBox="1">
            <a:spLocks noGrp="1"/>
          </p:cNvSpPr>
          <p:nvPr>
            <p:ph type="title"/>
          </p:nvPr>
        </p:nvSpPr>
        <p:spPr>
          <a:xfrm>
            <a:off x="612604" y="663533"/>
            <a:ext cx="13179596" cy="720069"/>
          </a:xfrm>
          <a:prstGeom prst="rect">
            <a:avLst/>
          </a:prstGeom>
          <a:noFill/>
          <a:ln>
            <a:noFill/>
          </a:ln>
        </p:spPr>
        <p:txBody>
          <a:bodyPr spcFirstLastPara="1" wrap="square" lIns="0" tIns="128900" rIns="0" bIns="0" anchor="t" anchorCtr="0">
            <a:spAutoFit/>
          </a:bodyPr>
          <a:lstStyle/>
          <a:p>
            <a:pPr marL="12700" marR="5080" lvl="0" indent="0" algn="l" rtl="0">
              <a:lnSpc>
                <a:spcPct val="95625"/>
              </a:lnSpc>
              <a:spcBef>
                <a:spcPts val="0"/>
              </a:spcBef>
              <a:spcAft>
                <a:spcPts val="0"/>
              </a:spcAft>
              <a:buNone/>
            </a:pPr>
            <a:r>
              <a:rPr lang="fr-FR" sz="4800"/>
              <a:t>Splunk AI toolkit shows selective utility</a:t>
            </a:r>
            <a:endParaRPr sz="4500">
              <a:latin typeface="Verdana"/>
              <a:ea typeface="Verdana"/>
              <a:cs typeface="Verdana"/>
              <a:sym typeface="Verdana"/>
            </a:endParaRPr>
          </a:p>
        </p:txBody>
      </p:sp>
      <p:sp>
        <p:nvSpPr>
          <p:cNvPr id="254" name="Google Shape;254;p21"/>
          <p:cNvSpPr txBox="1"/>
          <p:nvPr/>
        </p:nvSpPr>
        <p:spPr>
          <a:xfrm>
            <a:off x="596275" y="2348447"/>
            <a:ext cx="6033125" cy="5170646"/>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2200">
                <a:solidFill>
                  <a:schemeClr val="lt1"/>
                </a:solidFill>
              </a:rPr>
              <a:t>With ARIMA (Autoregressive Integrated Moving Average) algorithm the query returns command=”predict” No data errors. And the main reason is that it requires historical data and our 32.7 minutes attack window isn’t enough for it to process. </a:t>
            </a:r>
            <a:endParaRPr/>
          </a:p>
          <a:p>
            <a:pPr marL="0" lvl="0" indent="0" algn="l" rtl="0">
              <a:spcBef>
                <a:spcPts val="0"/>
              </a:spcBef>
              <a:spcAft>
                <a:spcPts val="0"/>
              </a:spcAft>
              <a:buNone/>
            </a:pPr>
            <a:r>
              <a:rPr lang="fr-FR" sz="2200">
                <a:solidFill>
                  <a:schemeClr val="lt1"/>
                </a:solidFill>
              </a:rPr>
              <a:t>This part shows that in the AI Toolkit we might encounter a tool-data mismatch. </a:t>
            </a:r>
            <a:endParaRPr/>
          </a:p>
          <a:p>
            <a:pPr marL="0" lvl="0" indent="0" algn="l" rtl="0">
              <a:spcBef>
                <a:spcPts val="0"/>
              </a:spcBef>
              <a:spcAft>
                <a:spcPts val="0"/>
              </a:spcAft>
              <a:buNone/>
            </a:pPr>
            <a:endParaRPr sz="2200">
              <a:solidFill>
                <a:schemeClr val="lt1"/>
              </a:solidFill>
            </a:endParaRPr>
          </a:p>
          <a:p>
            <a:pPr marL="0" lvl="0" indent="0" algn="l" rtl="0">
              <a:spcBef>
                <a:spcPts val="0"/>
              </a:spcBef>
              <a:spcAft>
                <a:spcPts val="0"/>
              </a:spcAft>
              <a:buNone/>
            </a:pPr>
            <a:r>
              <a:rPr lang="fr-FR" sz="2200">
                <a:solidFill>
                  <a:schemeClr val="lt1"/>
                </a:solidFill>
              </a:rPr>
              <a:t>AI Toolkit Assessment:</a:t>
            </a:r>
            <a:endParaRPr/>
          </a:p>
          <a:p>
            <a:pPr marL="0" lvl="0" indent="0" algn="l" rtl="0">
              <a:spcBef>
                <a:spcPts val="0"/>
              </a:spcBef>
              <a:spcAft>
                <a:spcPts val="0"/>
              </a:spcAft>
              <a:buNone/>
            </a:pPr>
            <a:r>
              <a:rPr lang="fr-FR" sz="2200">
                <a:solidFill>
                  <a:schemeClr val="lt1"/>
                </a:solidFill>
              </a:rPr>
              <a:t>• LLT: Actually useful (predicted attack earlier) </a:t>
            </a:r>
            <a:endParaRPr/>
          </a:p>
          <a:p>
            <a:pPr marL="0" lvl="0" indent="0" algn="l" rtl="0">
              <a:spcBef>
                <a:spcPts val="0"/>
              </a:spcBef>
              <a:spcAft>
                <a:spcPts val="0"/>
              </a:spcAft>
              <a:buNone/>
            </a:pPr>
            <a:r>
              <a:rPr lang="fr-FR" sz="2200">
                <a:solidFill>
                  <a:schemeClr val="lt1"/>
                </a:solidFill>
              </a:rPr>
              <a:t>• Anomalydetection: Silent failure (looked like it worked, but it didn’t) </a:t>
            </a:r>
            <a:endParaRPr/>
          </a:p>
          <a:p>
            <a:pPr marL="0" lvl="0" indent="0" algn="l" rtl="0">
              <a:spcBef>
                <a:spcPts val="0"/>
              </a:spcBef>
              <a:spcAft>
                <a:spcPts val="0"/>
              </a:spcAft>
              <a:buNone/>
            </a:pPr>
            <a:r>
              <a:rPr lang="fr-FR" sz="2200">
                <a:solidFill>
                  <a:schemeClr val="lt1"/>
                </a:solidFill>
              </a:rPr>
              <a:t>• ARIMA: ”No data” errors (impossible to process)</a:t>
            </a:r>
            <a:endParaRPr sz="2200">
              <a:solidFill>
                <a:schemeClr val="lt1"/>
              </a:solidFill>
            </a:endParaRPr>
          </a:p>
        </p:txBody>
      </p:sp>
      <p:pic>
        <p:nvPicPr>
          <p:cNvPr id="255" name="Google Shape;255;p21"/>
          <p:cNvPicPr preferRelativeResize="0"/>
          <p:nvPr/>
        </p:nvPicPr>
        <p:blipFill rotWithShape="1">
          <a:blip r:embed="rId4">
            <a:alphaModFix/>
          </a:blip>
          <a:srcRect/>
          <a:stretch/>
        </p:blipFill>
        <p:spPr>
          <a:xfrm>
            <a:off x="7010400" y="2552700"/>
            <a:ext cx="10515600" cy="2912925"/>
          </a:xfrm>
          <a:prstGeom prst="roundRect">
            <a:avLst>
              <a:gd name="adj" fmla="val 8594"/>
            </a:avLst>
          </a:prstGeom>
          <a:solidFill>
            <a:srgbClr val="ECECEC"/>
          </a:solidFill>
          <a:ln>
            <a:noFill/>
          </a:ln>
          <a:effectLst>
            <a:reflection stA="38000" endPos="28000" dist="5000" dir="5400000" sy="-100000" algn="bl" rotWithShape="0"/>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2"/>
          <p:cNvSpPr txBox="1"/>
          <p:nvPr/>
        </p:nvSpPr>
        <p:spPr>
          <a:xfrm>
            <a:off x="914400" y="571500"/>
            <a:ext cx="15697200" cy="8366393"/>
          </a:xfrm>
          <a:prstGeom prst="rect">
            <a:avLst/>
          </a:prstGeom>
          <a:noFill/>
          <a:ln>
            <a:noFill/>
          </a:ln>
        </p:spPr>
        <p:txBody>
          <a:bodyPr spcFirstLastPara="1" wrap="square" lIns="0" tIns="264150" rIns="0" bIns="0" anchor="t" anchorCtr="0">
            <a:spAutoFit/>
          </a:bodyPr>
          <a:lstStyle/>
          <a:p>
            <a:pPr marL="12700" lvl="0" indent="0" algn="l" rtl="0">
              <a:lnSpc>
                <a:spcPct val="100000"/>
              </a:lnSpc>
              <a:spcBef>
                <a:spcPts val="0"/>
              </a:spcBef>
              <a:spcAft>
                <a:spcPts val="0"/>
              </a:spcAft>
              <a:buNone/>
            </a:pPr>
            <a:r>
              <a:rPr lang="fr-FR" sz="5400" b="1">
                <a:solidFill>
                  <a:srgbClr val="FFFFFF"/>
                </a:solidFill>
                <a:latin typeface="Tahoma"/>
                <a:ea typeface="Tahoma"/>
                <a:cs typeface="Tahoma"/>
                <a:sym typeface="Tahoma"/>
              </a:rPr>
              <a:t>Comparing against Alerts file</a:t>
            </a:r>
            <a:endParaRPr sz="5400">
              <a:latin typeface="Tahoma"/>
              <a:ea typeface="Tahoma"/>
              <a:cs typeface="Tahoma"/>
              <a:sym typeface="Tahoma"/>
            </a:endParaRPr>
          </a:p>
          <a:p>
            <a:pPr marL="12700" lvl="0" indent="0" algn="l" rtl="0">
              <a:lnSpc>
                <a:spcPct val="100000"/>
              </a:lnSpc>
              <a:spcBef>
                <a:spcPts val="995"/>
              </a:spcBef>
              <a:spcAft>
                <a:spcPts val="0"/>
              </a:spcAft>
              <a:buNone/>
            </a:pPr>
            <a:endParaRPr sz="2800">
              <a:solidFill>
                <a:schemeClr val="lt1"/>
              </a:solidFill>
            </a:endParaRPr>
          </a:p>
          <a:p>
            <a:pPr marL="12700" lvl="0" indent="0" algn="l" rtl="0">
              <a:lnSpc>
                <a:spcPct val="100000"/>
              </a:lnSpc>
              <a:spcBef>
                <a:spcPts val="995"/>
              </a:spcBef>
              <a:spcAft>
                <a:spcPts val="0"/>
              </a:spcAft>
              <a:buNone/>
            </a:pPr>
            <a:r>
              <a:rPr lang="fr-FR" sz="2400">
                <a:solidFill>
                  <a:schemeClr val="lt1"/>
                </a:solidFill>
              </a:rPr>
              <a:t>The alerts caught what they were designed to catch:</a:t>
            </a:r>
            <a:endParaRPr/>
          </a:p>
          <a:p>
            <a:pPr marL="469900" lvl="0" indent="-457200" algn="l" rtl="0">
              <a:lnSpc>
                <a:spcPct val="100000"/>
              </a:lnSpc>
              <a:spcBef>
                <a:spcPts val="995"/>
              </a:spcBef>
              <a:spcAft>
                <a:spcPts val="0"/>
              </a:spcAft>
              <a:buClr>
                <a:schemeClr val="lt1"/>
              </a:buClr>
              <a:buSzPts val="2400"/>
              <a:buFont typeface="Arial"/>
              <a:buChar char="•"/>
            </a:pPr>
            <a:r>
              <a:rPr lang="fr-FR" sz="2400">
                <a:solidFill>
                  <a:schemeClr val="lt1"/>
                </a:solidFill>
              </a:rPr>
              <a:t> 3 alerts about HTTP traffic to/from 72.5.43.29 (the main attacker server). These caught the malware download and some  POST backs</a:t>
            </a:r>
            <a:endParaRPr/>
          </a:p>
          <a:p>
            <a:pPr marL="469900" lvl="0" indent="-457200" algn="l" rtl="0">
              <a:lnSpc>
                <a:spcPct val="100000"/>
              </a:lnSpc>
              <a:spcBef>
                <a:spcPts val="995"/>
              </a:spcBef>
              <a:spcAft>
                <a:spcPts val="0"/>
              </a:spcAft>
              <a:buClr>
                <a:schemeClr val="lt1"/>
              </a:buClr>
              <a:buSzPts val="2400"/>
              <a:buFont typeface="Arial"/>
              <a:buChar char="•"/>
            </a:pPr>
            <a:r>
              <a:rPr lang="fr-FR" sz="2400">
                <a:solidFill>
                  <a:schemeClr val="lt1"/>
                </a:solidFill>
              </a:rPr>
              <a:t> 2 alerts about HTTP traffic to 23.205.110.48 (another attacker server). These caught some early attack reconnaissance and connectivity tests</a:t>
            </a:r>
            <a:endParaRPr/>
          </a:p>
          <a:p>
            <a:pPr marL="469900" lvl="0" indent="-457200" algn="l" rtl="0">
              <a:lnSpc>
                <a:spcPct val="100000"/>
              </a:lnSpc>
              <a:spcBef>
                <a:spcPts val="995"/>
              </a:spcBef>
              <a:spcAft>
                <a:spcPts val="0"/>
              </a:spcAft>
              <a:buClr>
                <a:schemeClr val="lt1"/>
              </a:buClr>
              <a:buSzPts val="2400"/>
              <a:buFont typeface="Arial"/>
              <a:buChar char="•"/>
            </a:pPr>
            <a:r>
              <a:rPr lang="fr-FR" sz="2400">
                <a:solidFill>
                  <a:schemeClr val="lt1"/>
                </a:solidFill>
              </a:rPr>
              <a:t>1 alert about TLSv1.0 (outdated encryption)</a:t>
            </a:r>
            <a:endParaRPr/>
          </a:p>
          <a:p>
            <a:pPr marL="469900" lvl="0" indent="-457200" algn="l" rtl="0">
              <a:lnSpc>
                <a:spcPct val="100000"/>
              </a:lnSpc>
              <a:spcBef>
                <a:spcPts val="995"/>
              </a:spcBef>
              <a:spcAft>
                <a:spcPts val="0"/>
              </a:spcAft>
              <a:buClr>
                <a:schemeClr val="lt1"/>
              </a:buClr>
              <a:buSzPts val="2400"/>
              <a:buFont typeface="Arial"/>
              <a:buChar char="•"/>
            </a:pPr>
            <a:r>
              <a:rPr lang="fr-FR" sz="2400">
                <a:solidFill>
                  <a:schemeClr val="lt1"/>
                </a:solidFill>
              </a:rPr>
              <a:t>2 alerts about internal stuff (DNS errors and RPC kerberos traffic). These represented noise, not the main event</a:t>
            </a:r>
            <a:endParaRPr/>
          </a:p>
          <a:p>
            <a:pPr marL="469900" lvl="0" indent="-457200" algn="l" rtl="0">
              <a:lnSpc>
                <a:spcPct val="100000"/>
              </a:lnSpc>
              <a:spcBef>
                <a:spcPts val="995"/>
              </a:spcBef>
              <a:spcAft>
                <a:spcPts val="0"/>
              </a:spcAft>
              <a:buClr>
                <a:schemeClr val="lt1"/>
              </a:buClr>
              <a:buSzPts val="2400"/>
              <a:buFont typeface="Arial"/>
              <a:buChar char="•"/>
            </a:pPr>
            <a:r>
              <a:rPr lang="fr-FR" sz="2400">
                <a:solidFill>
                  <a:schemeClr val="lt1"/>
                </a:solidFill>
              </a:rPr>
              <a:t>8 alerts in total that actually related to the attack</a:t>
            </a:r>
            <a:endParaRPr/>
          </a:p>
          <a:p>
            <a:pPr marL="12700" lvl="0" indent="0" algn="l" rtl="0">
              <a:lnSpc>
                <a:spcPct val="100000"/>
              </a:lnSpc>
              <a:spcBef>
                <a:spcPts val="995"/>
              </a:spcBef>
              <a:spcAft>
                <a:spcPts val="0"/>
              </a:spcAft>
              <a:buNone/>
            </a:pPr>
            <a:r>
              <a:rPr lang="fr-FR" sz="2400">
                <a:solidFill>
                  <a:schemeClr val="lt1"/>
                </a:solidFill>
              </a:rPr>
              <a:t>What wasn’t in the alerts file: </a:t>
            </a:r>
            <a:endParaRPr/>
          </a:p>
          <a:p>
            <a:pPr marL="12700" lvl="0" indent="0" algn="l" rtl="0">
              <a:lnSpc>
                <a:spcPct val="100000"/>
              </a:lnSpc>
              <a:spcBef>
                <a:spcPts val="995"/>
              </a:spcBef>
              <a:spcAft>
                <a:spcPts val="0"/>
              </a:spcAft>
              <a:buNone/>
            </a:pPr>
            <a:r>
              <a:rPr lang="fr-FR" sz="2400">
                <a:solidFill>
                  <a:schemeClr val="lt1"/>
                </a:solidFill>
              </a:rPr>
              <a:t>•    3,711 encrypted packets (TLSv1.3 + QUIC) - 0 alerts </a:t>
            </a:r>
            <a:endParaRPr/>
          </a:p>
          <a:p>
            <a:pPr marL="12700" lvl="0" indent="0" algn="l" rtl="0">
              <a:lnSpc>
                <a:spcPct val="100000"/>
              </a:lnSpc>
              <a:spcBef>
                <a:spcPts val="995"/>
              </a:spcBef>
              <a:spcAft>
                <a:spcPts val="0"/>
              </a:spcAft>
              <a:buNone/>
            </a:pPr>
            <a:r>
              <a:rPr lang="fr-FR" sz="2400">
                <a:solidFill>
                  <a:schemeClr val="lt1"/>
                </a:solidFill>
              </a:rPr>
              <a:t>•    593 lateral movement packets (LDAP, SMB2, DCERPC) - 0 alerts </a:t>
            </a:r>
            <a:endParaRPr/>
          </a:p>
          <a:p>
            <a:pPr marL="12700" lvl="0" indent="0" algn="l" rtl="0">
              <a:lnSpc>
                <a:spcPct val="100000"/>
              </a:lnSpc>
              <a:spcBef>
                <a:spcPts val="995"/>
              </a:spcBef>
              <a:spcAft>
                <a:spcPts val="0"/>
              </a:spcAft>
              <a:buNone/>
            </a:pPr>
            <a:r>
              <a:rPr lang="fr-FR" sz="2400">
                <a:solidFill>
                  <a:schemeClr val="lt1"/>
                </a:solidFill>
              </a:rPr>
              <a:t>•    419 DNS tunneling packets - 0 alerts </a:t>
            </a:r>
            <a:endParaRPr/>
          </a:p>
          <a:p>
            <a:pPr marL="12700" lvl="0" indent="0" algn="l" rtl="0">
              <a:lnSpc>
                <a:spcPct val="100000"/>
              </a:lnSpc>
              <a:spcBef>
                <a:spcPts val="995"/>
              </a:spcBef>
              <a:spcAft>
                <a:spcPts val="0"/>
              </a:spcAft>
              <a:buNone/>
            </a:pPr>
            <a:r>
              <a:rPr lang="fr-FR" sz="2400">
                <a:solidFill>
                  <a:schemeClr val="lt1"/>
                </a:solidFill>
              </a:rPr>
              <a:t>•    OCSP protocol abuse (981-byte payload) - 0 alerts </a:t>
            </a:r>
            <a:endParaRPr/>
          </a:p>
          <a:p>
            <a:pPr marL="12700" lvl="0" indent="0" algn="l" rtl="0">
              <a:lnSpc>
                <a:spcPct val="100000"/>
              </a:lnSpc>
              <a:spcBef>
                <a:spcPts val="995"/>
              </a:spcBef>
              <a:spcAft>
                <a:spcPts val="0"/>
              </a:spcAft>
              <a:buNone/>
            </a:pPr>
            <a:r>
              <a:rPr lang="fr-FR" sz="2400">
                <a:solidFill>
                  <a:schemeClr val="lt1"/>
                </a:solidFill>
              </a:rPr>
              <a:t>•    28+ minutes of post-compromise activity - 0 alert</a:t>
            </a:r>
            <a:endParaRPr sz="2400">
              <a:solidFill>
                <a:schemeClr val="lt1"/>
              </a:solidFill>
              <a:latin typeface="Verdana"/>
              <a:ea typeface="Verdana"/>
              <a:cs typeface="Verdana"/>
              <a:sym typeface="Verdana"/>
            </a:endParaRPr>
          </a:p>
        </p:txBody>
      </p:sp>
      <p:pic>
        <p:nvPicPr>
          <p:cNvPr id="261" name="Google Shape;261;p22"/>
          <p:cNvPicPr preferRelativeResize="0"/>
          <p:nvPr/>
        </p:nvPicPr>
        <p:blipFill rotWithShape="1">
          <a:blip r:embed="rId3">
            <a:alphaModFix/>
          </a:blip>
          <a:srcRect/>
          <a:stretch/>
        </p:blipFill>
        <p:spPr>
          <a:xfrm>
            <a:off x="0" y="0"/>
            <a:ext cx="146399" cy="10286999"/>
          </a:xfrm>
          <a:prstGeom prst="rect">
            <a:avLst/>
          </a:prstGeom>
          <a:noFill/>
          <a:ln>
            <a:noFill/>
          </a:ln>
        </p:spPr>
      </p:pic>
      <p:pic>
        <p:nvPicPr>
          <p:cNvPr id="262" name="Google Shape;262;p22"/>
          <p:cNvPicPr preferRelativeResize="0"/>
          <p:nvPr/>
        </p:nvPicPr>
        <p:blipFill rotWithShape="1">
          <a:blip r:embed="rId3">
            <a:alphaModFix/>
          </a:blip>
          <a:srcRect/>
          <a:stretch/>
        </p:blipFill>
        <p:spPr>
          <a:xfrm>
            <a:off x="18141601" y="1"/>
            <a:ext cx="146399" cy="102869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pic>
        <p:nvPicPr>
          <p:cNvPr id="267" name="Google Shape;267;p23"/>
          <p:cNvPicPr preferRelativeResize="0"/>
          <p:nvPr/>
        </p:nvPicPr>
        <p:blipFill rotWithShape="1">
          <a:blip r:embed="rId3">
            <a:alphaModFix/>
          </a:blip>
          <a:srcRect/>
          <a:stretch/>
        </p:blipFill>
        <p:spPr>
          <a:xfrm>
            <a:off x="0" y="0"/>
            <a:ext cx="146399" cy="10286999"/>
          </a:xfrm>
          <a:prstGeom prst="rect">
            <a:avLst/>
          </a:prstGeom>
          <a:noFill/>
          <a:ln>
            <a:noFill/>
          </a:ln>
        </p:spPr>
      </p:pic>
      <p:sp>
        <p:nvSpPr>
          <p:cNvPr id="268" name="Google Shape;268;p23"/>
          <p:cNvSpPr txBox="1"/>
          <p:nvPr/>
        </p:nvSpPr>
        <p:spPr>
          <a:xfrm>
            <a:off x="838200" y="3543300"/>
            <a:ext cx="13728700" cy="1313821"/>
          </a:xfrm>
          <a:prstGeom prst="rect">
            <a:avLst/>
          </a:prstGeom>
          <a:noFill/>
          <a:ln>
            <a:noFill/>
          </a:ln>
        </p:spPr>
        <p:txBody>
          <a:bodyPr spcFirstLastPara="1" wrap="square" lIns="0" tIns="208900" rIns="0" bIns="0" anchor="t" anchorCtr="0">
            <a:spAutoFit/>
          </a:bodyPr>
          <a:lstStyle/>
          <a:p>
            <a:pPr marL="12700" marR="5080" lvl="0" indent="0" algn="l" rtl="0">
              <a:lnSpc>
                <a:spcPct val="107125"/>
              </a:lnSpc>
              <a:spcBef>
                <a:spcPts val="0"/>
              </a:spcBef>
              <a:spcAft>
                <a:spcPts val="0"/>
              </a:spcAft>
              <a:buNone/>
            </a:pPr>
            <a:r>
              <a:rPr lang="fr-FR" sz="8000" b="1">
                <a:solidFill>
                  <a:schemeClr val="lt1"/>
                </a:solidFill>
              </a:rPr>
              <a:t>Results and Findings </a:t>
            </a:r>
            <a:endParaRPr sz="8000" b="1">
              <a:solidFill>
                <a:schemeClr val="lt1"/>
              </a:solidFill>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4"/>
          <p:cNvSpPr txBox="1"/>
          <p:nvPr/>
        </p:nvSpPr>
        <p:spPr>
          <a:xfrm>
            <a:off x="1542415" y="532578"/>
            <a:ext cx="16929100" cy="1097736"/>
          </a:xfrm>
          <a:prstGeom prst="rect">
            <a:avLst/>
          </a:prstGeom>
          <a:noFill/>
          <a:ln>
            <a:noFill/>
          </a:ln>
        </p:spPr>
        <p:txBody>
          <a:bodyPr spcFirstLastPara="1" wrap="square" lIns="0" tIns="264150" rIns="0" bIns="0" anchor="t" anchorCtr="0">
            <a:spAutoFit/>
          </a:bodyPr>
          <a:lstStyle/>
          <a:p>
            <a:pPr marL="12700" lvl="0" indent="0" algn="l" rtl="0">
              <a:lnSpc>
                <a:spcPct val="100000"/>
              </a:lnSpc>
              <a:spcBef>
                <a:spcPts val="0"/>
              </a:spcBef>
              <a:spcAft>
                <a:spcPts val="0"/>
              </a:spcAft>
              <a:buNone/>
            </a:pPr>
            <a:r>
              <a:rPr lang="fr-FR" sz="5400" b="1">
                <a:solidFill>
                  <a:schemeClr val="lt1"/>
                </a:solidFill>
              </a:rPr>
              <a:t>Results Summary</a:t>
            </a:r>
            <a:endParaRPr sz="5400" b="1">
              <a:solidFill>
                <a:schemeClr val="lt1"/>
              </a:solidFill>
            </a:endParaRPr>
          </a:p>
        </p:txBody>
      </p:sp>
      <p:pic>
        <p:nvPicPr>
          <p:cNvPr id="274" name="Google Shape;274;p24"/>
          <p:cNvPicPr preferRelativeResize="0"/>
          <p:nvPr/>
        </p:nvPicPr>
        <p:blipFill rotWithShape="1">
          <a:blip r:embed="rId3">
            <a:alphaModFix/>
          </a:blip>
          <a:srcRect l="815" r="1267" b="1399"/>
          <a:stretch/>
        </p:blipFill>
        <p:spPr>
          <a:xfrm>
            <a:off x="8458200" y="2397457"/>
            <a:ext cx="9144000" cy="5184444"/>
          </a:xfrm>
          <a:prstGeom prst="rect">
            <a:avLst/>
          </a:prstGeom>
          <a:noFill/>
          <a:ln>
            <a:noFill/>
          </a:ln>
          <a:effectLst>
            <a:outerShdw blurRad="292100" dist="139700" dir="2700000" algn="tl" rotWithShape="0">
              <a:srgbClr val="333333">
                <a:alpha val="65098"/>
              </a:srgbClr>
            </a:outerShdw>
          </a:effectLst>
        </p:spPr>
      </p:pic>
      <p:sp>
        <p:nvSpPr>
          <p:cNvPr id="275" name="Google Shape;275;p24"/>
          <p:cNvSpPr txBox="1"/>
          <p:nvPr/>
        </p:nvSpPr>
        <p:spPr>
          <a:xfrm>
            <a:off x="896393" y="2705100"/>
            <a:ext cx="7010400" cy="563231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2400">
                <a:solidFill>
                  <a:schemeClr val="lt1"/>
                </a:solidFill>
              </a:rPr>
              <a:t>Our initial question got answered: yes, Splunk found a lot that the alerts file missed. About 65% more malicious. But it is even more interesting:</a:t>
            </a:r>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r>
              <a:rPr lang="fr-FR" sz="2400">
                <a:solidFill>
                  <a:schemeClr val="lt1"/>
                </a:solidFill>
              </a:rPr>
              <a:t>• The malware just prioritized encryption and abused trusted protocols. </a:t>
            </a:r>
            <a:endParaRPr/>
          </a:p>
          <a:p>
            <a:pPr marL="0" lvl="0" indent="0" algn="l" rtl="0">
              <a:spcBef>
                <a:spcPts val="0"/>
              </a:spcBef>
              <a:spcAft>
                <a:spcPts val="0"/>
              </a:spcAft>
              <a:buNone/>
            </a:pPr>
            <a:r>
              <a:rPr lang="fr-FR" sz="2400">
                <a:solidFill>
                  <a:schemeClr val="lt1"/>
                </a:solidFill>
              </a:rPr>
              <a:t>• Distributed Infrastructure: The attack utilized 60+ external servers rather than focusing on centralized Attacker servers. </a:t>
            </a:r>
            <a:endParaRPr/>
          </a:p>
          <a:p>
            <a:pPr marL="0" lvl="0" indent="0" algn="l" rtl="0">
              <a:spcBef>
                <a:spcPts val="0"/>
              </a:spcBef>
              <a:spcAft>
                <a:spcPts val="0"/>
              </a:spcAft>
              <a:buNone/>
            </a:pPr>
            <a:r>
              <a:rPr lang="fr-FR" sz="2400">
                <a:solidFill>
                  <a:schemeClr val="lt1"/>
                </a:solidFill>
              </a:rPr>
              <a:t>• Splunk’s Machine Learning Toolkit was really inconsistent, some algorithms worked, some failed silently, and some couldn’t even run on 32 minutes of data.</a:t>
            </a:r>
            <a:endParaRPr/>
          </a:p>
          <a:p>
            <a:pPr marL="0" lvl="0" indent="0" algn="l" rtl="0">
              <a:spcBef>
                <a:spcPts val="0"/>
              </a:spcBef>
              <a:spcAft>
                <a:spcPts val="0"/>
              </a:spcAft>
              <a:buNone/>
            </a:pPr>
            <a:r>
              <a:rPr lang="fr-FR" sz="2400">
                <a:solidFill>
                  <a:schemeClr val="lt1"/>
                </a:solidFill>
              </a:rPr>
              <a:t>• The biggest wins came from manual SPL queries, not automation. </a:t>
            </a:r>
            <a:endParaRPr sz="2400">
              <a:solidFill>
                <a:schemeClr val="lt1"/>
              </a:solidFill>
            </a:endParaRPr>
          </a:p>
        </p:txBody>
      </p:sp>
      <p:pic>
        <p:nvPicPr>
          <p:cNvPr id="276" name="Google Shape;276;p24"/>
          <p:cNvPicPr preferRelativeResize="0"/>
          <p:nvPr/>
        </p:nvPicPr>
        <p:blipFill rotWithShape="1">
          <a:blip r:embed="rId4">
            <a:alphaModFix/>
          </a:blip>
          <a:srcRect/>
          <a:stretch/>
        </p:blipFill>
        <p:spPr>
          <a:xfrm>
            <a:off x="152400" y="593531"/>
            <a:ext cx="1183187" cy="1193799"/>
          </a:xfrm>
          <a:prstGeom prst="rect">
            <a:avLst/>
          </a:prstGeom>
          <a:noFill/>
          <a:ln>
            <a:noFill/>
          </a:ln>
        </p:spPr>
      </p:pic>
      <p:sp>
        <p:nvSpPr>
          <p:cNvPr id="277" name="Google Shape;277;p24"/>
          <p:cNvSpPr txBox="1"/>
          <p:nvPr/>
        </p:nvSpPr>
        <p:spPr>
          <a:xfrm>
            <a:off x="457200" y="708299"/>
            <a:ext cx="878387" cy="1015663"/>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6000" b="1">
                <a:solidFill>
                  <a:schemeClr val="lt1"/>
                </a:solidFill>
              </a:rPr>
              <a:t>&gt;</a:t>
            </a:r>
            <a:endParaRPr sz="6000"/>
          </a:p>
        </p:txBody>
      </p:sp>
      <p:pic>
        <p:nvPicPr>
          <p:cNvPr id="278" name="Google Shape;278;p24"/>
          <p:cNvPicPr preferRelativeResize="0"/>
          <p:nvPr/>
        </p:nvPicPr>
        <p:blipFill rotWithShape="1">
          <a:blip r:embed="rId5">
            <a:alphaModFix/>
          </a:blip>
          <a:srcRect/>
          <a:stretch/>
        </p:blipFill>
        <p:spPr>
          <a:xfrm rot="5400000">
            <a:off x="5070300" y="5070301"/>
            <a:ext cx="146399" cy="10286999"/>
          </a:xfrm>
          <a:prstGeom prst="rect">
            <a:avLst/>
          </a:prstGeom>
          <a:noFill/>
          <a:ln>
            <a:noFill/>
          </a:ln>
        </p:spPr>
      </p:pic>
      <p:pic>
        <p:nvPicPr>
          <p:cNvPr id="279" name="Google Shape;279;p24"/>
          <p:cNvPicPr preferRelativeResize="0"/>
          <p:nvPr/>
        </p:nvPicPr>
        <p:blipFill rotWithShape="1">
          <a:blip r:embed="rId5">
            <a:alphaModFix/>
          </a:blip>
          <a:srcRect/>
          <a:stretch/>
        </p:blipFill>
        <p:spPr>
          <a:xfrm rot="-5400000">
            <a:off x="13071300" y="5070302"/>
            <a:ext cx="146399" cy="10287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pic>
        <p:nvPicPr>
          <p:cNvPr id="284" name="Google Shape;284;p25"/>
          <p:cNvPicPr preferRelativeResize="0"/>
          <p:nvPr/>
        </p:nvPicPr>
        <p:blipFill rotWithShape="1">
          <a:blip r:embed="rId3">
            <a:alphaModFix/>
          </a:blip>
          <a:srcRect/>
          <a:stretch/>
        </p:blipFill>
        <p:spPr>
          <a:xfrm>
            <a:off x="0" y="0"/>
            <a:ext cx="146399" cy="10286999"/>
          </a:xfrm>
          <a:prstGeom prst="rect">
            <a:avLst/>
          </a:prstGeom>
          <a:noFill/>
          <a:ln>
            <a:noFill/>
          </a:ln>
        </p:spPr>
      </p:pic>
      <p:sp>
        <p:nvSpPr>
          <p:cNvPr id="285" name="Google Shape;285;p25"/>
          <p:cNvSpPr txBox="1"/>
          <p:nvPr/>
        </p:nvSpPr>
        <p:spPr>
          <a:xfrm>
            <a:off x="838200" y="3543300"/>
            <a:ext cx="13728700" cy="1313821"/>
          </a:xfrm>
          <a:prstGeom prst="rect">
            <a:avLst/>
          </a:prstGeom>
          <a:noFill/>
          <a:ln>
            <a:noFill/>
          </a:ln>
        </p:spPr>
        <p:txBody>
          <a:bodyPr spcFirstLastPara="1" wrap="square" lIns="0" tIns="208900" rIns="0" bIns="0" anchor="t" anchorCtr="0">
            <a:spAutoFit/>
          </a:bodyPr>
          <a:lstStyle/>
          <a:p>
            <a:pPr marL="12700" marR="5080" lvl="0" indent="0" algn="l" rtl="0">
              <a:lnSpc>
                <a:spcPct val="107125"/>
              </a:lnSpc>
              <a:spcBef>
                <a:spcPts val="0"/>
              </a:spcBef>
              <a:spcAft>
                <a:spcPts val="0"/>
              </a:spcAft>
              <a:buNone/>
            </a:pPr>
            <a:r>
              <a:rPr lang="fr-FR" sz="8000" b="1">
                <a:solidFill>
                  <a:schemeClr val="lt1"/>
                </a:solidFill>
              </a:rPr>
              <a:t>Splunk Evaluation</a:t>
            </a:r>
            <a:endParaRPr sz="8000" b="1">
              <a:solidFill>
                <a:schemeClr val="lt1"/>
              </a:solidFill>
              <a:latin typeface="Tahoma"/>
              <a:ea typeface="Tahoma"/>
              <a:cs typeface="Tahoma"/>
              <a:sym typeface="Tahom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6"/>
          <p:cNvSpPr txBox="1"/>
          <p:nvPr/>
        </p:nvSpPr>
        <p:spPr>
          <a:xfrm>
            <a:off x="1143000" y="3771900"/>
            <a:ext cx="6858000" cy="3944670"/>
          </a:xfrm>
          <a:prstGeom prst="rect">
            <a:avLst/>
          </a:prstGeom>
          <a:noFill/>
          <a:ln>
            <a:noFill/>
          </a:ln>
        </p:spPr>
        <p:txBody>
          <a:bodyPr spcFirstLastPara="1" wrap="square" lIns="0" tIns="66025" rIns="0" bIns="0" anchor="t" anchorCtr="0">
            <a:spAutoFit/>
          </a:bodyPr>
          <a:lstStyle/>
          <a:p>
            <a:pPr marL="342900" lvl="0" indent="-342900" algn="l" rtl="0">
              <a:spcBef>
                <a:spcPts val="0"/>
              </a:spcBef>
              <a:spcAft>
                <a:spcPts val="0"/>
              </a:spcAft>
              <a:buClr>
                <a:schemeClr val="lt1"/>
              </a:buClr>
              <a:buSzPts val="2800"/>
              <a:buFont typeface="Arial"/>
              <a:buChar char="•"/>
            </a:pPr>
            <a:r>
              <a:rPr lang="fr-FR" sz="2800">
                <a:solidFill>
                  <a:schemeClr val="lt1"/>
                </a:solidFill>
              </a:rPr>
              <a:t>Detection Gap Coverage: +65.92% threat discovery</a:t>
            </a:r>
            <a:endParaRPr sz="2800">
              <a:solidFill>
                <a:schemeClr val="lt1"/>
              </a:solidFill>
            </a:endParaRPr>
          </a:p>
          <a:p>
            <a:pPr marL="342900" lvl="0" indent="-342900" algn="l" rtl="0">
              <a:spcBef>
                <a:spcPts val="0"/>
              </a:spcBef>
              <a:spcAft>
                <a:spcPts val="0"/>
              </a:spcAft>
              <a:buClr>
                <a:schemeClr val="lt1"/>
              </a:buClr>
              <a:buSzPts val="2800"/>
              <a:buFont typeface="Arial"/>
              <a:buChar char="•"/>
            </a:pPr>
            <a:r>
              <a:rPr lang="fr-FR" sz="2800">
                <a:solidFill>
                  <a:schemeClr val="lt1"/>
                </a:solidFill>
              </a:rPr>
              <a:t>Comprehensive Visibility: Raw traffic analysis</a:t>
            </a:r>
            <a:endParaRPr sz="2800">
              <a:solidFill>
                <a:schemeClr val="lt1"/>
              </a:solidFill>
            </a:endParaRPr>
          </a:p>
          <a:p>
            <a:pPr marL="342900" lvl="0" indent="-342900" algn="l" rtl="0">
              <a:spcBef>
                <a:spcPts val="0"/>
              </a:spcBef>
              <a:spcAft>
                <a:spcPts val="0"/>
              </a:spcAft>
              <a:buClr>
                <a:schemeClr val="lt1"/>
              </a:buClr>
              <a:buSzPts val="2800"/>
              <a:buFont typeface="Arial"/>
              <a:buChar char="•"/>
            </a:pPr>
            <a:r>
              <a:rPr lang="fr-FR" sz="2800">
                <a:solidFill>
                  <a:schemeClr val="lt1"/>
                </a:solidFill>
              </a:rPr>
              <a:t>Flexible SPL: Enables deep correlation</a:t>
            </a:r>
            <a:endParaRPr sz="2800">
              <a:solidFill>
                <a:schemeClr val="lt1"/>
              </a:solidFill>
            </a:endParaRPr>
          </a:p>
          <a:p>
            <a:pPr marL="342900" lvl="0" indent="-342900" algn="l" rtl="0">
              <a:spcBef>
                <a:spcPts val="0"/>
              </a:spcBef>
              <a:spcAft>
                <a:spcPts val="0"/>
              </a:spcAft>
              <a:buClr>
                <a:schemeClr val="lt1"/>
              </a:buClr>
              <a:buSzPts val="2800"/>
              <a:buFont typeface="Arial"/>
              <a:buChar char="•"/>
            </a:pPr>
            <a:r>
              <a:rPr lang="fr-FR" sz="2800">
                <a:solidFill>
                  <a:schemeClr val="lt1"/>
                </a:solidFill>
              </a:rPr>
              <a:t>Real-time Analytics: Captured attack progression</a:t>
            </a:r>
            <a:endParaRPr/>
          </a:p>
          <a:p>
            <a:pPr marL="342900" lvl="0" indent="-342900" algn="l" rtl="0">
              <a:spcBef>
                <a:spcPts val="0"/>
              </a:spcBef>
              <a:spcAft>
                <a:spcPts val="0"/>
              </a:spcAft>
              <a:buClr>
                <a:schemeClr val="lt1"/>
              </a:buClr>
              <a:buSzPts val="2800"/>
              <a:buFont typeface="Arial"/>
              <a:buChar char="•"/>
            </a:pPr>
            <a:r>
              <a:rPr lang="fr-FR" sz="2800">
                <a:solidFill>
                  <a:schemeClr val="lt1"/>
                </a:solidFill>
              </a:rPr>
              <a:t>Actionable Dashboards: BI-style visualizations</a:t>
            </a:r>
            <a:endParaRPr sz="2800">
              <a:solidFill>
                <a:schemeClr val="lt1"/>
              </a:solidFill>
            </a:endParaRPr>
          </a:p>
        </p:txBody>
      </p:sp>
      <p:pic>
        <p:nvPicPr>
          <p:cNvPr id="292" name="Google Shape;292;p26"/>
          <p:cNvPicPr preferRelativeResize="0"/>
          <p:nvPr/>
        </p:nvPicPr>
        <p:blipFill rotWithShape="1">
          <a:blip r:embed="rId3">
            <a:alphaModFix/>
          </a:blip>
          <a:srcRect/>
          <a:stretch/>
        </p:blipFill>
        <p:spPr>
          <a:xfrm>
            <a:off x="914581" y="1938332"/>
            <a:ext cx="7619819" cy="1005899"/>
          </a:xfrm>
          <a:prstGeom prst="rect">
            <a:avLst/>
          </a:prstGeom>
          <a:noFill/>
          <a:ln>
            <a:noFill/>
          </a:ln>
        </p:spPr>
      </p:pic>
      <p:sp>
        <p:nvSpPr>
          <p:cNvPr id="293" name="Google Shape;293;p26"/>
          <p:cNvSpPr txBox="1"/>
          <p:nvPr/>
        </p:nvSpPr>
        <p:spPr>
          <a:xfrm>
            <a:off x="685800" y="1938331"/>
            <a:ext cx="7955280" cy="723274"/>
          </a:xfrm>
          <a:prstGeom prst="rect">
            <a:avLst/>
          </a:prstGeom>
          <a:noFill/>
          <a:ln>
            <a:noFill/>
          </a:ln>
        </p:spPr>
        <p:txBody>
          <a:bodyPr spcFirstLastPara="1" wrap="square" lIns="0" tIns="259075" rIns="0" bIns="0" anchor="t" anchorCtr="0">
            <a:spAutoFit/>
          </a:bodyPr>
          <a:lstStyle/>
          <a:p>
            <a:pPr marL="0" lvl="0" indent="0" algn="ctr" rtl="0">
              <a:lnSpc>
                <a:spcPct val="100000"/>
              </a:lnSpc>
              <a:spcBef>
                <a:spcPts val="0"/>
              </a:spcBef>
              <a:spcAft>
                <a:spcPts val="0"/>
              </a:spcAft>
              <a:buNone/>
            </a:pPr>
            <a:r>
              <a:rPr lang="fr-FR" sz="3000" b="1">
                <a:solidFill>
                  <a:srgbClr val="FFFFFF"/>
                </a:solidFill>
                <a:latin typeface="Tahoma"/>
                <a:ea typeface="Tahoma"/>
                <a:cs typeface="Tahoma"/>
                <a:sym typeface="Tahoma"/>
              </a:rPr>
              <a:t>Strengths</a:t>
            </a:r>
            <a:endParaRPr sz="3000">
              <a:latin typeface="Tahoma"/>
              <a:ea typeface="Tahoma"/>
              <a:cs typeface="Tahoma"/>
              <a:sym typeface="Tahoma"/>
            </a:endParaRPr>
          </a:p>
        </p:txBody>
      </p:sp>
      <p:sp>
        <p:nvSpPr>
          <p:cNvPr id="294" name="Google Shape;294;p26"/>
          <p:cNvSpPr txBox="1">
            <a:spLocks noGrp="1"/>
          </p:cNvSpPr>
          <p:nvPr>
            <p:ph type="body" idx="2"/>
          </p:nvPr>
        </p:nvSpPr>
        <p:spPr>
          <a:xfrm>
            <a:off x="9829800" y="3924300"/>
            <a:ext cx="7223941" cy="2598147"/>
          </a:xfrm>
          <a:prstGeom prst="rect">
            <a:avLst/>
          </a:prstGeom>
          <a:noFill/>
          <a:ln>
            <a:noFill/>
          </a:ln>
        </p:spPr>
        <p:txBody>
          <a:bodyPr spcFirstLastPara="1" wrap="square" lIns="0" tIns="12700" rIns="0" bIns="0" anchor="t" anchorCtr="0">
            <a:spAutoFit/>
          </a:bodyPr>
          <a:lstStyle/>
          <a:p>
            <a:pPr marL="457200" lvl="0" indent="-457200" algn="l" rtl="0">
              <a:spcBef>
                <a:spcPts val="0"/>
              </a:spcBef>
              <a:spcAft>
                <a:spcPts val="0"/>
              </a:spcAft>
              <a:buClr>
                <a:schemeClr val="lt1"/>
              </a:buClr>
              <a:buSzPts val="2400"/>
              <a:buFont typeface="Arial"/>
              <a:buChar char="•"/>
            </a:pPr>
            <a:r>
              <a:rPr lang="fr-FR"/>
              <a:t>Data Preparation for parsing: Requires clean, structured logs</a:t>
            </a:r>
            <a:endParaRPr/>
          </a:p>
          <a:p>
            <a:pPr marL="457200" lvl="0" indent="-457200" algn="l" rtl="0">
              <a:spcBef>
                <a:spcPts val="0"/>
              </a:spcBef>
              <a:spcAft>
                <a:spcPts val="0"/>
              </a:spcAft>
              <a:buClr>
                <a:schemeClr val="lt1"/>
              </a:buClr>
              <a:buSzPts val="2400"/>
              <a:buFont typeface="Arial"/>
              <a:buChar char="•"/>
            </a:pPr>
            <a:r>
              <a:rPr lang="fr-FR"/>
              <a:t>AI Toolkit-data incompatibility and reliablity issues</a:t>
            </a:r>
            <a:endParaRPr/>
          </a:p>
          <a:p>
            <a:pPr marL="457200" lvl="0" indent="-457200" algn="l" rtl="0">
              <a:spcBef>
                <a:spcPts val="0"/>
              </a:spcBef>
              <a:spcAft>
                <a:spcPts val="0"/>
              </a:spcAft>
              <a:buClr>
                <a:schemeClr val="lt1"/>
              </a:buClr>
              <a:buSzPts val="2400"/>
              <a:buFont typeface="Arial"/>
              <a:buChar char="•"/>
            </a:pPr>
            <a:r>
              <a:rPr lang="fr-FR"/>
              <a:t>Skill Barrier: Advanced SPL knowledge needed</a:t>
            </a:r>
            <a:endParaRPr/>
          </a:p>
          <a:p>
            <a:pPr marL="457200" lvl="0" indent="-304800" algn="l" rtl="0">
              <a:spcBef>
                <a:spcPts val="0"/>
              </a:spcBef>
              <a:spcAft>
                <a:spcPts val="0"/>
              </a:spcAft>
              <a:buClr>
                <a:schemeClr val="lt1"/>
              </a:buClr>
              <a:buSzPts val="2400"/>
              <a:buFont typeface="Arial"/>
              <a:buNone/>
            </a:pPr>
            <a:endParaRPr/>
          </a:p>
        </p:txBody>
      </p:sp>
      <p:pic>
        <p:nvPicPr>
          <p:cNvPr id="295" name="Google Shape;295;p26"/>
          <p:cNvPicPr preferRelativeResize="0"/>
          <p:nvPr/>
        </p:nvPicPr>
        <p:blipFill rotWithShape="1">
          <a:blip r:embed="rId4">
            <a:alphaModFix/>
          </a:blip>
          <a:srcRect/>
          <a:stretch/>
        </p:blipFill>
        <p:spPr>
          <a:xfrm>
            <a:off x="9646922" y="1938331"/>
            <a:ext cx="7726497" cy="1005899"/>
          </a:xfrm>
          <a:prstGeom prst="rect">
            <a:avLst/>
          </a:prstGeom>
          <a:noFill/>
          <a:ln>
            <a:noFill/>
          </a:ln>
        </p:spPr>
      </p:pic>
      <p:sp>
        <p:nvSpPr>
          <p:cNvPr id="296" name="Google Shape;296;p26"/>
          <p:cNvSpPr txBox="1"/>
          <p:nvPr/>
        </p:nvSpPr>
        <p:spPr>
          <a:xfrm>
            <a:off x="9098461" y="1938331"/>
            <a:ext cx="7955280" cy="723274"/>
          </a:xfrm>
          <a:prstGeom prst="rect">
            <a:avLst/>
          </a:prstGeom>
          <a:noFill/>
          <a:ln>
            <a:noFill/>
          </a:ln>
        </p:spPr>
        <p:txBody>
          <a:bodyPr spcFirstLastPara="1" wrap="square" lIns="0" tIns="259075" rIns="0" bIns="0" anchor="t" anchorCtr="0">
            <a:spAutoFit/>
          </a:bodyPr>
          <a:lstStyle/>
          <a:p>
            <a:pPr marL="0" lvl="0" indent="0" algn="ctr" rtl="0">
              <a:lnSpc>
                <a:spcPct val="100000"/>
              </a:lnSpc>
              <a:spcBef>
                <a:spcPts val="0"/>
              </a:spcBef>
              <a:spcAft>
                <a:spcPts val="0"/>
              </a:spcAft>
              <a:buNone/>
            </a:pPr>
            <a:r>
              <a:rPr lang="fr-FR" sz="3000" b="1">
                <a:solidFill>
                  <a:srgbClr val="FFFFFF"/>
                </a:solidFill>
                <a:latin typeface="Tahoma"/>
                <a:ea typeface="Tahoma"/>
                <a:cs typeface="Tahoma"/>
                <a:sym typeface="Tahoma"/>
              </a:rPr>
              <a:t>Limitations</a:t>
            </a:r>
            <a:endParaRPr sz="3000">
              <a:latin typeface="Tahoma"/>
              <a:ea typeface="Tahoma"/>
              <a:cs typeface="Tahoma"/>
              <a:sym typeface="Tahom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301" name="Google Shape;301;p27"/>
          <p:cNvPicPr preferRelativeResize="0"/>
          <p:nvPr/>
        </p:nvPicPr>
        <p:blipFill rotWithShape="1">
          <a:blip r:embed="rId3">
            <a:alphaModFix/>
          </a:blip>
          <a:srcRect/>
          <a:stretch/>
        </p:blipFill>
        <p:spPr>
          <a:xfrm>
            <a:off x="1212342" y="3878197"/>
            <a:ext cx="3026699" cy="3022599"/>
          </a:xfrm>
          <a:prstGeom prst="rect">
            <a:avLst/>
          </a:prstGeom>
          <a:noFill/>
          <a:ln>
            <a:noFill/>
          </a:ln>
        </p:spPr>
      </p:pic>
      <p:sp>
        <p:nvSpPr>
          <p:cNvPr id="302" name="Google Shape;302;p27"/>
          <p:cNvSpPr/>
          <p:nvPr/>
        </p:nvSpPr>
        <p:spPr>
          <a:xfrm>
            <a:off x="6018762" y="0"/>
            <a:ext cx="28575" cy="10287000"/>
          </a:xfrm>
          <a:custGeom>
            <a:avLst/>
            <a:gdLst/>
            <a:ahLst/>
            <a:cxnLst/>
            <a:rect l="l" t="t" r="r" b="b"/>
            <a:pathLst>
              <a:path w="28575" h="10287000" extrusionOk="0">
                <a:moveTo>
                  <a:pt x="0" y="0"/>
                </a:moveTo>
                <a:lnTo>
                  <a:pt x="28574" y="0"/>
                </a:lnTo>
                <a:lnTo>
                  <a:pt x="28574" y="10286999"/>
                </a:lnTo>
                <a:lnTo>
                  <a:pt x="0" y="10286999"/>
                </a:lnTo>
                <a:lnTo>
                  <a:pt x="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03" name="Google Shape;303;p27"/>
          <p:cNvSpPr txBox="1">
            <a:spLocks noGrp="1"/>
          </p:cNvSpPr>
          <p:nvPr>
            <p:ph type="title"/>
          </p:nvPr>
        </p:nvSpPr>
        <p:spPr>
          <a:xfrm>
            <a:off x="405561" y="2147921"/>
            <a:ext cx="7357200" cy="13674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4400"/>
              <a:t>Security Recommendations</a:t>
            </a:r>
            <a:endParaRPr sz="4400"/>
          </a:p>
        </p:txBody>
      </p:sp>
      <p:sp>
        <p:nvSpPr>
          <p:cNvPr id="304" name="Google Shape;304;p27"/>
          <p:cNvSpPr txBox="1">
            <a:spLocks noGrp="1"/>
          </p:cNvSpPr>
          <p:nvPr>
            <p:ph type="body" idx="1"/>
          </p:nvPr>
        </p:nvSpPr>
        <p:spPr>
          <a:xfrm>
            <a:off x="6803216" y="1508946"/>
            <a:ext cx="11160614" cy="7422545"/>
          </a:xfrm>
          <a:prstGeom prst="rect">
            <a:avLst/>
          </a:prstGeom>
          <a:noFill/>
          <a:ln>
            <a:noFill/>
          </a:ln>
        </p:spPr>
        <p:txBody>
          <a:bodyPr spcFirstLastPara="1" wrap="square" lIns="0" tIns="218425" rIns="0" bIns="0" anchor="t" anchorCtr="0">
            <a:spAutoFit/>
          </a:bodyPr>
          <a:lstStyle/>
          <a:p>
            <a:pPr marL="457200" lvl="0" indent="-457200" algn="l" rtl="0">
              <a:spcBef>
                <a:spcPts val="0"/>
              </a:spcBef>
              <a:spcAft>
                <a:spcPts val="0"/>
              </a:spcAft>
              <a:buClr>
                <a:schemeClr val="lt1"/>
              </a:buClr>
              <a:buSzPts val="2200"/>
              <a:buFont typeface="Calibri"/>
              <a:buAutoNum type="arabicPeriod"/>
            </a:pPr>
            <a:r>
              <a:rPr lang="fr-FR" sz="2200" dirty="0" err="1"/>
              <a:t>Isolate</a:t>
            </a:r>
            <a:r>
              <a:rPr lang="fr-FR" sz="2200" dirty="0"/>
              <a:t> </a:t>
            </a:r>
            <a:r>
              <a:rPr lang="fr-FR" sz="2200" dirty="0" err="1"/>
              <a:t>infected</a:t>
            </a:r>
            <a:r>
              <a:rPr lang="fr-FR" sz="2200" dirty="0"/>
              <a:t> host (10.8.15.133) to </a:t>
            </a:r>
            <a:r>
              <a:rPr lang="fr-FR" sz="2200" dirty="0" err="1"/>
              <a:t>prevent</a:t>
            </a:r>
            <a:r>
              <a:rPr lang="fr-FR" sz="2200" dirty="0"/>
              <a:t> </a:t>
            </a:r>
            <a:r>
              <a:rPr lang="fr-FR" sz="2200" dirty="0" err="1"/>
              <a:t>further</a:t>
            </a:r>
            <a:r>
              <a:rPr lang="fr-FR" sz="2200" dirty="0"/>
              <a:t> compromise.</a:t>
            </a:r>
            <a:endParaRPr dirty="0"/>
          </a:p>
          <a:p>
            <a:pPr marL="457200" lvl="0" indent="-317500" algn="l" rtl="0">
              <a:spcBef>
                <a:spcPts val="0"/>
              </a:spcBef>
              <a:spcAft>
                <a:spcPts val="0"/>
              </a:spcAft>
              <a:buClr>
                <a:schemeClr val="lt1"/>
              </a:buClr>
              <a:buSzPts val="2200"/>
              <a:buFont typeface="Calibri"/>
              <a:buNone/>
            </a:pPr>
            <a:endParaRPr sz="2200" dirty="0"/>
          </a:p>
          <a:p>
            <a:pPr marL="457200" lvl="0" indent="-457200" algn="l" rtl="0">
              <a:spcBef>
                <a:spcPts val="0"/>
              </a:spcBef>
              <a:spcAft>
                <a:spcPts val="0"/>
              </a:spcAft>
              <a:buClr>
                <a:schemeClr val="lt1"/>
              </a:buClr>
              <a:buSzPts val="2200"/>
              <a:buFont typeface="Calibri"/>
              <a:buAutoNum type="arabicPeriod"/>
            </a:pPr>
            <a:r>
              <a:rPr lang="fr-FR" sz="2200" dirty="0"/>
              <a:t> Block </a:t>
            </a:r>
            <a:r>
              <a:rPr lang="fr-FR" sz="2200" dirty="0" err="1"/>
              <a:t>identified</a:t>
            </a:r>
            <a:r>
              <a:rPr lang="fr-FR" sz="2200" dirty="0"/>
              <a:t> Attack infrastructure by </a:t>
            </a:r>
            <a:r>
              <a:rPr lang="fr-FR" sz="2200" dirty="0" err="1"/>
              <a:t>implementing</a:t>
            </a:r>
            <a:r>
              <a:rPr lang="fr-FR" sz="2200" dirty="0"/>
              <a:t> firewall </a:t>
            </a:r>
            <a:r>
              <a:rPr lang="fr-FR" sz="2200" dirty="0" err="1"/>
              <a:t>rules</a:t>
            </a:r>
            <a:r>
              <a:rPr lang="fr-FR" sz="2200" dirty="0"/>
              <a:t> for 72.5.43.29,23.205.110.48, 23.33.138.184, and 60+ </a:t>
            </a:r>
            <a:r>
              <a:rPr lang="fr-FR" sz="2200" dirty="0" err="1"/>
              <a:t>additional</a:t>
            </a:r>
            <a:r>
              <a:rPr lang="fr-FR" sz="2200" dirty="0"/>
              <a:t> </a:t>
            </a:r>
            <a:r>
              <a:rPr lang="fr-FR" sz="2200" dirty="0" err="1"/>
              <a:t>malicious</a:t>
            </a:r>
            <a:r>
              <a:rPr lang="fr-FR" sz="2200" dirty="0"/>
              <a:t> </a:t>
            </a:r>
            <a:r>
              <a:rPr lang="fr-FR" sz="2200" dirty="0" err="1"/>
              <a:t>IPs</a:t>
            </a:r>
            <a:r>
              <a:rPr lang="fr-FR" sz="2200" dirty="0"/>
              <a:t>.</a:t>
            </a:r>
            <a:endParaRPr dirty="0"/>
          </a:p>
          <a:p>
            <a:pPr marL="457200" lvl="0" indent="-317500" algn="l" rtl="0">
              <a:spcBef>
                <a:spcPts val="0"/>
              </a:spcBef>
              <a:spcAft>
                <a:spcPts val="0"/>
              </a:spcAft>
              <a:buClr>
                <a:schemeClr val="lt1"/>
              </a:buClr>
              <a:buSzPts val="2200"/>
              <a:buFont typeface="Calibri"/>
              <a:buNone/>
            </a:pPr>
            <a:endParaRPr sz="2200" dirty="0"/>
          </a:p>
          <a:p>
            <a:pPr marL="457200" lvl="0" indent="-457200" algn="l" rtl="0">
              <a:spcBef>
                <a:spcPts val="0"/>
              </a:spcBef>
              <a:spcAft>
                <a:spcPts val="0"/>
              </a:spcAft>
              <a:buClr>
                <a:schemeClr val="lt1"/>
              </a:buClr>
              <a:buSzPts val="2200"/>
              <a:buFont typeface="Calibri"/>
              <a:buAutoNum type="arabicPeriod"/>
            </a:pPr>
            <a:r>
              <a:rPr lang="fr-FR" sz="2200" dirty="0" err="1"/>
              <a:t>Investigate</a:t>
            </a:r>
            <a:r>
              <a:rPr lang="fr-FR" sz="2200" dirty="0"/>
              <a:t> </a:t>
            </a:r>
            <a:r>
              <a:rPr lang="fr-FR" sz="2200" dirty="0" err="1"/>
              <a:t>domain</a:t>
            </a:r>
            <a:r>
              <a:rPr lang="fr-FR" sz="2200" dirty="0"/>
              <a:t> </a:t>
            </a:r>
            <a:r>
              <a:rPr lang="fr-FR" sz="2200" dirty="0" err="1"/>
              <a:t>controller</a:t>
            </a:r>
            <a:r>
              <a:rPr lang="fr-FR" sz="2200" dirty="0"/>
              <a:t> (10.8.15.4) for </a:t>
            </a:r>
            <a:r>
              <a:rPr lang="fr-FR" sz="2200" dirty="0" err="1"/>
              <a:t>movement</a:t>
            </a:r>
            <a:r>
              <a:rPr lang="fr-FR" sz="2200" dirty="0"/>
              <a:t> </a:t>
            </a:r>
            <a:r>
              <a:rPr lang="fr-FR" sz="2200" dirty="0" err="1"/>
              <a:t>evidence</a:t>
            </a:r>
            <a:r>
              <a:rPr lang="fr-FR" sz="2200" dirty="0"/>
              <a:t>.</a:t>
            </a:r>
            <a:endParaRPr dirty="0"/>
          </a:p>
          <a:p>
            <a:pPr marL="457200" lvl="0" indent="-317500" algn="l" rtl="0">
              <a:spcBef>
                <a:spcPts val="0"/>
              </a:spcBef>
              <a:spcAft>
                <a:spcPts val="0"/>
              </a:spcAft>
              <a:buClr>
                <a:schemeClr val="lt1"/>
              </a:buClr>
              <a:buSzPts val="2200"/>
              <a:buFont typeface="Calibri"/>
              <a:buNone/>
            </a:pPr>
            <a:endParaRPr sz="2200" dirty="0"/>
          </a:p>
          <a:p>
            <a:pPr marL="457200" lvl="0" indent="-457200" algn="l" rtl="0">
              <a:spcBef>
                <a:spcPts val="0"/>
              </a:spcBef>
              <a:spcAft>
                <a:spcPts val="0"/>
              </a:spcAft>
              <a:buClr>
                <a:schemeClr val="lt1"/>
              </a:buClr>
              <a:buSzPts val="2200"/>
              <a:buFont typeface="Calibri"/>
              <a:buAutoNum type="arabicPeriod"/>
            </a:pPr>
            <a:r>
              <a:rPr lang="fr-FR" sz="2200" dirty="0" err="1"/>
              <a:t>Encrypted</a:t>
            </a:r>
            <a:r>
              <a:rPr lang="fr-FR" sz="2200" dirty="0"/>
              <a:t> Traffic Profiling for QUIC and TLSv1.3 to </a:t>
            </a:r>
            <a:r>
              <a:rPr lang="fr-FR" sz="2200" dirty="0" err="1"/>
              <a:t>external</a:t>
            </a:r>
            <a:r>
              <a:rPr lang="fr-FR" sz="2200" dirty="0"/>
              <a:t> destinations. </a:t>
            </a:r>
            <a:r>
              <a:rPr lang="fr-FR" sz="2200" dirty="0" err="1"/>
              <a:t>Packet</a:t>
            </a:r>
            <a:r>
              <a:rPr lang="fr-FR" sz="2200" dirty="0"/>
              <a:t> contents </a:t>
            </a:r>
            <a:r>
              <a:rPr lang="fr-FR" sz="2200" dirty="0" err="1"/>
              <a:t>can’t</a:t>
            </a:r>
            <a:r>
              <a:rPr lang="fr-FR" sz="2200" dirty="0"/>
              <a:t> </a:t>
            </a:r>
            <a:r>
              <a:rPr lang="fr-FR" sz="2200" dirty="0" err="1"/>
              <a:t>be</a:t>
            </a:r>
            <a:r>
              <a:rPr lang="fr-FR" sz="2200" dirty="0"/>
              <a:t> </a:t>
            </a:r>
            <a:r>
              <a:rPr lang="fr-FR" sz="2200" dirty="0" err="1"/>
              <a:t>inspected</a:t>
            </a:r>
            <a:r>
              <a:rPr lang="fr-FR" sz="2200" dirty="0"/>
              <a:t> but </a:t>
            </a:r>
            <a:r>
              <a:rPr lang="fr-FR" sz="2200" dirty="0" err="1"/>
              <a:t>metadata</a:t>
            </a:r>
            <a:r>
              <a:rPr lang="fr-FR" sz="2200" dirty="0"/>
              <a:t> can </a:t>
            </a:r>
            <a:r>
              <a:rPr lang="fr-FR" sz="2200" dirty="0" err="1"/>
              <a:t>identify</a:t>
            </a:r>
            <a:r>
              <a:rPr lang="fr-FR" sz="2200" dirty="0"/>
              <a:t> </a:t>
            </a:r>
            <a:r>
              <a:rPr lang="fr-FR" sz="2200" dirty="0" err="1"/>
              <a:t>anomalous</a:t>
            </a:r>
            <a:r>
              <a:rPr lang="fr-FR" sz="2200" dirty="0"/>
              <a:t> </a:t>
            </a:r>
            <a:r>
              <a:rPr lang="fr-FR" sz="2200" dirty="0" err="1"/>
              <a:t>encrypted</a:t>
            </a:r>
            <a:r>
              <a:rPr lang="fr-FR" sz="2200" dirty="0"/>
              <a:t> channels.</a:t>
            </a:r>
            <a:endParaRPr sz="2200" dirty="0"/>
          </a:p>
          <a:p>
            <a:pPr marL="457200" lvl="0" indent="-317500" algn="l" rtl="0">
              <a:spcBef>
                <a:spcPts val="0"/>
              </a:spcBef>
              <a:spcAft>
                <a:spcPts val="0"/>
              </a:spcAft>
              <a:buClr>
                <a:schemeClr val="lt1"/>
              </a:buClr>
              <a:buSzPts val="2200"/>
              <a:buFont typeface="Calibri"/>
              <a:buNone/>
            </a:pPr>
            <a:endParaRPr sz="2200" dirty="0"/>
          </a:p>
          <a:p>
            <a:pPr marL="457200" lvl="0" indent="-457200" algn="l" rtl="0">
              <a:spcBef>
                <a:spcPts val="0"/>
              </a:spcBef>
              <a:spcAft>
                <a:spcPts val="0"/>
              </a:spcAft>
              <a:buClr>
                <a:schemeClr val="lt1"/>
              </a:buClr>
              <a:buSzPts val="2200"/>
              <a:buFont typeface="Calibri"/>
              <a:buAutoNum type="arabicPeriod"/>
            </a:pPr>
            <a:r>
              <a:rPr lang="fr-FR" sz="2200" dirty="0" err="1"/>
              <a:t>Query</a:t>
            </a:r>
            <a:r>
              <a:rPr lang="fr-FR" sz="2200" dirty="0"/>
              <a:t> </a:t>
            </a:r>
            <a:r>
              <a:rPr lang="fr-FR" sz="2200" dirty="0" err="1"/>
              <a:t>Depth</a:t>
            </a:r>
            <a:r>
              <a:rPr lang="fr-FR" sz="2200" dirty="0"/>
              <a:t> Monitoring by </a:t>
            </a:r>
            <a:r>
              <a:rPr lang="fr-FR" sz="2200" dirty="0" err="1"/>
              <a:t>tracking</a:t>
            </a:r>
            <a:r>
              <a:rPr lang="fr-FR" sz="2200" dirty="0"/>
              <a:t> </a:t>
            </a:r>
            <a:r>
              <a:rPr lang="fr-FR" sz="2200" dirty="0" err="1"/>
              <a:t>query</a:t>
            </a:r>
            <a:r>
              <a:rPr lang="fr-FR" sz="2200" dirty="0"/>
              <a:t> sizes and </a:t>
            </a:r>
            <a:r>
              <a:rPr lang="fr-FR" sz="2200" dirty="0" err="1"/>
              <a:t>responses</a:t>
            </a:r>
            <a:r>
              <a:rPr lang="fr-FR" sz="2200" dirty="0"/>
              <a:t>.</a:t>
            </a:r>
            <a:endParaRPr dirty="0"/>
          </a:p>
          <a:p>
            <a:pPr marL="457200" lvl="0" indent="-317500" algn="l" rtl="0">
              <a:spcBef>
                <a:spcPts val="0"/>
              </a:spcBef>
              <a:spcAft>
                <a:spcPts val="0"/>
              </a:spcAft>
              <a:buClr>
                <a:schemeClr val="lt1"/>
              </a:buClr>
              <a:buSzPts val="2200"/>
              <a:buFont typeface="Calibri"/>
              <a:buNone/>
            </a:pPr>
            <a:endParaRPr sz="2200" dirty="0"/>
          </a:p>
          <a:p>
            <a:pPr marL="457200" lvl="0" indent="-457200" algn="l" rtl="0">
              <a:spcBef>
                <a:spcPts val="0"/>
              </a:spcBef>
              <a:spcAft>
                <a:spcPts val="0"/>
              </a:spcAft>
              <a:buClr>
                <a:schemeClr val="lt1"/>
              </a:buClr>
              <a:buSzPts val="2200"/>
              <a:buFont typeface="Calibri"/>
              <a:buAutoNum type="arabicPeriod"/>
            </a:pPr>
            <a:r>
              <a:rPr lang="fr-FR" sz="2200" dirty="0"/>
              <a:t>Protocol Abuse </a:t>
            </a:r>
            <a:r>
              <a:rPr lang="fr-FR" sz="2200" dirty="0" err="1"/>
              <a:t>Detection</a:t>
            </a:r>
            <a:r>
              <a:rPr lang="fr-FR" sz="2200" dirty="0"/>
              <a:t> by monitoring non-web </a:t>
            </a:r>
            <a:r>
              <a:rPr lang="fr-FR" sz="2200" dirty="0" err="1"/>
              <a:t>protocols</a:t>
            </a:r>
            <a:r>
              <a:rPr lang="fr-FR" sz="2200" dirty="0"/>
              <a:t> (</a:t>
            </a:r>
            <a:r>
              <a:rPr lang="fr-FR" sz="2200" dirty="0" err="1"/>
              <a:t>e.g</a:t>
            </a:r>
            <a:r>
              <a:rPr lang="fr-FR" sz="2200" dirty="0"/>
              <a:t> OCSP) for </a:t>
            </a:r>
            <a:r>
              <a:rPr lang="fr-FR" sz="2200" dirty="0" err="1"/>
              <a:t>anomalous</a:t>
            </a:r>
            <a:r>
              <a:rPr lang="fr-FR" sz="2200" dirty="0"/>
              <a:t> </a:t>
            </a:r>
            <a:r>
              <a:rPr lang="fr-FR" sz="2200" dirty="0" err="1"/>
              <a:t>payload</a:t>
            </a:r>
            <a:r>
              <a:rPr lang="fr-FR" sz="2200" dirty="0"/>
              <a:t> sizes.</a:t>
            </a:r>
            <a:endParaRPr dirty="0"/>
          </a:p>
          <a:p>
            <a:pPr marL="457200" lvl="0" indent="-317500" algn="l" rtl="0">
              <a:spcBef>
                <a:spcPts val="0"/>
              </a:spcBef>
              <a:spcAft>
                <a:spcPts val="0"/>
              </a:spcAft>
              <a:buClr>
                <a:schemeClr val="lt1"/>
              </a:buClr>
              <a:buSzPts val="2200"/>
              <a:buFont typeface="Calibri"/>
              <a:buNone/>
            </a:pPr>
            <a:endParaRPr sz="2200" dirty="0"/>
          </a:p>
          <a:p>
            <a:pPr marL="457200" lvl="0" indent="-457200" algn="l" rtl="0">
              <a:spcBef>
                <a:spcPts val="0"/>
              </a:spcBef>
              <a:spcAft>
                <a:spcPts val="0"/>
              </a:spcAft>
              <a:buClr>
                <a:schemeClr val="lt1"/>
              </a:buClr>
              <a:buSzPts val="2200"/>
              <a:buFont typeface="Calibri"/>
              <a:buAutoNum type="arabicPeriod"/>
            </a:pPr>
            <a:r>
              <a:rPr lang="fr-FR" sz="2200" dirty="0" err="1"/>
              <a:t>Lateral</a:t>
            </a:r>
            <a:r>
              <a:rPr lang="fr-FR" sz="2200" dirty="0"/>
              <a:t> </a:t>
            </a:r>
            <a:r>
              <a:rPr lang="fr-FR" sz="2200" dirty="0" err="1"/>
              <a:t>Movement</a:t>
            </a:r>
            <a:r>
              <a:rPr lang="fr-FR" sz="2200" dirty="0"/>
              <a:t> Baseline by </a:t>
            </a:r>
            <a:r>
              <a:rPr lang="fr-FR" sz="2200" dirty="0" err="1"/>
              <a:t>establishing</a:t>
            </a:r>
            <a:r>
              <a:rPr lang="fr-FR" sz="2200" dirty="0"/>
              <a:t> communication </a:t>
            </a:r>
            <a:r>
              <a:rPr lang="fr-FR" sz="2200" dirty="0" err="1"/>
              <a:t>baselines</a:t>
            </a:r>
            <a:r>
              <a:rPr lang="fr-FR" sz="2200" dirty="0"/>
              <a:t> for LDAP,SMB, and DCERPC </a:t>
            </a:r>
            <a:r>
              <a:rPr lang="fr-FR" sz="2200" dirty="0" err="1"/>
              <a:t>traffic</a:t>
            </a:r>
            <a:r>
              <a:rPr lang="fr-FR" sz="2200" dirty="0"/>
              <a:t> and </a:t>
            </a:r>
            <a:r>
              <a:rPr lang="fr-FR" sz="2200" dirty="0" err="1"/>
              <a:t>any</a:t>
            </a:r>
            <a:r>
              <a:rPr lang="fr-FR" sz="2200" dirty="0"/>
              <a:t> </a:t>
            </a:r>
            <a:r>
              <a:rPr lang="fr-FR" sz="2200" dirty="0" err="1"/>
              <a:t>deviation</a:t>
            </a:r>
            <a:r>
              <a:rPr lang="fr-FR" sz="2200" dirty="0"/>
              <a:t> </a:t>
            </a:r>
            <a:r>
              <a:rPr lang="fr-FR" sz="2200" dirty="0" err="1"/>
              <a:t>from</a:t>
            </a:r>
            <a:r>
              <a:rPr lang="fr-FR" sz="2200" dirty="0"/>
              <a:t> normal patterns </a:t>
            </a:r>
            <a:r>
              <a:rPr lang="fr-FR" sz="2200" dirty="0" err="1"/>
              <a:t>involving</a:t>
            </a:r>
            <a:r>
              <a:rPr lang="fr-FR" sz="2200" dirty="0"/>
              <a:t> the </a:t>
            </a:r>
            <a:r>
              <a:rPr lang="fr-FR" sz="2200" dirty="0" err="1"/>
              <a:t>infected</a:t>
            </a:r>
            <a:r>
              <a:rPr lang="fr-FR" sz="2200" dirty="0"/>
              <a:t> host </a:t>
            </a:r>
            <a:r>
              <a:rPr lang="fr-FR" sz="2200" dirty="0" err="1"/>
              <a:t>should</a:t>
            </a:r>
            <a:r>
              <a:rPr lang="fr-FR" sz="2200" dirty="0"/>
              <a:t> trigger </a:t>
            </a:r>
            <a:r>
              <a:rPr lang="fr-FR" sz="2200" dirty="0" err="1"/>
              <a:t>immediate</a:t>
            </a:r>
            <a:r>
              <a:rPr lang="fr-FR" sz="2200" dirty="0"/>
              <a:t> </a:t>
            </a:r>
            <a:r>
              <a:rPr lang="fr-FR" sz="2200" dirty="0" err="1"/>
              <a:t>containment</a:t>
            </a:r>
            <a:r>
              <a:rPr lang="fr-FR" sz="2200" dirty="0"/>
              <a:t>.</a:t>
            </a:r>
            <a:br>
              <a:rPr lang="fr-FR" dirty="0"/>
            </a:br>
            <a:endParaRPr sz="2800" dirty="0"/>
          </a:p>
        </p:txBody>
      </p:sp>
      <p:sp>
        <p:nvSpPr>
          <p:cNvPr id="305" name="Google Shape;305;p27"/>
          <p:cNvSpPr txBox="1"/>
          <p:nvPr/>
        </p:nvSpPr>
        <p:spPr>
          <a:xfrm>
            <a:off x="2215243" y="4604667"/>
            <a:ext cx="1061357" cy="156966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9600" b="1">
                <a:solidFill>
                  <a:schemeClr val="lt1"/>
                </a:solidFill>
              </a:rPr>
              <a:t>&gt;</a:t>
            </a:r>
            <a:r>
              <a:rPr lang="fr-FR" sz="1800" b="1"/>
              <a:t> </a:t>
            </a:r>
            <a:endParaRPr sz="1800"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310" name="Google Shape;310;p28"/>
          <p:cNvPicPr preferRelativeResize="0"/>
          <p:nvPr/>
        </p:nvPicPr>
        <p:blipFill rotWithShape="1">
          <a:blip r:embed="rId3">
            <a:alphaModFix/>
          </a:blip>
          <a:srcRect/>
          <a:stretch/>
        </p:blipFill>
        <p:spPr>
          <a:xfrm>
            <a:off x="0" y="1"/>
            <a:ext cx="247970" cy="10286999"/>
          </a:xfrm>
          <a:prstGeom prst="rect">
            <a:avLst/>
          </a:prstGeom>
          <a:noFill/>
          <a:ln>
            <a:noFill/>
          </a:ln>
        </p:spPr>
      </p:pic>
      <p:sp>
        <p:nvSpPr>
          <p:cNvPr id="311" name="Google Shape;311;p28"/>
          <p:cNvSpPr txBox="1"/>
          <p:nvPr/>
        </p:nvSpPr>
        <p:spPr>
          <a:xfrm>
            <a:off x="7003999" y="2124875"/>
            <a:ext cx="4279800" cy="1078200"/>
          </a:xfrm>
          <a:prstGeom prst="rect">
            <a:avLst/>
          </a:prstGeom>
          <a:noFill/>
          <a:ln>
            <a:noFill/>
          </a:ln>
        </p:spPr>
        <p:txBody>
          <a:bodyPr spcFirstLastPara="1" wrap="square" lIns="0" tIns="153025" rIns="0" bIns="0" anchor="t" anchorCtr="0">
            <a:spAutoFit/>
          </a:bodyPr>
          <a:lstStyle/>
          <a:p>
            <a:pPr marL="12700" marR="5080" lvl="0" indent="0" algn="l" rtl="0">
              <a:lnSpc>
                <a:spcPct val="102000"/>
              </a:lnSpc>
              <a:spcBef>
                <a:spcPts val="0"/>
              </a:spcBef>
              <a:spcAft>
                <a:spcPts val="0"/>
              </a:spcAft>
              <a:buNone/>
            </a:pPr>
            <a:r>
              <a:rPr lang="fr-FR" sz="6000" b="1">
                <a:solidFill>
                  <a:srgbClr val="FFFFFF"/>
                </a:solidFill>
                <a:latin typeface="Tahoma"/>
                <a:ea typeface="Tahoma"/>
                <a:cs typeface="Tahoma"/>
                <a:sym typeface="Tahoma"/>
              </a:rPr>
              <a:t>Conclusion</a:t>
            </a:r>
            <a:endParaRPr sz="6000">
              <a:latin typeface="Tahoma"/>
              <a:ea typeface="Tahoma"/>
              <a:cs typeface="Tahoma"/>
              <a:sym typeface="Tahoma"/>
            </a:endParaRPr>
          </a:p>
        </p:txBody>
      </p:sp>
      <p:sp>
        <p:nvSpPr>
          <p:cNvPr id="312" name="Google Shape;312;p28"/>
          <p:cNvSpPr txBox="1"/>
          <p:nvPr/>
        </p:nvSpPr>
        <p:spPr>
          <a:xfrm>
            <a:off x="3867701" y="3527475"/>
            <a:ext cx="10986300" cy="4058400"/>
          </a:xfrm>
          <a:prstGeom prst="rect">
            <a:avLst/>
          </a:prstGeom>
          <a:noFill/>
          <a:ln>
            <a:noFill/>
          </a:ln>
        </p:spPr>
        <p:txBody>
          <a:bodyPr spcFirstLastPara="1" wrap="square" lIns="0" tIns="12700" rIns="0" bIns="0" anchor="t" anchorCtr="0">
            <a:spAutoFit/>
          </a:bodyPr>
          <a:lstStyle/>
          <a:p>
            <a:pPr marL="0" lvl="0" indent="0" algn="l" rtl="0">
              <a:spcBef>
                <a:spcPts val="0"/>
              </a:spcBef>
              <a:spcAft>
                <a:spcPts val="0"/>
              </a:spcAft>
              <a:buNone/>
            </a:pPr>
            <a:endParaRPr sz="2000" b="1" dirty="0">
              <a:solidFill>
                <a:schemeClr val="lt1"/>
              </a:solidFill>
              <a:latin typeface="Verdana"/>
              <a:ea typeface="Verdana"/>
              <a:cs typeface="Verdana"/>
              <a:sym typeface="Verdana"/>
            </a:endParaRPr>
          </a:p>
          <a:p>
            <a:pPr marL="0" lvl="0" indent="0" algn="l" rtl="0">
              <a:spcBef>
                <a:spcPts val="0"/>
              </a:spcBef>
              <a:spcAft>
                <a:spcPts val="0"/>
              </a:spcAft>
              <a:buNone/>
            </a:pPr>
            <a:endParaRPr sz="2200" b="1" dirty="0">
              <a:solidFill>
                <a:schemeClr val="lt1"/>
              </a:solidFill>
              <a:latin typeface="Verdana"/>
              <a:ea typeface="Verdana"/>
              <a:cs typeface="Verdana"/>
              <a:sym typeface="Verdana"/>
            </a:endParaRPr>
          </a:p>
          <a:p>
            <a:pPr marL="0" lvl="0" indent="0" algn="l" rtl="0">
              <a:spcBef>
                <a:spcPts val="0"/>
              </a:spcBef>
              <a:spcAft>
                <a:spcPts val="0"/>
              </a:spcAft>
              <a:buNone/>
            </a:pPr>
            <a:endParaRPr sz="2200" dirty="0">
              <a:solidFill>
                <a:schemeClr val="lt1"/>
              </a:solidFill>
              <a:latin typeface="Verdana"/>
              <a:ea typeface="Verdana"/>
              <a:cs typeface="Verdana"/>
              <a:sym typeface="Verdana"/>
            </a:endParaRPr>
          </a:p>
          <a:p>
            <a:pPr marL="0" lvl="0" indent="0" algn="l" rtl="0">
              <a:spcBef>
                <a:spcPts val="0"/>
              </a:spcBef>
              <a:spcAft>
                <a:spcPts val="0"/>
              </a:spcAft>
              <a:buNone/>
            </a:pPr>
            <a:r>
              <a:rPr lang="fr-FR" sz="2200" b="1" dirty="0">
                <a:solidFill>
                  <a:schemeClr val="lt1"/>
                </a:solidFill>
                <a:latin typeface="Verdana"/>
                <a:ea typeface="Verdana"/>
                <a:cs typeface="Verdana"/>
                <a:sym typeface="Verdana"/>
              </a:rPr>
              <a:t>Splunk </a:t>
            </a:r>
            <a:r>
              <a:rPr lang="fr-FR" sz="2200" b="1" dirty="0" err="1">
                <a:solidFill>
                  <a:schemeClr val="lt1"/>
                </a:solidFill>
                <a:latin typeface="Verdana"/>
                <a:ea typeface="Verdana"/>
                <a:cs typeface="Verdana"/>
                <a:sym typeface="Verdana"/>
              </a:rPr>
              <a:t>found</a:t>
            </a:r>
            <a:r>
              <a:rPr lang="fr-FR" sz="2200" b="1" dirty="0">
                <a:solidFill>
                  <a:schemeClr val="lt1"/>
                </a:solidFill>
                <a:latin typeface="Verdana"/>
                <a:ea typeface="Verdana"/>
                <a:cs typeface="Verdana"/>
                <a:sym typeface="Verdana"/>
              </a:rPr>
              <a:t> 65% more </a:t>
            </a:r>
            <a:r>
              <a:rPr lang="fr-FR" sz="2200" b="1" dirty="0" err="1">
                <a:solidFill>
                  <a:schemeClr val="lt1"/>
                </a:solidFill>
                <a:latin typeface="Verdana"/>
                <a:ea typeface="Verdana"/>
                <a:cs typeface="Verdana"/>
                <a:sym typeface="Verdana"/>
              </a:rPr>
              <a:t>threats</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than</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existing</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alerts</a:t>
            </a:r>
            <a:r>
              <a:rPr lang="fr-FR" sz="2200" b="1" dirty="0">
                <a:solidFill>
                  <a:schemeClr val="lt1"/>
                </a:solidFill>
                <a:latin typeface="Verdana"/>
                <a:ea typeface="Verdana"/>
                <a:cs typeface="Verdana"/>
                <a:sym typeface="Verdana"/>
              </a:rPr>
              <a:t> and not </a:t>
            </a:r>
            <a:r>
              <a:rPr lang="fr-FR" sz="2200" b="1" dirty="0" err="1">
                <a:solidFill>
                  <a:schemeClr val="lt1"/>
                </a:solidFill>
                <a:latin typeface="Verdana"/>
                <a:ea typeface="Verdana"/>
                <a:cs typeface="Verdana"/>
                <a:sym typeface="Verdana"/>
              </a:rPr>
              <a:t>just</a:t>
            </a:r>
            <a:r>
              <a:rPr lang="fr-FR" sz="2200" b="1" dirty="0">
                <a:solidFill>
                  <a:schemeClr val="lt1"/>
                </a:solidFill>
                <a:latin typeface="Verdana"/>
                <a:ea typeface="Verdana"/>
                <a:cs typeface="Verdana"/>
                <a:sym typeface="Verdana"/>
              </a:rPr>
              <a:t> more of the </a:t>
            </a:r>
            <a:r>
              <a:rPr lang="fr-FR" sz="2200" b="1" dirty="0" err="1">
                <a:solidFill>
                  <a:schemeClr val="lt1"/>
                </a:solidFill>
                <a:latin typeface="Verdana"/>
                <a:ea typeface="Verdana"/>
                <a:cs typeface="Verdana"/>
                <a:sym typeface="Verdana"/>
              </a:rPr>
              <a:t>same</a:t>
            </a:r>
            <a:r>
              <a:rPr lang="fr-FR" sz="2200" b="1" dirty="0">
                <a:solidFill>
                  <a:schemeClr val="lt1"/>
                </a:solidFill>
                <a:latin typeface="Verdana"/>
                <a:ea typeface="Verdana"/>
                <a:cs typeface="Verdana"/>
                <a:sym typeface="Verdana"/>
              </a:rPr>
              <a:t>, but </a:t>
            </a:r>
            <a:r>
              <a:rPr lang="fr-FR" sz="2200" b="1" dirty="0" err="1">
                <a:solidFill>
                  <a:schemeClr val="lt1"/>
                </a:solidFill>
                <a:latin typeface="Verdana"/>
                <a:ea typeface="Verdana"/>
                <a:cs typeface="Verdana"/>
                <a:sym typeface="Verdana"/>
              </a:rPr>
              <a:t>entire</a:t>
            </a:r>
            <a:r>
              <a:rPr lang="fr-FR" sz="2200" b="1" dirty="0">
                <a:solidFill>
                  <a:schemeClr val="lt1"/>
                </a:solidFill>
                <a:latin typeface="Verdana"/>
                <a:ea typeface="Verdana"/>
                <a:cs typeface="Verdana"/>
                <a:sym typeface="Verdana"/>
              </a:rPr>
              <a:t> new </a:t>
            </a:r>
            <a:r>
              <a:rPr lang="fr-FR" sz="2200" b="1" dirty="0" err="1">
                <a:solidFill>
                  <a:schemeClr val="lt1"/>
                </a:solidFill>
                <a:latin typeface="Verdana"/>
                <a:ea typeface="Verdana"/>
                <a:cs typeface="Verdana"/>
                <a:sym typeface="Verdana"/>
              </a:rPr>
              <a:t>categories</a:t>
            </a:r>
            <a:r>
              <a:rPr lang="fr-FR" sz="2200" b="1" dirty="0">
                <a:solidFill>
                  <a:schemeClr val="lt1"/>
                </a:solidFill>
                <a:latin typeface="Verdana"/>
                <a:ea typeface="Verdana"/>
                <a:cs typeface="Verdana"/>
                <a:sym typeface="Verdana"/>
              </a:rPr>
              <a:t> of </a:t>
            </a:r>
            <a:r>
              <a:rPr lang="fr-FR" sz="2200" b="1" dirty="0" err="1">
                <a:solidFill>
                  <a:schemeClr val="lt1"/>
                </a:solidFill>
                <a:latin typeface="Verdana"/>
                <a:ea typeface="Verdana"/>
                <a:cs typeface="Verdana"/>
                <a:sym typeface="Verdana"/>
              </a:rPr>
              <a:t>threats</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which</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is</a:t>
            </a:r>
            <a:r>
              <a:rPr lang="fr-FR" sz="2200" b="1" dirty="0">
                <a:solidFill>
                  <a:schemeClr val="lt1"/>
                </a:solidFill>
                <a:latin typeface="Verdana"/>
                <a:ea typeface="Verdana"/>
                <a:cs typeface="Verdana"/>
                <a:sym typeface="Verdana"/>
              </a:rPr>
              <a:t> essential in an </a:t>
            </a:r>
            <a:r>
              <a:rPr lang="fr-FR" sz="2200" b="1" dirty="0" err="1">
                <a:solidFill>
                  <a:schemeClr val="lt1"/>
                </a:solidFill>
                <a:latin typeface="Verdana"/>
                <a:ea typeface="Verdana"/>
                <a:cs typeface="Verdana"/>
                <a:sym typeface="Verdana"/>
              </a:rPr>
              <a:t>environment</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where</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this</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level</a:t>
            </a:r>
            <a:r>
              <a:rPr lang="fr-FR" sz="2200" b="1" dirty="0">
                <a:solidFill>
                  <a:schemeClr val="lt1"/>
                </a:solidFill>
                <a:latin typeface="Verdana"/>
                <a:ea typeface="Verdana"/>
                <a:cs typeface="Verdana"/>
                <a:sym typeface="Verdana"/>
              </a:rPr>
              <a:t> of </a:t>
            </a:r>
            <a:r>
              <a:rPr lang="fr-FR" sz="2200" b="1" dirty="0" err="1">
                <a:solidFill>
                  <a:schemeClr val="lt1"/>
                </a:solidFill>
                <a:latin typeface="Verdana"/>
                <a:ea typeface="Verdana"/>
                <a:cs typeface="Verdana"/>
                <a:sym typeface="Verdana"/>
              </a:rPr>
              <a:t>visibility</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is</a:t>
            </a:r>
            <a:r>
              <a:rPr lang="fr-FR" sz="2200" b="1" dirty="0">
                <a:solidFill>
                  <a:schemeClr val="lt1"/>
                </a:solidFill>
                <a:latin typeface="Verdana"/>
                <a:ea typeface="Verdana"/>
                <a:cs typeface="Verdana"/>
                <a:sym typeface="Verdana"/>
              </a:rPr>
              <a:t> no longer </a:t>
            </a:r>
            <a:r>
              <a:rPr lang="fr-FR" sz="2200" b="1" dirty="0" err="1">
                <a:solidFill>
                  <a:schemeClr val="lt1"/>
                </a:solidFill>
                <a:latin typeface="Verdana"/>
                <a:ea typeface="Verdana"/>
                <a:cs typeface="Verdana"/>
                <a:sym typeface="Verdana"/>
              </a:rPr>
              <a:t>optional</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Finally</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we</a:t>
            </a:r>
            <a:r>
              <a:rPr lang="fr-FR" sz="2200" b="1" dirty="0">
                <a:solidFill>
                  <a:schemeClr val="lt1"/>
                </a:solidFill>
                <a:latin typeface="Verdana"/>
                <a:ea typeface="Verdana"/>
                <a:cs typeface="Verdana"/>
                <a:sym typeface="Verdana"/>
              </a:rPr>
              <a:t> can </a:t>
            </a:r>
            <a:r>
              <a:rPr lang="fr-FR" sz="2200" b="1" dirty="0" err="1">
                <a:solidFill>
                  <a:schemeClr val="lt1"/>
                </a:solidFill>
                <a:latin typeface="Verdana"/>
                <a:ea typeface="Verdana"/>
                <a:cs typeface="Verdana"/>
                <a:sym typeface="Verdana"/>
              </a:rPr>
              <a:t>conclude</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that</a:t>
            </a:r>
            <a:r>
              <a:rPr lang="fr-FR" sz="2200" b="1" dirty="0">
                <a:solidFill>
                  <a:schemeClr val="lt1"/>
                </a:solidFill>
                <a:latin typeface="Verdana"/>
                <a:ea typeface="Verdana"/>
                <a:cs typeface="Verdana"/>
                <a:sym typeface="Verdana"/>
              </a:rPr>
              <a:t> the </a:t>
            </a:r>
            <a:r>
              <a:rPr lang="fr-FR" sz="2200" b="1" dirty="0" err="1">
                <a:solidFill>
                  <a:schemeClr val="lt1"/>
                </a:solidFill>
                <a:latin typeface="Verdana"/>
                <a:ea typeface="Verdana"/>
                <a:cs typeface="Verdana"/>
                <a:sym typeface="Verdana"/>
              </a:rPr>
              <a:t>platform’s</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true</a:t>
            </a:r>
            <a:r>
              <a:rPr lang="fr-FR" sz="2200" b="1" dirty="0">
                <a:solidFill>
                  <a:schemeClr val="lt1"/>
                </a:solidFill>
                <a:latin typeface="Verdana"/>
                <a:ea typeface="Verdana"/>
                <a:cs typeface="Verdana"/>
                <a:sym typeface="Verdana"/>
              </a:rPr>
              <a:t> value lies not in </a:t>
            </a:r>
            <a:r>
              <a:rPr lang="fr-FR" sz="2200" b="1" dirty="0" err="1">
                <a:solidFill>
                  <a:schemeClr val="lt1"/>
                </a:solidFill>
                <a:latin typeface="Verdana"/>
                <a:ea typeface="Verdana"/>
                <a:cs typeface="Verdana"/>
                <a:sym typeface="Verdana"/>
              </a:rPr>
              <a:t>automated</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detection</a:t>
            </a:r>
            <a:r>
              <a:rPr lang="fr-FR" sz="2200" b="1" dirty="0">
                <a:solidFill>
                  <a:schemeClr val="lt1"/>
                </a:solidFill>
                <a:latin typeface="Verdana"/>
                <a:ea typeface="Verdana"/>
                <a:cs typeface="Verdana"/>
                <a:sym typeface="Verdana"/>
              </a:rPr>
              <a:t> but in </a:t>
            </a:r>
            <a:r>
              <a:rPr lang="fr-FR" sz="2200" b="1" dirty="0" err="1">
                <a:solidFill>
                  <a:schemeClr val="lt1"/>
                </a:solidFill>
                <a:latin typeface="Verdana"/>
                <a:ea typeface="Verdana"/>
                <a:cs typeface="Verdana"/>
                <a:sym typeface="Verdana"/>
              </a:rPr>
              <a:t>enabling</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human</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analytical</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reasoning</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through</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its</a:t>
            </a:r>
            <a:r>
              <a:rPr lang="fr-FR" sz="2200" b="1" dirty="0">
                <a:solidFill>
                  <a:schemeClr val="lt1"/>
                </a:solidFill>
                <a:latin typeface="Verdana"/>
                <a:ea typeface="Verdana"/>
                <a:cs typeface="Verdana"/>
                <a:sym typeface="Verdana"/>
              </a:rPr>
              <a:t> flexible </a:t>
            </a:r>
            <a:r>
              <a:rPr lang="fr-FR" sz="2200" b="1" dirty="0" err="1">
                <a:solidFill>
                  <a:schemeClr val="lt1"/>
                </a:solidFill>
                <a:latin typeface="Verdana"/>
                <a:ea typeface="Verdana"/>
                <a:cs typeface="Verdana"/>
                <a:sym typeface="Verdana"/>
              </a:rPr>
              <a:t>query</a:t>
            </a:r>
            <a:r>
              <a:rPr lang="fr-FR" sz="2200" b="1" dirty="0">
                <a:solidFill>
                  <a:schemeClr val="lt1"/>
                </a:solidFill>
                <a:latin typeface="Verdana"/>
                <a:ea typeface="Verdana"/>
                <a:cs typeface="Verdana"/>
                <a:sym typeface="Verdana"/>
              </a:rPr>
              <a:t> </a:t>
            </a:r>
            <a:r>
              <a:rPr lang="fr-FR" sz="2200" b="1" dirty="0" err="1">
                <a:solidFill>
                  <a:schemeClr val="lt1"/>
                </a:solidFill>
                <a:latin typeface="Verdana"/>
                <a:ea typeface="Verdana"/>
                <a:cs typeface="Verdana"/>
                <a:sym typeface="Verdana"/>
              </a:rPr>
              <a:t>language</a:t>
            </a:r>
            <a:r>
              <a:rPr lang="fr-FR" sz="2200" b="1" dirty="0">
                <a:solidFill>
                  <a:schemeClr val="lt1"/>
                </a:solidFill>
                <a:latin typeface="Verdana"/>
                <a:ea typeface="Verdana"/>
                <a:cs typeface="Verdana"/>
                <a:sym typeface="Verdana"/>
              </a:rPr>
              <a:t>.</a:t>
            </a:r>
            <a:endParaRPr dirty="0"/>
          </a:p>
          <a:p>
            <a:pPr marL="342900" lvl="0" indent="-203200" algn="l" rtl="0">
              <a:spcBef>
                <a:spcPts val="0"/>
              </a:spcBef>
              <a:spcAft>
                <a:spcPts val="0"/>
              </a:spcAft>
              <a:buSzPts val="2200"/>
              <a:buFont typeface="Noto Sans Symbols"/>
              <a:buNone/>
            </a:pPr>
            <a:endParaRPr sz="2200" b="1" dirty="0">
              <a:solidFill>
                <a:schemeClr val="lt1"/>
              </a:solidFill>
              <a:latin typeface="Verdana"/>
              <a:ea typeface="Verdana"/>
              <a:cs typeface="Verdana"/>
              <a:sym typeface="Verdana"/>
            </a:endParaRPr>
          </a:p>
          <a:p>
            <a:pPr marL="0" lvl="0" indent="0" algn="l" rtl="0">
              <a:spcBef>
                <a:spcPts val="0"/>
              </a:spcBef>
              <a:spcAft>
                <a:spcPts val="0"/>
              </a:spcAft>
              <a:buNone/>
            </a:pPr>
            <a:endParaRPr sz="2200" b="1" dirty="0">
              <a:solidFill>
                <a:schemeClr val="lt1"/>
              </a:solidFill>
              <a:latin typeface="Verdana"/>
              <a:ea typeface="Verdana"/>
              <a:cs typeface="Verdana"/>
              <a:sym typeface="Verdana"/>
            </a:endParaRPr>
          </a:p>
          <a:p>
            <a:pPr marL="12700" lvl="0" indent="0" algn="just" rtl="0">
              <a:lnSpc>
                <a:spcPct val="100000"/>
              </a:lnSpc>
              <a:spcBef>
                <a:spcPts val="100"/>
              </a:spcBef>
              <a:spcAft>
                <a:spcPts val="0"/>
              </a:spcAft>
              <a:buNone/>
            </a:pPr>
            <a:r>
              <a:rPr lang="fr-FR" sz="2200" b="1" dirty="0">
                <a:solidFill>
                  <a:schemeClr val="lt1"/>
                </a:solidFill>
                <a:latin typeface="Verdana"/>
                <a:ea typeface="Verdana"/>
                <a:cs typeface="Verdana"/>
                <a:sym typeface="Verdana"/>
              </a:rPr>
              <a:t> </a:t>
            </a:r>
            <a:endParaRPr sz="2200" b="1" dirty="0">
              <a:solidFill>
                <a:schemeClr val="lt1"/>
              </a:solidFill>
              <a:latin typeface="Verdana"/>
              <a:ea typeface="Verdana"/>
              <a:cs typeface="Verdana"/>
              <a:sym typeface="Verdan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316"/>
        <p:cNvGrpSpPr/>
        <p:nvPr/>
      </p:nvGrpSpPr>
      <p:grpSpPr>
        <a:xfrm>
          <a:off x="0" y="0"/>
          <a:ext cx="0" cy="0"/>
          <a:chOff x="0" y="0"/>
          <a:chExt cx="0" cy="0"/>
        </a:xfrm>
      </p:grpSpPr>
      <p:pic>
        <p:nvPicPr>
          <p:cNvPr id="317" name="Google Shape;317;p29"/>
          <p:cNvPicPr preferRelativeResize="0"/>
          <p:nvPr/>
        </p:nvPicPr>
        <p:blipFill rotWithShape="1">
          <a:blip r:embed="rId3">
            <a:alphaModFix/>
          </a:blip>
          <a:srcRect/>
          <a:stretch/>
        </p:blipFill>
        <p:spPr>
          <a:xfrm>
            <a:off x="16329" y="-87086"/>
            <a:ext cx="18288000" cy="10287000"/>
          </a:xfrm>
          <a:prstGeom prst="rect">
            <a:avLst/>
          </a:prstGeom>
          <a:noFill/>
          <a:ln>
            <a:noFill/>
          </a:ln>
        </p:spPr>
      </p:pic>
      <p:sp>
        <p:nvSpPr>
          <p:cNvPr id="318" name="Google Shape;318;p29"/>
          <p:cNvSpPr txBox="1">
            <a:spLocks noGrp="1"/>
          </p:cNvSpPr>
          <p:nvPr>
            <p:ph type="title"/>
          </p:nvPr>
        </p:nvSpPr>
        <p:spPr>
          <a:xfrm>
            <a:off x="2215832" y="6515100"/>
            <a:ext cx="13856335" cy="1090042"/>
          </a:xfrm>
          <a:prstGeom prst="rect">
            <a:avLst/>
          </a:prstGeom>
          <a:noFill/>
          <a:ln>
            <a:noFill/>
          </a:ln>
        </p:spPr>
        <p:txBody>
          <a:bodyPr spcFirstLastPara="1" wrap="square" lIns="0" tIns="12700" rIns="0" bIns="0" anchor="t" anchorCtr="0">
            <a:spAutoFit/>
          </a:bodyPr>
          <a:lstStyle/>
          <a:p>
            <a:pPr marL="0" lvl="0" indent="0" algn="ctr" rtl="0">
              <a:lnSpc>
                <a:spcPct val="100000"/>
              </a:lnSpc>
              <a:spcBef>
                <a:spcPts val="0"/>
              </a:spcBef>
              <a:spcAft>
                <a:spcPts val="0"/>
              </a:spcAft>
              <a:buNone/>
            </a:pPr>
            <a:r>
              <a:rPr lang="fr-FR" sz="7000">
                <a:latin typeface="Verdana"/>
                <a:ea typeface="Verdana"/>
                <a:cs typeface="Verdana"/>
                <a:sym typeface="Verdana"/>
              </a:rPr>
              <a:t>Thank You!</a:t>
            </a:r>
            <a:endParaRPr sz="2750">
              <a:latin typeface="Verdana"/>
              <a:ea typeface="Verdana"/>
              <a:cs typeface="Verdana"/>
              <a:sym typeface="Verdana"/>
            </a:endParaRPr>
          </a:p>
        </p:txBody>
      </p:sp>
      <p:pic>
        <p:nvPicPr>
          <p:cNvPr id="319" name="Google Shape;319;p29" descr="Splunk Enterprise - Features, Reviews &amp; Pricing (January 2026)"/>
          <p:cNvPicPr preferRelativeResize="0"/>
          <p:nvPr/>
        </p:nvPicPr>
        <p:blipFill rotWithShape="1">
          <a:blip r:embed="rId4">
            <a:alphaModFix/>
          </a:blip>
          <a:srcRect/>
          <a:stretch/>
        </p:blipFill>
        <p:spPr>
          <a:xfrm>
            <a:off x="7239000" y="2394797"/>
            <a:ext cx="3810000" cy="3810000"/>
          </a:xfrm>
          <a:prstGeom prst="roundRect">
            <a:avLst>
              <a:gd name="adj" fmla="val 4167"/>
            </a:avLst>
          </a:prstGeom>
          <a:solidFill>
            <a:srgbClr val="FFFFFF"/>
          </a:solidFill>
          <a:ln w="76200" cap="sq" cmpd="sng">
            <a:solidFill>
              <a:srgbClr val="292929"/>
            </a:solidFill>
            <a:prstDash val="solid"/>
            <a:miter lim="800000"/>
            <a:headEnd type="none" w="sm" len="sm"/>
            <a:tailEnd type="none" w="sm" len="sm"/>
          </a:ln>
          <a:effectLst>
            <a:reflection stA="28000" endPos="28000" dist="5000" dir="5400000" sy="-100000" algn="bl" rotWithShape="0"/>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1360</Words>
  <Application>Microsoft Office PowerPoint</Application>
  <PresentationFormat>Personnalisé</PresentationFormat>
  <Paragraphs>160</Paragraphs>
  <Slides>24</Slides>
  <Notes>24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24</vt:i4>
      </vt:variant>
    </vt:vector>
  </HeadingPairs>
  <TitlesOfParts>
    <vt:vector size="30" baseType="lpstr">
      <vt:lpstr>Noto Sans Symbols</vt:lpstr>
      <vt:lpstr>Verdana</vt:lpstr>
      <vt:lpstr>Arial</vt:lpstr>
      <vt:lpstr>Tahoma</vt:lpstr>
      <vt:lpstr>Calibri</vt:lpstr>
      <vt:lpstr>Office Theme</vt:lpstr>
      <vt:lpstr>Splunk Enterprise Evaluation Experimental Analysis of Threat Detection Capabilities</vt:lpstr>
      <vt:lpstr>Présentation PowerPoint</vt:lpstr>
      <vt:lpstr>Primary Objectives </vt:lpstr>
      <vt:lpstr>Methodology &amp; Evaluation Metrics</vt:lpstr>
      <vt:lpstr>Log Ingestion   The traffic data ingestion happened through a lookup creation which helped to parse the log effectively.</vt:lpstr>
      <vt:lpstr>Présentation PowerPoint</vt:lpstr>
      <vt:lpstr>Network Discovery </vt:lpstr>
      <vt:lpstr> From Reconnaissance To Detection   </vt:lpstr>
      <vt:lpstr>Attack Timeline Reconstruction  </vt:lpstr>
      <vt:lpstr>Protocol-based Threat Categorization</vt:lpstr>
      <vt:lpstr>Protocol-based Anomaly Detection (Baseline Comparison) </vt:lpstr>
      <vt:lpstr>Encrypted Traffic Analysis </vt:lpstr>
      <vt:lpstr>Présentation PowerPoint</vt:lpstr>
      <vt:lpstr>Time Series Forecasting</vt:lpstr>
      <vt:lpstr>Anomaly Detection</vt:lpstr>
      <vt:lpstr>Splunk AI toolkit shows selective utility</vt:lpstr>
      <vt:lpstr>Présentation PowerPoint</vt:lpstr>
      <vt:lpstr>Présentation PowerPoint</vt:lpstr>
      <vt:lpstr>Présentation PowerPoint</vt:lpstr>
      <vt:lpstr>Présentation PowerPoint</vt:lpstr>
      <vt:lpstr>Présentation PowerPoint</vt:lpstr>
      <vt:lpstr>Security Recommendations</vt:lpstr>
      <vt:lpstr>Présentation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user</cp:lastModifiedBy>
  <cp:revision>21</cp:revision>
  <dcterms:created xsi:type="dcterms:W3CDTF">2026-01-20T16:34:29Z</dcterms:created>
  <dcterms:modified xsi:type="dcterms:W3CDTF">2026-02-25T01:36:29Z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2026-01-20T00:00:00Z</vt:filetime>
  </property>
  <property fmtid="{D5CDD505-2E9C-101B-9397-08002B2CF9AE}" pid="3" name="LastSaved">
    <vt:filetime>2026-01-20T00:00:00Z</vt:filetime>
  </property>
  <property fmtid="{D5CDD505-2E9C-101B-9397-08002B2CF9AE}" pid="4" name="Producer">
    <vt:lpwstr>iLovePDF</vt:lpwstr>
  </property>
</Properties>
</file>