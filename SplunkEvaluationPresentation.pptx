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8288000" cy="10287000"/>
  <p:notesSz cx="18288000" cy="10287000"/>
  <p:embeddedFontLst>
    <p:embeddedFont>
      <p:font typeface="Tahoma" panose="020B0604030504040204" pitchFamily="34" charset="0"/>
      <p:regular r:id="rId32"/>
      <p:bold r:id="rId33"/>
    </p:embeddedFont>
    <p:embeddedFont>
      <p:font typeface="Verdana" panose="020B0604030504040204" pitchFamily="34"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8" roundtripDataSignature="AMtx7mh47rL1fQnCbjzl/x4iq8XIAmQ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9" d="100"/>
          <a:sy n="39" d="100"/>
        </p:scale>
        <p:origin x="940" y="52"/>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7924800" cy="515938"/>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 name="Google Shape;4;n"/>
          <p:cNvSpPr txBox="1">
            <a:spLocks noGrp="1"/>
          </p:cNvSpPr>
          <p:nvPr>
            <p:ph type="dt" idx="10"/>
          </p:nvPr>
        </p:nvSpPr>
        <p:spPr>
          <a:xfrm>
            <a:off x="10358438" y="0"/>
            <a:ext cx="7924800" cy="515938"/>
          </a:xfrm>
          <a:prstGeom prst="rect">
            <a:avLst/>
          </a:prstGeom>
          <a:noFill/>
          <a:ln>
            <a:noFill/>
          </a:ln>
        </p:spPr>
        <p:txBody>
          <a:bodyPr spcFirstLastPara="1" wrap="square" lIns="91425" tIns="45700" rIns="91425" bIns="45700" anchor="t" anchorCtr="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 name="Google Shape;5;n"/>
          <p:cNvSpPr>
            <a:spLocks noGrp="1" noRot="1" noChangeAspect="1"/>
          </p:cNvSpPr>
          <p:nvPr>
            <p:ph type="sldImg" idx="3"/>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1828800" y="4951413"/>
            <a:ext cx="14630400" cy="4049712"/>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771063"/>
            <a:ext cx="7924800" cy="51593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n"/>
          <p:cNvSpPr txBox="1">
            <a:spLocks noGrp="1"/>
          </p:cNvSpPr>
          <p:nvPr>
            <p:ph type="sldNum" idx="12"/>
          </p:nvPr>
        </p:nvSpPr>
        <p:spPr>
          <a:xfrm>
            <a:off x="10358438" y="9771063"/>
            <a:ext cx="7924800" cy="51593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fr-FR" sz="1200"/>
              <a:t>‹N°›</a:t>
            </a:fld>
            <a:endParaRPr sz="12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 name="Google Shape;46;p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2: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2: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 name="Google Shape;62;p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 name="Google Shape;71;p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 name="Google Shape;85;p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6: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7: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7: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8: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 name="Google Shape;107;p8: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9: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9: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10: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10: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1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 name="Google Shape;135;p1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12: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 name="Google Shape;145;p12: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16: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8" name="Google Shape;158;p1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 name="Google Shape;181;p1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p1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7: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7: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18: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6" name="Google Shape;216;p18: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9: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9: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20: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6" name="Google Shape;236;p20: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2: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8" name="Google Shape;258;p22: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2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2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2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2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2" name="Google Shape;282;p2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26:notes"/>
          <p:cNvSpPr txBox="1">
            <a:spLocks noGrp="1"/>
          </p:cNvSpPr>
          <p:nvPr>
            <p:ph type="body" idx="1"/>
          </p:nvPr>
        </p:nvSpPr>
        <p:spPr>
          <a:xfrm>
            <a:off x="1828800" y="4951413"/>
            <a:ext cx="14630400" cy="4049712"/>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26:notes"/>
          <p:cNvSpPr txBox="1">
            <a:spLocks noGrp="1"/>
          </p:cNvSpPr>
          <p:nvPr>
            <p:ph type="sldNum" idx="12"/>
          </p:nvPr>
        </p:nvSpPr>
        <p:spPr>
          <a:xfrm>
            <a:off x="10358438" y="9771063"/>
            <a:ext cx="7924800" cy="51593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fr-FR"/>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7: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9" name="Google Shape;299;p27: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28: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p28: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9: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9: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Only" type="obj">
  <p:cSld name="OBJECT">
    <p:bg>
      <p:bgPr>
        <a:solidFill>
          <a:schemeClr val="lt1"/>
        </a:solidFill>
        <a:effectLst/>
      </p:bgPr>
    </p:bg>
    <p:spTree>
      <p:nvGrpSpPr>
        <p:cNvPr id="1" name="Shape 16"/>
        <p:cNvGrpSpPr/>
        <p:nvPr/>
      </p:nvGrpSpPr>
      <p:grpSpPr>
        <a:xfrm>
          <a:off x="0" y="0"/>
          <a:ext cx="0" cy="0"/>
          <a:chOff x="0" y="0"/>
          <a:chExt cx="0" cy="0"/>
        </a:xfrm>
      </p:grpSpPr>
      <p:sp>
        <p:nvSpPr>
          <p:cNvPr id="17" name="Google Shape;17;p31"/>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1"/>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1"/>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1"/>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1"/>
        <p:cNvGrpSpPr/>
        <p:nvPr/>
      </p:nvGrpSpPr>
      <p:grpSpPr>
        <a:xfrm>
          <a:off x="0" y="0"/>
          <a:ext cx="0" cy="0"/>
          <a:chOff x="0" y="0"/>
          <a:chExt cx="0" cy="0"/>
        </a:xfrm>
      </p:grpSpPr>
      <p:sp>
        <p:nvSpPr>
          <p:cNvPr id="22" name="Google Shape;22;p32"/>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32"/>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25"/>
        <p:cNvGrpSpPr/>
        <p:nvPr/>
      </p:nvGrpSpPr>
      <p:grpSpPr>
        <a:xfrm>
          <a:off x="0" y="0"/>
          <a:ext cx="0" cy="0"/>
          <a:chOff x="0" y="0"/>
          <a:chExt cx="0" cy="0"/>
        </a:xfrm>
      </p:grpSpPr>
      <p:sp>
        <p:nvSpPr>
          <p:cNvPr id="26" name="Google Shape;26;p33"/>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33"/>
          <p:cNvSpPr txBox="1">
            <a:spLocks noGrp="1"/>
          </p:cNvSpPr>
          <p:nvPr>
            <p:ph type="body" idx="1"/>
          </p:nvPr>
        </p:nvSpPr>
        <p:spPr>
          <a:xfrm>
            <a:off x="6981300" y="2431617"/>
            <a:ext cx="8622665" cy="23114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400" b="0" i="0">
                <a:solidFill>
                  <a:schemeClr val="lt1"/>
                </a:solidFill>
                <a:latin typeface="Verdana"/>
                <a:ea typeface="Verdana"/>
                <a:cs typeface="Verdana"/>
                <a:sym typeface="Verdan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 name="Google Shape;28;p33"/>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3"/>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1"/>
        <p:cNvGrpSpPr/>
        <p:nvPr/>
      </p:nvGrpSpPr>
      <p:grpSpPr>
        <a:xfrm>
          <a:off x="0" y="0"/>
          <a:ext cx="0" cy="0"/>
          <a:chOff x="0" y="0"/>
          <a:chExt cx="0" cy="0"/>
        </a:xfrm>
      </p:grpSpPr>
      <p:sp>
        <p:nvSpPr>
          <p:cNvPr id="32" name="Google Shape;32;p34"/>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34"/>
          <p:cNvSpPr txBox="1">
            <a:spLocks noGrp="1"/>
          </p:cNvSpPr>
          <p:nvPr>
            <p:ph type="body" idx="1"/>
          </p:nvPr>
        </p:nvSpPr>
        <p:spPr>
          <a:xfrm>
            <a:off x="914400" y="2366010"/>
            <a:ext cx="7955280" cy="678942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34"/>
          <p:cNvSpPr txBox="1">
            <a:spLocks noGrp="1"/>
          </p:cNvSpPr>
          <p:nvPr>
            <p:ph type="body" idx="2"/>
          </p:nvPr>
        </p:nvSpPr>
        <p:spPr>
          <a:xfrm>
            <a:off x="9631125" y="4787558"/>
            <a:ext cx="5722619" cy="5191759"/>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400" b="0" i="0">
                <a:solidFill>
                  <a:schemeClr val="lt1"/>
                </a:solidFill>
                <a:latin typeface="Verdana"/>
                <a:ea typeface="Verdana"/>
                <a:cs typeface="Verdana"/>
                <a:sym typeface="Verdan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 name="Google Shape;35;p34"/>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34"/>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34"/>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8"/>
        <p:cNvGrpSpPr/>
        <p:nvPr/>
      </p:nvGrpSpPr>
      <p:grpSpPr>
        <a:xfrm>
          <a:off x="0" y="0"/>
          <a:ext cx="0" cy="0"/>
          <a:chOff x="0" y="0"/>
          <a:chExt cx="0" cy="0"/>
        </a:xfrm>
      </p:grpSpPr>
      <p:sp>
        <p:nvSpPr>
          <p:cNvPr id="39" name="Google Shape;39;p35"/>
          <p:cNvSpPr txBox="1">
            <a:spLocks noGrp="1"/>
          </p:cNvSpPr>
          <p:nvPr>
            <p:ph type="ctrTitle"/>
          </p:nvPr>
        </p:nvSpPr>
        <p:spPr>
          <a:xfrm>
            <a:off x="1371600" y="3188970"/>
            <a:ext cx="15544800" cy="216027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35"/>
          <p:cNvSpPr txBox="1">
            <a:spLocks noGrp="1"/>
          </p:cNvSpPr>
          <p:nvPr>
            <p:ph type="subTitle" idx="1"/>
          </p:nvPr>
        </p:nvSpPr>
        <p:spPr>
          <a:xfrm>
            <a:off x="2743200" y="5760720"/>
            <a:ext cx="12801600" cy="25717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400" b="0" i="0">
                <a:solidFill>
                  <a:schemeClr val="lt1"/>
                </a:solidFill>
                <a:latin typeface="Verdana"/>
                <a:ea typeface="Verdana"/>
                <a:cs typeface="Verdana"/>
                <a:sym typeface="Verdana"/>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35"/>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35"/>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30"/>
          <p:cNvPicPr preferRelativeResize="0"/>
          <p:nvPr/>
        </p:nvPicPr>
        <p:blipFill rotWithShape="1">
          <a:blip r:embed="rId7">
            <a:alphaModFix/>
          </a:blip>
          <a:srcRect/>
          <a:stretch/>
        </p:blipFill>
        <p:spPr>
          <a:xfrm>
            <a:off x="0" y="0"/>
            <a:ext cx="18288000" cy="10287000"/>
          </a:xfrm>
          <a:prstGeom prst="rect">
            <a:avLst/>
          </a:prstGeom>
          <a:noFill/>
          <a:ln>
            <a:noFill/>
          </a:ln>
        </p:spPr>
      </p:pic>
      <p:sp>
        <p:nvSpPr>
          <p:cNvPr id="11" name="Google Shape;11;p30"/>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6000" b="1" i="0" u="none" strike="noStrike" cap="none">
                <a:solidFill>
                  <a:schemeClr val="lt1"/>
                </a:solidFill>
                <a:latin typeface="Tahoma"/>
                <a:ea typeface="Tahoma"/>
                <a:cs typeface="Tahoma"/>
                <a:sym typeface="Tahom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30"/>
          <p:cNvSpPr txBox="1">
            <a:spLocks noGrp="1"/>
          </p:cNvSpPr>
          <p:nvPr>
            <p:ph type="body" idx="1"/>
          </p:nvPr>
        </p:nvSpPr>
        <p:spPr>
          <a:xfrm>
            <a:off x="6981300" y="2431617"/>
            <a:ext cx="8622665" cy="231140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2400" b="0" i="0" u="none" strike="noStrike" cap="none">
                <a:solidFill>
                  <a:schemeClr val="lt1"/>
                </a:solidFill>
                <a:latin typeface="Verdana"/>
                <a:ea typeface="Verdana"/>
                <a:cs typeface="Verdana"/>
                <a:sym typeface="Verdana"/>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30"/>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30"/>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30"/>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sz="1800">
                <a:solidFill>
                  <a:srgbClr val="888888"/>
                </a:solidFill>
              </a:defRPr>
            </a:lvl1pPr>
            <a:lvl2pPr lvl="1" indent="0" algn="r">
              <a:spcBef>
                <a:spcPts val="0"/>
              </a:spcBef>
              <a:buNone/>
              <a:defRPr sz="1800">
                <a:solidFill>
                  <a:srgbClr val="888888"/>
                </a:solidFill>
              </a:defRPr>
            </a:lvl2pPr>
            <a:lvl3pPr lvl="2" indent="0" algn="r">
              <a:spcBef>
                <a:spcPts val="0"/>
              </a:spcBef>
              <a:buNone/>
              <a:defRPr sz="1800">
                <a:solidFill>
                  <a:srgbClr val="888888"/>
                </a:solidFill>
              </a:defRPr>
            </a:lvl3pPr>
            <a:lvl4pPr lvl="3" indent="0" algn="r">
              <a:spcBef>
                <a:spcPts val="0"/>
              </a:spcBef>
              <a:buNone/>
              <a:defRPr sz="1800">
                <a:solidFill>
                  <a:srgbClr val="888888"/>
                </a:solidFill>
              </a:defRPr>
            </a:lvl4pPr>
            <a:lvl5pPr lvl="4" indent="0" algn="r">
              <a:spcBef>
                <a:spcPts val="0"/>
              </a:spcBef>
              <a:buNone/>
              <a:defRPr sz="1800">
                <a:solidFill>
                  <a:srgbClr val="888888"/>
                </a:solidFill>
              </a:defRPr>
            </a:lvl5pPr>
            <a:lvl6pPr lvl="5" indent="0" algn="r">
              <a:spcBef>
                <a:spcPts val="0"/>
              </a:spcBef>
              <a:buNone/>
              <a:defRPr sz="1800">
                <a:solidFill>
                  <a:srgbClr val="888888"/>
                </a:solidFill>
              </a:defRPr>
            </a:lvl6pPr>
            <a:lvl7pPr lvl="6" indent="0" algn="r">
              <a:spcBef>
                <a:spcPts val="0"/>
              </a:spcBef>
              <a:buNone/>
              <a:defRPr sz="1800">
                <a:solidFill>
                  <a:srgbClr val="888888"/>
                </a:solidFill>
              </a:defRPr>
            </a:lvl7pPr>
            <a:lvl8pPr lvl="7" indent="0" algn="r">
              <a:spcBef>
                <a:spcPts val="0"/>
              </a:spcBef>
              <a:buNone/>
              <a:defRPr sz="1800">
                <a:solidFill>
                  <a:srgbClr val="888888"/>
                </a:solidFill>
              </a:defRPr>
            </a:lvl8pPr>
            <a:lvl9pPr lvl="8" indent="0" algn="r">
              <a:spcBef>
                <a:spcPts val="0"/>
              </a:spcBef>
              <a:buNone/>
              <a:defRPr sz="1800">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s>
</file>

<file path=ppt/slides/_rels/slide1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 Id="rId9" Type="http://schemas.openxmlformats.org/officeDocument/2006/relationships/image" Target="../media/image29.png"/></Relationships>
</file>

<file path=ppt/slides/_rels/slide2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18.jpg"/><Relationship Id="rId5" Type="http://schemas.openxmlformats.org/officeDocument/2006/relationships/image" Target="../media/image17.png"/><Relationship Id="rId4" Type="http://schemas.openxmlformats.org/officeDocument/2006/relationships/image" Target="../media/image16.jp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7"/>
        <p:cNvGrpSpPr/>
        <p:nvPr/>
      </p:nvGrpSpPr>
      <p:grpSpPr>
        <a:xfrm>
          <a:off x="0" y="0"/>
          <a:ext cx="0" cy="0"/>
          <a:chOff x="0" y="0"/>
          <a:chExt cx="0" cy="0"/>
        </a:xfrm>
      </p:grpSpPr>
      <p:pic>
        <p:nvPicPr>
          <p:cNvPr id="48" name="Google Shape;48;p1"/>
          <p:cNvPicPr preferRelativeResize="0"/>
          <p:nvPr/>
        </p:nvPicPr>
        <p:blipFill rotWithShape="1">
          <a:blip r:embed="rId3">
            <a:alphaModFix/>
          </a:blip>
          <a:srcRect/>
          <a:stretch/>
        </p:blipFill>
        <p:spPr>
          <a:xfrm>
            <a:off x="10886" y="0"/>
            <a:ext cx="18288000" cy="10287000"/>
          </a:xfrm>
          <a:prstGeom prst="rect">
            <a:avLst/>
          </a:prstGeom>
          <a:noFill/>
          <a:ln>
            <a:noFill/>
          </a:ln>
        </p:spPr>
      </p:pic>
      <p:sp>
        <p:nvSpPr>
          <p:cNvPr id="49" name="Google Shape;49;p1"/>
          <p:cNvSpPr txBox="1">
            <a:spLocks noGrp="1"/>
          </p:cNvSpPr>
          <p:nvPr>
            <p:ph type="title"/>
          </p:nvPr>
        </p:nvSpPr>
        <p:spPr>
          <a:xfrm>
            <a:off x="2215806" y="6515132"/>
            <a:ext cx="13856400" cy="1513500"/>
          </a:xfrm>
          <a:prstGeom prst="rect">
            <a:avLst/>
          </a:prstGeom>
          <a:noFill/>
          <a:ln>
            <a:noFill/>
          </a:ln>
        </p:spPr>
        <p:txBody>
          <a:bodyPr spcFirstLastPara="1" wrap="square" lIns="0" tIns="12700" rIns="0" bIns="0" anchor="t" anchorCtr="0">
            <a:spAutoFit/>
          </a:bodyPr>
          <a:lstStyle/>
          <a:p>
            <a:pPr marL="0" lvl="0" indent="0" algn="ctr" rtl="0">
              <a:lnSpc>
                <a:spcPct val="100000"/>
              </a:lnSpc>
              <a:spcBef>
                <a:spcPts val="0"/>
              </a:spcBef>
              <a:spcAft>
                <a:spcPts val="0"/>
              </a:spcAft>
              <a:buNone/>
            </a:pPr>
            <a:r>
              <a:rPr lang="fr-FR" sz="7000"/>
              <a:t>Splunk Enterprise Evaluation</a:t>
            </a:r>
            <a:br>
              <a:rPr lang="fr-FR" sz="9800"/>
            </a:br>
            <a:r>
              <a:rPr lang="fr-FR" sz="2750" b="0" i="1">
                <a:latin typeface="Verdana"/>
                <a:ea typeface="Verdana"/>
                <a:cs typeface="Verdana"/>
                <a:sym typeface="Verdana"/>
              </a:rPr>
              <a:t>Experimental Analysis of Threat Detection Capabilities</a:t>
            </a:r>
            <a:endParaRPr sz="2750">
              <a:latin typeface="Verdana"/>
              <a:ea typeface="Verdana"/>
              <a:cs typeface="Verdana"/>
              <a:sym typeface="Verdana"/>
            </a:endParaRPr>
          </a:p>
        </p:txBody>
      </p:sp>
      <p:pic>
        <p:nvPicPr>
          <p:cNvPr id="50" name="Google Shape;50;p1" descr="Splunk Enterprise - Features, Reviews &amp; Pricing (January 2026)"/>
          <p:cNvPicPr preferRelativeResize="0"/>
          <p:nvPr/>
        </p:nvPicPr>
        <p:blipFill rotWithShape="1">
          <a:blip r:embed="rId4">
            <a:alphaModFix/>
          </a:blip>
          <a:srcRect/>
          <a:stretch/>
        </p:blipFill>
        <p:spPr>
          <a:xfrm>
            <a:off x="7238999" y="2073214"/>
            <a:ext cx="3810000" cy="3810000"/>
          </a:xfrm>
          <a:prstGeom prst="roundRect">
            <a:avLst>
              <a:gd name="adj" fmla="val 4167"/>
            </a:avLst>
          </a:prstGeom>
          <a:solidFill>
            <a:srgbClr val="FFFFFF"/>
          </a:solidFill>
          <a:ln w="76200" cap="sq" cmpd="sng">
            <a:solidFill>
              <a:srgbClr val="292929"/>
            </a:solidFill>
            <a:prstDash val="solid"/>
            <a:miter lim="800000"/>
            <a:headEnd type="none" w="sm" len="sm"/>
            <a:tailEnd type="none" w="sm" len="sm"/>
          </a:ln>
          <a:effectLst>
            <a:reflection stA="28000" endPos="28000" dist="5000" dir="5400000" sy="-100000" algn="bl" rotWithShape="0"/>
          </a:effectLst>
        </p:spPr>
      </p:pic>
      <p:sp>
        <p:nvSpPr>
          <p:cNvPr id="51" name="Google Shape;51;p1"/>
          <p:cNvSpPr txBox="1"/>
          <p:nvPr/>
        </p:nvSpPr>
        <p:spPr>
          <a:xfrm>
            <a:off x="4490357" y="8970071"/>
            <a:ext cx="9307284" cy="92333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fr-FR" sz="1800" i="1">
                <a:solidFill>
                  <a:schemeClr val="lt1"/>
                </a:solidFill>
                <a:latin typeface="Verdana"/>
                <a:ea typeface="Verdana"/>
                <a:cs typeface="Verdana"/>
                <a:sym typeface="Verdana"/>
              </a:rPr>
              <a:t>ICT Risk Assessement</a:t>
            </a:r>
            <a:endParaRPr sz="1800" i="1">
              <a:solidFill>
                <a:schemeClr val="lt1"/>
              </a:solidFill>
              <a:latin typeface="Verdana"/>
              <a:ea typeface="Verdana"/>
              <a:cs typeface="Verdana"/>
              <a:sym typeface="Verdana"/>
            </a:endParaRPr>
          </a:p>
          <a:p>
            <a:pPr marL="0" lvl="0" indent="0" algn="ctr" rtl="0">
              <a:spcBef>
                <a:spcPts val="0"/>
              </a:spcBef>
              <a:spcAft>
                <a:spcPts val="0"/>
              </a:spcAft>
              <a:buNone/>
            </a:pPr>
            <a:r>
              <a:rPr lang="fr-FR" sz="1800" i="1">
                <a:solidFill>
                  <a:schemeClr val="lt1"/>
                </a:solidFill>
                <a:latin typeface="Verdana"/>
                <a:ea typeface="Verdana"/>
                <a:cs typeface="Verdana"/>
                <a:sym typeface="Verdana"/>
              </a:rPr>
              <a:t>Melissa Abdelkafi - 702815</a:t>
            </a:r>
            <a:endParaRPr/>
          </a:p>
          <a:p>
            <a:pPr marL="0" lvl="0" indent="0" algn="ctr" rtl="0">
              <a:spcBef>
                <a:spcPts val="0"/>
              </a:spcBef>
              <a:spcAft>
                <a:spcPts val="0"/>
              </a:spcAft>
              <a:buNone/>
            </a:pPr>
            <a:r>
              <a:rPr lang="fr-FR" sz="1800" i="1">
                <a:solidFill>
                  <a:schemeClr val="lt1"/>
                </a:solidFill>
                <a:latin typeface="Verdana"/>
                <a:ea typeface="Verdana"/>
                <a:cs typeface="Verdana"/>
                <a:sym typeface="Verdana"/>
              </a:rPr>
              <a:t>Academic Year - 2026/2025</a:t>
            </a:r>
            <a:endParaRPr sz="18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2"/>
          <p:cNvSpPr txBox="1"/>
          <p:nvPr/>
        </p:nvSpPr>
        <p:spPr>
          <a:xfrm>
            <a:off x="533400" y="952500"/>
            <a:ext cx="4052249" cy="689932"/>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fr-FR" sz="4400" b="1">
                <a:solidFill>
                  <a:srgbClr val="FFFFFF"/>
                </a:solidFill>
                <a:latin typeface="Tahoma"/>
                <a:ea typeface="Tahoma"/>
                <a:cs typeface="Tahoma"/>
                <a:sym typeface="Tahoma"/>
              </a:rPr>
              <a:t>Introduction</a:t>
            </a:r>
            <a:endParaRPr sz="4400">
              <a:latin typeface="Tahoma"/>
              <a:ea typeface="Tahoma"/>
              <a:cs typeface="Tahoma"/>
              <a:sym typeface="Tahoma"/>
            </a:endParaRPr>
          </a:p>
        </p:txBody>
      </p:sp>
      <p:sp>
        <p:nvSpPr>
          <p:cNvPr id="57" name="Google Shape;57;p2"/>
          <p:cNvSpPr txBox="1"/>
          <p:nvPr/>
        </p:nvSpPr>
        <p:spPr>
          <a:xfrm>
            <a:off x="5638800" y="3086100"/>
            <a:ext cx="12052300" cy="4429033"/>
          </a:xfrm>
          <a:prstGeom prst="rect">
            <a:avLst/>
          </a:prstGeom>
          <a:noFill/>
          <a:ln>
            <a:noFill/>
          </a:ln>
        </p:spPr>
        <p:txBody>
          <a:bodyPr spcFirstLastPara="1" wrap="square" lIns="0" tIns="12700" rIns="0" bIns="0" anchor="t" anchorCtr="0">
            <a:spAutoFit/>
          </a:bodyPr>
          <a:lstStyle/>
          <a:p>
            <a:pPr marL="12700" marR="5080" lvl="0" indent="0" algn="l" rtl="0">
              <a:lnSpc>
                <a:spcPct val="114999"/>
              </a:lnSpc>
              <a:spcBef>
                <a:spcPts val="0"/>
              </a:spcBef>
              <a:spcAft>
                <a:spcPts val="0"/>
              </a:spcAft>
              <a:buNone/>
            </a:pPr>
            <a:r>
              <a:rPr lang="fr-FR" sz="2800">
                <a:solidFill>
                  <a:schemeClr val="lt1"/>
                </a:solidFill>
              </a:rPr>
              <a:t>The project started as an evaluation of Splunk Entreprise’s technical capabilities in detecting threats as a security analytics platform. While the main point of this study was to test features using synthetic data, a blind analysis was conducted that revealed additional malicious activity that weren’t in the provided alerts file. What started as a straightforward ”</a:t>
            </a:r>
            <a:r>
              <a:rPr lang="fr-FR" sz="2800" b="1">
                <a:solidFill>
                  <a:schemeClr val="lt1"/>
                </a:solidFill>
              </a:rPr>
              <a:t>Can Splunk Enterprise detect threats</a:t>
            </a:r>
            <a:r>
              <a:rPr lang="fr-FR" sz="2800">
                <a:solidFill>
                  <a:schemeClr val="lt1"/>
                </a:solidFill>
              </a:rPr>
              <a:t>?” turned into a much more intriguing question: ”</a:t>
            </a:r>
            <a:r>
              <a:rPr lang="fr-FR" sz="2800" b="1">
                <a:solidFill>
                  <a:schemeClr val="lt1"/>
                </a:solidFill>
              </a:rPr>
              <a:t>Can Splunk Enterprise effectively identify additional threats that were missed</a:t>
            </a:r>
            <a:r>
              <a:rPr lang="fr-FR" sz="2800">
                <a:solidFill>
                  <a:schemeClr val="lt1"/>
                </a:solidFill>
              </a:rPr>
              <a:t>?” This report documents my attempts to answer this question.</a:t>
            </a:r>
            <a:endParaRPr sz="2800" b="1">
              <a:solidFill>
                <a:schemeClr val="lt1"/>
              </a:solidFill>
              <a:latin typeface="Verdana"/>
              <a:ea typeface="Verdana"/>
              <a:cs typeface="Verdana"/>
              <a:sym typeface="Verdana"/>
            </a:endParaRPr>
          </a:p>
        </p:txBody>
      </p:sp>
      <p:pic>
        <p:nvPicPr>
          <p:cNvPr id="58" name="Google Shape;58;p2"/>
          <p:cNvPicPr preferRelativeResize="0"/>
          <p:nvPr/>
        </p:nvPicPr>
        <p:blipFill rotWithShape="1">
          <a:blip r:embed="rId3">
            <a:alphaModFix/>
          </a:blip>
          <a:srcRect/>
          <a:stretch/>
        </p:blipFill>
        <p:spPr>
          <a:xfrm>
            <a:off x="5377411" y="8343900"/>
            <a:ext cx="12037199" cy="91499"/>
          </a:xfrm>
          <a:prstGeom prst="rect">
            <a:avLst/>
          </a:prstGeom>
          <a:noFill/>
          <a:ln>
            <a:noFill/>
          </a:ln>
        </p:spPr>
      </p:pic>
      <p:pic>
        <p:nvPicPr>
          <p:cNvPr id="59" name="Google Shape;59;p2"/>
          <p:cNvPicPr preferRelativeResize="0"/>
          <p:nvPr/>
        </p:nvPicPr>
        <p:blipFill rotWithShape="1">
          <a:blip r:embed="rId4">
            <a:alphaModFix/>
          </a:blip>
          <a:srcRect/>
          <a:stretch/>
        </p:blipFill>
        <p:spPr>
          <a:xfrm>
            <a:off x="4800600" y="0"/>
            <a:ext cx="146399" cy="102869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pic>
        <p:nvPicPr>
          <p:cNvPr id="64" name="Google Shape;64;p3"/>
          <p:cNvPicPr preferRelativeResize="0"/>
          <p:nvPr/>
        </p:nvPicPr>
        <p:blipFill rotWithShape="1">
          <a:blip r:embed="rId3">
            <a:alphaModFix/>
          </a:blip>
          <a:srcRect/>
          <a:stretch/>
        </p:blipFill>
        <p:spPr>
          <a:xfrm>
            <a:off x="1212342" y="3878197"/>
            <a:ext cx="3026699" cy="3022599"/>
          </a:xfrm>
          <a:prstGeom prst="rect">
            <a:avLst/>
          </a:prstGeom>
          <a:noFill/>
          <a:ln>
            <a:noFill/>
          </a:ln>
        </p:spPr>
      </p:pic>
      <p:sp>
        <p:nvSpPr>
          <p:cNvPr id="65" name="Google Shape;65;p3"/>
          <p:cNvSpPr/>
          <p:nvPr/>
        </p:nvSpPr>
        <p:spPr>
          <a:xfrm>
            <a:off x="6018762" y="0"/>
            <a:ext cx="28575" cy="1028700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6" name="Google Shape;66;p3"/>
          <p:cNvSpPr txBox="1">
            <a:spLocks noGrp="1"/>
          </p:cNvSpPr>
          <p:nvPr>
            <p:ph type="title"/>
          </p:nvPr>
        </p:nvSpPr>
        <p:spPr>
          <a:xfrm>
            <a:off x="381000" y="2507278"/>
            <a:ext cx="7357109" cy="68993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fr-FR" sz="4400"/>
              <a:t>Primary Objectives </a:t>
            </a:r>
            <a:endParaRPr sz="4400"/>
          </a:p>
        </p:txBody>
      </p:sp>
      <p:sp>
        <p:nvSpPr>
          <p:cNvPr id="67" name="Google Shape;67;p3"/>
          <p:cNvSpPr txBox="1">
            <a:spLocks noGrp="1"/>
          </p:cNvSpPr>
          <p:nvPr>
            <p:ph type="body" idx="1"/>
          </p:nvPr>
        </p:nvSpPr>
        <p:spPr>
          <a:xfrm>
            <a:off x="7086600" y="3357861"/>
            <a:ext cx="11049000" cy="3526606"/>
          </a:xfrm>
          <a:prstGeom prst="rect">
            <a:avLst/>
          </a:prstGeom>
          <a:noFill/>
          <a:ln>
            <a:noFill/>
          </a:ln>
        </p:spPr>
        <p:txBody>
          <a:bodyPr spcFirstLastPara="1" wrap="square" lIns="0" tIns="218425" rIns="0" bIns="0" anchor="t" anchorCtr="0">
            <a:spAutoFit/>
          </a:bodyPr>
          <a:lstStyle/>
          <a:p>
            <a:pPr marL="355600" lvl="0" indent="-342900" algn="l" rtl="0">
              <a:lnSpc>
                <a:spcPct val="100000"/>
              </a:lnSpc>
              <a:spcBef>
                <a:spcPts val="0"/>
              </a:spcBef>
              <a:spcAft>
                <a:spcPts val="0"/>
              </a:spcAft>
              <a:buClr>
                <a:schemeClr val="lt1"/>
              </a:buClr>
              <a:buSzPts val="2400"/>
              <a:buFont typeface="Arial"/>
              <a:buChar char="•"/>
            </a:pPr>
            <a:r>
              <a:rPr lang="fr-FR"/>
              <a:t>Ingest log datasets </a:t>
            </a:r>
            <a:endParaRPr/>
          </a:p>
          <a:p>
            <a:pPr marL="355600" lvl="0" indent="-342900" algn="l" rtl="0">
              <a:lnSpc>
                <a:spcPct val="100000"/>
              </a:lnSpc>
              <a:spcBef>
                <a:spcPts val="1720"/>
              </a:spcBef>
              <a:spcAft>
                <a:spcPts val="0"/>
              </a:spcAft>
              <a:buClr>
                <a:schemeClr val="lt1"/>
              </a:buClr>
              <a:buSzPts val="2400"/>
              <a:buFont typeface="Arial"/>
              <a:buChar char="•"/>
            </a:pPr>
            <a:r>
              <a:rPr lang="fr-FR"/>
              <a:t>Real-time analytics via Search Processing Language (SPL) </a:t>
            </a:r>
            <a:endParaRPr/>
          </a:p>
          <a:p>
            <a:pPr marL="355600" lvl="0" indent="-342900" algn="l" rtl="0">
              <a:lnSpc>
                <a:spcPct val="100000"/>
              </a:lnSpc>
              <a:spcBef>
                <a:spcPts val="1720"/>
              </a:spcBef>
              <a:spcAft>
                <a:spcPts val="0"/>
              </a:spcAft>
              <a:buClr>
                <a:schemeClr val="lt1"/>
              </a:buClr>
              <a:buSzPts val="2400"/>
              <a:buFont typeface="Arial"/>
              <a:buChar char="•"/>
            </a:pPr>
            <a:r>
              <a:rPr lang="fr-FR"/>
              <a:t>Test AI toolkit </a:t>
            </a:r>
            <a:endParaRPr/>
          </a:p>
          <a:p>
            <a:pPr marL="355600" lvl="0" indent="-342900" algn="l" rtl="0">
              <a:lnSpc>
                <a:spcPct val="100000"/>
              </a:lnSpc>
              <a:spcBef>
                <a:spcPts val="1720"/>
              </a:spcBef>
              <a:spcAft>
                <a:spcPts val="0"/>
              </a:spcAft>
              <a:buClr>
                <a:schemeClr val="lt1"/>
              </a:buClr>
              <a:buSzPts val="2400"/>
              <a:buFont typeface="Arial"/>
              <a:buChar char="•"/>
            </a:pPr>
            <a:r>
              <a:rPr lang="fr-FR"/>
              <a:t>Leverage Splunk’s BI-style dashboards </a:t>
            </a:r>
            <a:endParaRPr/>
          </a:p>
          <a:p>
            <a:pPr marL="355600" lvl="0" indent="-342900" algn="l" rtl="0">
              <a:lnSpc>
                <a:spcPct val="100000"/>
              </a:lnSpc>
              <a:spcBef>
                <a:spcPts val="1720"/>
              </a:spcBef>
              <a:spcAft>
                <a:spcPts val="0"/>
              </a:spcAft>
              <a:buClr>
                <a:schemeClr val="lt1"/>
              </a:buClr>
              <a:buSzPts val="2400"/>
              <a:buFont typeface="Arial"/>
              <a:buChar char="•"/>
            </a:pPr>
            <a:r>
              <a:rPr lang="fr-FR"/>
              <a:t>Threat detection and risk scoring </a:t>
            </a:r>
            <a:endParaRPr/>
          </a:p>
          <a:p>
            <a:pPr marL="355600" lvl="0" indent="-342900" algn="l" rtl="0">
              <a:lnSpc>
                <a:spcPct val="100000"/>
              </a:lnSpc>
              <a:spcBef>
                <a:spcPts val="1720"/>
              </a:spcBef>
              <a:spcAft>
                <a:spcPts val="0"/>
              </a:spcAft>
              <a:buClr>
                <a:schemeClr val="lt1"/>
              </a:buClr>
              <a:buSzPts val="2400"/>
              <a:buFont typeface="Arial"/>
              <a:buChar char="•"/>
            </a:pPr>
            <a:r>
              <a:rPr lang="fr-FR"/>
              <a:t>Evaluate performance</a:t>
            </a:r>
            <a:endParaRPr/>
          </a:p>
        </p:txBody>
      </p:sp>
      <p:sp>
        <p:nvSpPr>
          <p:cNvPr id="68" name="Google Shape;68;p3"/>
          <p:cNvSpPr txBox="1"/>
          <p:nvPr/>
        </p:nvSpPr>
        <p:spPr>
          <a:xfrm>
            <a:off x="2215243" y="4604667"/>
            <a:ext cx="2154022" cy="15696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9600" b="1">
                <a:solidFill>
                  <a:schemeClr val="lt1"/>
                </a:solidFill>
              </a:rPr>
              <a:t>&gt;</a:t>
            </a:r>
            <a:r>
              <a:rPr lang="fr-FR" sz="1800" b="1"/>
              <a:t> </a:t>
            </a:r>
            <a:endParaRPr sz="1800"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4"/>
          <p:cNvSpPr txBox="1">
            <a:spLocks noGrp="1"/>
          </p:cNvSpPr>
          <p:nvPr>
            <p:ph type="title"/>
          </p:nvPr>
        </p:nvSpPr>
        <p:spPr>
          <a:xfrm>
            <a:off x="3352800" y="1312998"/>
            <a:ext cx="13652500" cy="1075294"/>
          </a:xfrm>
          <a:prstGeom prst="rect">
            <a:avLst/>
          </a:prstGeom>
          <a:noFill/>
          <a:ln>
            <a:noFill/>
          </a:ln>
        </p:spPr>
        <p:txBody>
          <a:bodyPr spcFirstLastPara="1" wrap="square" lIns="0" tIns="333375" rIns="0" bIns="0" anchor="t" anchorCtr="0">
            <a:spAutoFit/>
          </a:bodyPr>
          <a:lstStyle/>
          <a:p>
            <a:pPr marL="12700" lvl="0" indent="0" algn="l" rtl="0">
              <a:lnSpc>
                <a:spcPct val="100000"/>
              </a:lnSpc>
              <a:spcBef>
                <a:spcPts val="0"/>
              </a:spcBef>
              <a:spcAft>
                <a:spcPts val="0"/>
              </a:spcAft>
              <a:buNone/>
            </a:pPr>
            <a:r>
              <a:rPr lang="fr-FR" sz="4800"/>
              <a:t>Methodology &amp; Evaluation Metrics</a:t>
            </a:r>
            <a:endParaRPr sz="4800">
              <a:latin typeface="Verdana"/>
              <a:ea typeface="Verdana"/>
              <a:cs typeface="Verdana"/>
              <a:sym typeface="Verdana"/>
            </a:endParaRPr>
          </a:p>
        </p:txBody>
      </p:sp>
      <p:sp>
        <p:nvSpPr>
          <p:cNvPr id="74" name="Google Shape;74;p4"/>
          <p:cNvSpPr txBox="1"/>
          <p:nvPr/>
        </p:nvSpPr>
        <p:spPr>
          <a:xfrm>
            <a:off x="620860" y="5275776"/>
            <a:ext cx="5113244" cy="2598147"/>
          </a:xfrm>
          <a:prstGeom prst="rect">
            <a:avLst/>
          </a:prstGeom>
          <a:noFill/>
          <a:ln>
            <a:noFill/>
          </a:ln>
        </p:spPr>
        <p:txBody>
          <a:bodyPr spcFirstLastPara="1" wrap="square" lIns="0" tIns="12700" rIns="0" bIns="0" anchor="t" anchorCtr="0">
            <a:spAutoFit/>
          </a:bodyPr>
          <a:lstStyle/>
          <a:p>
            <a:pPr marL="342900" lvl="0" indent="-342900" algn="l" rtl="0">
              <a:spcBef>
                <a:spcPts val="0"/>
              </a:spcBef>
              <a:spcAft>
                <a:spcPts val="0"/>
              </a:spcAft>
              <a:buClr>
                <a:schemeClr val="lt1"/>
              </a:buClr>
              <a:buSzPts val="2400"/>
              <a:buFont typeface="Arial"/>
              <a:buChar char="•"/>
            </a:pPr>
            <a:r>
              <a:rPr lang="fr-FR" sz="2400">
                <a:solidFill>
                  <a:schemeClr val="lt1"/>
                </a:solidFill>
              </a:rPr>
              <a:t>Dataset: WarmCookie malware traffic (pcap + alerts)</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Time windows: 4 min (alerts) /</a:t>
            </a:r>
            <a:endParaRPr/>
          </a:p>
          <a:p>
            <a:pPr marL="0" lvl="0" indent="0" algn="l" rtl="0">
              <a:spcBef>
                <a:spcPts val="0"/>
              </a:spcBef>
              <a:spcAft>
                <a:spcPts val="0"/>
              </a:spcAft>
              <a:buNone/>
            </a:pPr>
            <a:r>
              <a:rPr lang="fr-FR" sz="2400">
                <a:solidFill>
                  <a:schemeClr val="lt1"/>
                </a:solidFill>
              </a:rPr>
              <a:t>    32 min (traffic)</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Total packets: 18,189</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Data converted to CSV for Splunk ingestion.</a:t>
            </a:r>
            <a:endParaRPr sz="2400">
              <a:solidFill>
                <a:schemeClr val="lt1"/>
              </a:solidFill>
              <a:latin typeface="Verdana"/>
              <a:ea typeface="Verdana"/>
              <a:cs typeface="Verdana"/>
              <a:sym typeface="Verdana"/>
            </a:endParaRPr>
          </a:p>
        </p:txBody>
      </p:sp>
      <p:sp>
        <p:nvSpPr>
          <p:cNvPr id="75" name="Google Shape;75;p4"/>
          <p:cNvSpPr txBox="1"/>
          <p:nvPr/>
        </p:nvSpPr>
        <p:spPr>
          <a:xfrm>
            <a:off x="6683005" y="4914900"/>
            <a:ext cx="4980800" cy="2967479"/>
          </a:xfrm>
          <a:prstGeom prst="rect">
            <a:avLst/>
          </a:prstGeom>
          <a:noFill/>
          <a:ln>
            <a:noFill/>
          </a:ln>
        </p:spPr>
        <p:txBody>
          <a:bodyPr spcFirstLastPara="1" wrap="square" lIns="0" tIns="12700" rIns="0" bIns="0" anchor="t" anchorCtr="0">
            <a:spAutoFit/>
          </a:bodyPr>
          <a:lstStyle/>
          <a:p>
            <a:pPr marL="342900" lvl="0" indent="-190500" algn="l" rtl="0">
              <a:spcBef>
                <a:spcPts val="0"/>
              </a:spcBef>
              <a:spcAft>
                <a:spcPts val="0"/>
              </a:spcAft>
              <a:buSzPts val="2400"/>
              <a:buFont typeface="Arial"/>
              <a:buNone/>
            </a:pPr>
            <a:endParaRPr sz="2400">
              <a:solidFill>
                <a:schemeClr val="lt1"/>
              </a:solidFill>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Alert Coverage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Threat Discovery Rate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Data Loss Amount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Attacker Servers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Malware Delivery</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Attack Infrastructure</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Behavioral Patterns </a:t>
            </a:r>
            <a:endParaRPr sz="2400" b="1">
              <a:solidFill>
                <a:schemeClr val="lt1"/>
              </a:solidFill>
            </a:endParaRPr>
          </a:p>
        </p:txBody>
      </p:sp>
      <p:sp>
        <p:nvSpPr>
          <p:cNvPr id="76" name="Google Shape;76;p4"/>
          <p:cNvSpPr txBox="1"/>
          <p:nvPr/>
        </p:nvSpPr>
        <p:spPr>
          <a:xfrm>
            <a:off x="12214681" y="5263240"/>
            <a:ext cx="5755500" cy="830997"/>
          </a:xfrm>
          <a:prstGeom prst="rect">
            <a:avLst/>
          </a:prstGeom>
          <a:noFill/>
          <a:ln>
            <a:noFill/>
          </a:ln>
        </p:spPr>
        <p:txBody>
          <a:bodyPr spcFirstLastPara="1" wrap="square" lIns="91425" tIns="45700" rIns="91425" bIns="45700" anchor="t" anchorCtr="0">
            <a:spAutoFit/>
          </a:bodyPr>
          <a:lstStyle/>
          <a:p>
            <a:pPr marL="342900" lvl="0" indent="-342900" algn="l" rtl="0">
              <a:spcBef>
                <a:spcPts val="0"/>
              </a:spcBef>
              <a:spcAft>
                <a:spcPts val="0"/>
              </a:spcAft>
              <a:buClr>
                <a:schemeClr val="lt1"/>
              </a:buClr>
              <a:buSzPts val="2400"/>
              <a:buFont typeface="Arial"/>
              <a:buChar char="•"/>
            </a:pPr>
            <a:r>
              <a:rPr lang="fr-FR" sz="2400">
                <a:solidFill>
                  <a:schemeClr val="lt1"/>
                </a:solidFill>
              </a:rPr>
              <a:t>Analysis using SPL queries for threat discovery and validation</a:t>
            </a:r>
            <a:endParaRPr/>
          </a:p>
        </p:txBody>
      </p:sp>
      <p:pic>
        <p:nvPicPr>
          <p:cNvPr id="77" name="Google Shape;77;p4"/>
          <p:cNvPicPr preferRelativeResize="0"/>
          <p:nvPr/>
        </p:nvPicPr>
        <p:blipFill rotWithShape="1">
          <a:blip r:embed="rId3">
            <a:alphaModFix/>
          </a:blip>
          <a:srcRect/>
          <a:stretch/>
        </p:blipFill>
        <p:spPr>
          <a:xfrm>
            <a:off x="623261" y="3617607"/>
            <a:ext cx="4800600" cy="692451"/>
          </a:xfrm>
          <a:prstGeom prst="rect">
            <a:avLst/>
          </a:prstGeom>
          <a:noFill/>
          <a:ln>
            <a:noFill/>
          </a:ln>
        </p:spPr>
      </p:pic>
      <p:sp>
        <p:nvSpPr>
          <p:cNvPr id="78" name="Google Shape;78;p4"/>
          <p:cNvSpPr txBox="1"/>
          <p:nvPr/>
        </p:nvSpPr>
        <p:spPr>
          <a:xfrm>
            <a:off x="1712099" y="3546734"/>
            <a:ext cx="91440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latin typeface="Tahoma"/>
                <a:ea typeface="Tahoma"/>
                <a:cs typeface="Tahoma"/>
                <a:sym typeface="Tahoma"/>
              </a:rPr>
              <a:t>Set up</a:t>
            </a:r>
            <a:endParaRPr sz="4400">
              <a:solidFill>
                <a:schemeClr val="lt1"/>
              </a:solidFill>
              <a:latin typeface="Tahoma"/>
              <a:ea typeface="Tahoma"/>
              <a:cs typeface="Tahoma"/>
              <a:sym typeface="Tahoma"/>
            </a:endParaRPr>
          </a:p>
        </p:txBody>
      </p:sp>
      <p:pic>
        <p:nvPicPr>
          <p:cNvPr id="79" name="Google Shape;79;p4"/>
          <p:cNvPicPr preferRelativeResize="0"/>
          <p:nvPr/>
        </p:nvPicPr>
        <p:blipFill rotWithShape="1">
          <a:blip r:embed="rId4">
            <a:alphaModFix/>
          </a:blip>
          <a:srcRect/>
          <a:stretch/>
        </p:blipFill>
        <p:spPr>
          <a:xfrm>
            <a:off x="6644905" y="3600533"/>
            <a:ext cx="4477489" cy="712584"/>
          </a:xfrm>
          <a:prstGeom prst="rect">
            <a:avLst/>
          </a:prstGeom>
          <a:noFill/>
          <a:ln>
            <a:noFill/>
          </a:ln>
        </p:spPr>
      </p:pic>
      <p:sp>
        <p:nvSpPr>
          <p:cNvPr id="80" name="Google Shape;80;p4"/>
          <p:cNvSpPr txBox="1"/>
          <p:nvPr/>
        </p:nvSpPr>
        <p:spPr>
          <a:xfrm>
            <a:off x="7029505" y="3540617"/>
            <a:ext cx="91440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latin typeface="Tahoma"/>
                <a:ea typeface="Tahoma"/>
                <a:cs typeface="Tahoma"/>
                <a:sym typeface="Tahoma"/>
              </a:rPr>
              <a:t>Key Metrics</a:t>
            </a:r>
            <a:endParaRPr sz="4400">
              <a:solidFill>
                <a:schemeClr val="lt1"/>
              </a:solidFill>
              <a:latin typeface="Tahoma"/>
              <a:ea typeface="Tahoma"/>
              <a:cs typeface="Tahoma"/>
              <a:sym typeface="Tahoma"/>
            </a:endParaRPr>
          </a:p>
        </p:txBody>
      </p:sp>
      <p:pic>
        <p:nvPicPr>
          <p:cNvPr id="81" name="Google Shape;81;p4"/>
          <p:cNvPicPr preferRelativeResize="0"/>
          <p:nvPr/>
        </p:nvPicPr>
        <p:blipFill rotWithShape="1">
          <a:blip r:embed="rId3">
            <a:alphaModFix/>
          </a:blip>
          <a:srcRect/>
          <a:stretch/>
        </p:blipFill>
        <p:spPr>
          <a:xfrm>
            <a:off x="12236452" y="3617607"/>
            <a:ext cx="5755500" cy="712583"/>
          </a:xfrm>
          <a:prstGeom prst="rect">
            <a:avLst/>
          </a:prstGeom>
          <a:noFill/>
          <a:ln>
            <a:noFill/>
          </a:ln>
        </p:spPr>
      </p:pic>
      <p:sp>
        <p:nvSpPr>
          <p:cNvPr id="82" name="Google Shape;82;p4"/>
          <p:cNvSpPr txBox="1"/>
          <p:nvPr/>
        </p:nvSpPr>
        <p:spPr>
          <a:xfrm>
            <a:off x="12499843" y="3589177"/>
            <a:ext cx="57555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rPr>
              <a:t>Analysis Approach</a:t>
            </a:r>
            <a:endParaRPr sz="4400">
              <a:solidFill>
                <a:schemeClr val="lt1"/>
              </a:solidFill>
              <a:latin typeface="Tahoma"/>
              <a:ea typeface="Tahoma"/>
              <a:cs typeface="Tahoma"/>
              <a:sym typeface="Tahom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88" name="Google Shape;88;p5"/>
          <p:cNvSpPr txBox="1">
            <a:spLocks noGrp="1"/>
          </p:cNvSpPr>
          <p:nvPr>
            <p:ph type="title"/>
          </p:nvPr>
        </p:nvSpPr>
        <p:spPr>
          <a:xfrm>
            <a:off x="450736" y="1333500"/>
            <a:ext cx="5569064" cy="3369057"/>
          </a:xfrm>
          <a:prstGeom prst="rect">
            <a:avLst/>
          </a:prstGeom>
          <a:noFill/>
          <a:ln>
            <a:noFill/>
          </a:ln>
        </p:spPr>
        <p:txBody>
          <a:bodyPr spcFirstLastPara="1" wrap="square" lIns="0" tIns="349425" rIns="0" bIns="0" anchor="t" anchorCtr="0">
            <a:spAutoFit/>
          </a:bodyPr>
          <a:lstStyle/>
          <a:p>
            <a:pPr marL="12700" lvl="0" indent="0" algn="l" rtl="0">
              <a:lnSpc>
                <a:spcPct val="100000"/>
              </a:lnSpc>
              <a:spcBef>
                <a:spcPts val="0"/>
              </a:spcBef>
              <a:spcAft>
                <a:spcPts val="0"/>
              </a:spcAft>
              <a:buNone/>
            </a:pPr>
            <a:r>
              <a:rPr lang="fr-FR" sz="4400"/>
              <a:t>Log Ingestion</a:t>
            </a:r>
            <a:br>
              <a:rPr lang="fr-FR"/>
            </a:br>
            <a:br>
              <a:rPr lang="fr-FR"/>
            </a:br>
            <a:br>
              <a:rPr lang="fr-FR" sz="2300" b="0"/>
            </a:br>
            <a:r>
              <a:rPr lang="fr-FR" sz="2300" b="0"/>
              <a:t>The traffic data ingestion happened through a lookup creation which helped to parse the log effectively.</a:t>
            </a:r>
            <a:endParaRPr sz="2300" b="0"/>
          </a:p>
        </p:txBody>
      </p:sp>
      <p:pic>
        <p:nvPicPr>
          <p:cNvPr id="89" name="Google Shape;89;p5"/>
          <p:cNvPicPr preferRelativeResize="0"/>
          <p:nvPr/>
        </p:nvPicPr>
        <p:blipFill rotWithShape="1">
          <a:blip r:embed="rId4">
            <a:alphaModFix/>
          </a:blip>
          <a:srcRect/>
          <a:stretch/>
        </p:blipFill>
        <p:spPr>
          <a:xfrm>
            <a:off x="6508013" y="-7364"/>
            <a:ext cx="11774543" cy="4429743"/>
          </a:xfrm>
          <a:prstGeom prst="rect">
            <a:avLst/>
          </a:prstGeom>
          <a:noFill/>
          <a:ln>
            <a:noFill/>
          </a:ln>
        </p:spPr>
      </p:pic>
      <p:pic>
        <p:nvPicPr>
          <p:cNvPr id="90" name="Google Shape;90;p5"/>
          <p:cNvPicPr preferRelativeResize="0"/>
          <p:nvPr/>
        </p:nvPicPr>
        <p:blipFill rotWithShape="1">
          <a:blip r:embed="rId5">
            <a:alphaModFix/>
          </a:blip>
          <a:srcRect/>
          <a:stretch/>
        </p:blipFill>
        <p:spPr>
          <a:xfrm>
            <a:off x="6508013" y="4422379"/>
            <a:ext cx="11774543" cy="3277057"/>
          </a:xfrm>
          <a:prstGeom prst="rect">
            <a:avLst/>
          </a:prstGeom>
          <a:noFill/>
          <a:ln>
            <a:noFill/>
          </a:ln>
        </p:spPr>
      </p:pic>
      <p:pic>
        <p:nvPicPr>
          <p:cNvPr id="91" name="Google Shape;91;p5"/>
          <p:cNvPicPr preferRelativeResize="0"/>
          <p:nvPr/>
        </p:nvPicPr>
        <p:blipFill rotWithShape="1">
          <a:blip r:embed="rId6">
            <a:alphaModFix/>
          </a:blip>
          <a:srcRect/>
          <a:stretch/>
        </p:blipFill>
        <p:spPr>
          <a:xfrm>
            <a:off x="6508013" y="7699436"/>
            <a:ext cx="11781153" cy="327705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pic>
        <p:nvPicPr>
          <p:cNvPr id="96" name="Google Shape;96;p6"/>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97" name="Google Shape;97;p6"/>
          <p:cNvSpPr txBox="1"/>
          <p:nvPr/>
        </p:nvSpPr>
        <p:spPr>
          <a:xfrm>
            <a:off x="901700" y="889692"/>
            <a:ext cx="13728700" cy="2621872"/>
          </a:xfrm>
          <a:prstGeom prst="rect">
            <a:avLst/>
          </a:prstGeom>
          <a:noFill/>
          <a:ln>
            <a:noFill/>
          </a:ln>
        </p:spPr>
        <p:txBody>
          <a:bodyPr spcFirstLastPara="1" wrap="square" lIns="0" tIns="208900" rIns="0" bIns="0" anchor="t" anchorCtr="0">
            <a:spAutoFit/>
          </a:bodyPr>
          <a:lstStyle/>
          <a:p>
            <a:pPr marL="12700" marR="5080" lvl="0" indent="0" algn="l" rtl="0">
              <a:lnSpc>
                <a:spcPct val="89270"/>
              </a:lnSpc>
              <a:spcBef>
                <a:spcPts val="0"/>
              </a:spcBef>
              <a:spcAft>
                <a:spcPts val="0"/>
              </a:spcAft>
              <a:buNone/>
            </a:pPr>
            <a:r>
              <a:rPr lang="fr-FR" sz="9600" b="1">
                <a:solidFill>
                  <a:srgbClr val="FFFFFF"/>
                </a:solidFill>
                <a:latin typeface="Tahoma"/>
                <a:ea typeface="Tahoma"/>
                <a:cs typeface="Tahoma"/>
                <a:sym typeface="Tahoma"/>
              </a:rPr>
              <a:t>Experimental</a:t>
            </a:r>
            <a:endParaRPr/>
          </a:p>
          <a:p>
            <a:pPr marL="12700" marR="5080" lvl="0" indent="0" algn="l" rtl="0">
              <a:lnSpc>
                <a:spcPct val="89270"/>
              </a:lnSpc>
              <a:spcBef>
                <a:spcPts val="1645"/>
              </a:spcBef>
              <a:spcAft>
                <a:spcPts val="0"/>
              </a:spcAft>
              <a:buNone/>
            </a:pPr>
            <a:r>
              <a:rPr lang="fr-FR" sz="9600" b="1">
                <a:solidFill>
                  <a:srgbClr val="FFFFFF"/>
                </a:solidFill>
                <a:latin typeface="Tahoma"/>
                <a:ea typeface="Tahoma"/>
                <a:cs typeface="Tahoma"/>
                <a:sym typeface="Tahoma"/>
              </a:rPr>
              <a:t>Evaluation</a:t>
            </a:r>
            <a:endParaRPr sz="9600">
              <a:latin typeface="Tahoma"/>
              <a:ea typeface="Tahoma"/>
              <a:cs typeface="Tahoma"/>
              <a:sym typeface="Tahom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p7"/>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03" name="Google Shape;103;p7"/>
          <p:cNvSpPr txBox="1">
            <a:spLocks noGrp="1"/>
          </p:cNvSpPr>
          <p:nvPr>
            <p:ph type="title"/>
          </p:nvPr>
        </p:nvSpPr>
        <p:spPr>
          <a:xfrm>
            <a:off x="901700" y="1201735"/>
            <a:ext cx="15633700" cy="1598515"/>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5400"/>
              <a:t>Network Discovery - Baseline Analysis</a:t>
            </a:r>
            <a:br>
              <a:rPr lang="fr-FR"/>
            </a:br>
            <a:r>
              <a:rPr lang="fr-FR" sz="2800"/>
              <a:t> </a:t>
            </a:r>
            <a:r>
              <a:rPr lang="fr-FR" sz="2400" b="0"/>
              <a:t>Query extractes total packets, sources, destinations, average packet size.</a:t>
            </a:r>
            <a:endParaRPr sz="2400" b="0">
              <a:latin typeface="Verdana"/>
              <a:ea typeface="Verdana"/>
              <a:cs typeface="Verdana"/>
              <a:sym typeface="Verdana"/>
            </a:endParaRPr>
          </a:p>
        </p:txBody>
      </p:sp>
      <p:pic>
        <p:nvPicPr>
          <p:cNvPr id="104" name="Google Shape;104;p7"/>
          <p:cNvPicPr preferRelativeResize="0"/>
          <p:nvPr/>
        </p:nvPicPr>
        <p:blipFill rotWithShape="1">
          <a:blip r:embed="rId4">
            <a:alphaModFix/>
          </a:blip>
          <a:srcRect/>
          <a:stretch/>
        </p:blipFill>
        <p:spPr>
          <a:xfrm>
            <a:off x="381000" y="3314700"/>
            <a:ext cx="17700648" cy="6477000"/>
          </a:xfrm>
          <a:prstGeom prst="rect">
            <a:avLst/>
          </a:prstGeom>
          <a:noFill/>
          <a:ln w="127000" cap="sq" cmpd="sng">
            <a:solidFill>
              <a:srgbClr val="000000"/>
            </a:solidFill>
            <a:prstDash val="solid"/>
            <a:miter lim="800000"/>
            <a:headEnd type="none" w="sm" len="sm"/>
            <a:tailEnd type="none" w="sm" len="sm"/>
          </a:ln>
          <a:effectLst>
            <a:outerShdw blurRad="57150" dist="50800" dir="2700000" algn="tl" rotWithShape="0">
              <a:srgbClr val="000000">
                <a:alpha val="4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pic>
        <p:nvPicPr>
          <p:cNvPr id="109" name="Google Shape;109;p8"/>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10" name="Google Shape;110;p8"/>
          <p:cNvSpPr txBox="1">
            <a:spLocks noGrp="1"/>
          </p:cNvSpPr>
          <p:nvPr>
            <p:ph type="title"/>
          </p:nvPr>
        </p:nvSpPr>
        <p:spPr>
          <a:xfrm>
            <a:off x="914400" y="0"/>
            <a:ext cx="15633700" cy="1844736"/>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5400"/>
              <a:t>Noisiest Devices Identification</a:t>
            </a:r>
            <a:br>
              <a:rPr lang="fr-FR"/>
            </a:br>
            <a:r>
              <a:rPr lang="fr-FR" sz="2200" b="0">
                <a:latin typeface="Verdana"/>
                <a:ea typeface="Verdana"/>
                <a:cs typeface="Verdana"/>
                <a:sym typeface="Verdana"/>
              </a:rPr>
              <a:t>Query counts packets per source IP and sorts in descending order. This reveals which hosts are generating the most traffic.</a:t>
            </a:r>
            <a:endParaRPr sz="2200" b="0">
              <a:latin typeface="Verdana"/>
              <a:ea typeface="Verdana"/>
              <a:cs typeface="Verdana"/>
              <a:sym typeface="Verdana"/>
            </a:endParaRPr>
          </a:p>
        </p:txBody>
      </p:sp>
      <p:pic>
        <p:nvPicPr>
          <p:cNvPr id="111" name="Google Shape;111;p8"/>
          <p:cNvPicPr preferRelativeResize="0"/>
          <p:nvPr/>
        </p:nvPicPr>
        <p:blipFill rotWithShape="1">
          <a:blip r:embed="rId4">
            <a:alphaModFix/>
          </a:blip>
          <a:srcRect/>
          <a:stretch/>
        </p:blipFill>
        <p:spPr>
          <a:xfrm>
            <a:off x="571672" y="2416420"/>
            <a:ext cx="17144655" cy="78705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9"/>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17" name="Google Shape;117;p9"/>
          <p:cNvSpPr txBox="1">
            <a:spLocks noGrp="1"/>
          </p:cNvSpPr>
          <p:nvPr>
            <p:ph type="title"/>
          </p:nvPr>
        </p:nvSpPr>
        <p:spPr>
          <a:xfrm>
            <a:off x="778329" y="191592"/>
            <a:ext cx="15633700" cy="2029402"/>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5400"/>
              <a:t>External Communication Mapping</a:t>
            </a:r>
            <a:br>
              <a:rPr lang="fr-FR"/>
            </a:br>
            <a:r>
              <a:rPr lang="fr-FR" sz="2800"/>
              <a:t>Reconnaissance-level analysis</a:t>
            </a:r>
            <a:br>
              <a:rPr lang="fr-FR"/>
            </a:br>
            <a:endParaRPr sz="2800" b="0">
              <a:latin typeface="Verdana"/>
              <a:ea typeface="Verdana"/>
              <a:cs typeface="Verdana"/>
              <a:sym typeface="Verdana"/>
            </a:endParaRPr>
          </a:p>
        </p:txBody>
      </p:sp>
      <p:pic>
        <p:nvPicPr>
          <p:cNvPr id="118" name="Google Shape;118;p9"/>
          <p:cNvPicPr preferRelativeResize="0"/>
          <p:nvPr/>
        </p:nvPicPr>
        <p:blipFill rotWithShape="1">
          <a:blip r:embed="rId4">
            <a:alphaModFix/>
          </a:blip>
          <a:srcRect/>
          <a:stretch/>
        </p:blipFill>
        <p:spPr>
          <a:xfrm>
            <a:off x="2356452" y="3390900"/>
            <a:ext cx="13575095" cy="6448741"/>
          </a:xfrm>
          <a:prstGeom prst="rect">
            <a:avLst/>
          </a:prstGeom>
          <a:noFill/>
          <a:ln>
            <a:noFill/>
          </a:ln>
        </p:spPr>
      </p:pic>
      <p:sp>
        <p:nvSpPr>
          <p:cNvPr id="119" name="Google Shape;119;p9"/>
          <p:cNvSpPr txBox="1"/>
          <p:nvPr/>
        </p:nvSpPr>
        <p:spPr>
          <a:xfrm>
            <a:off x="778329" y="2042165"/>
            <a:ext cx="16265630" cy="1015663"/>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b="0">
                <a:solidFill>
                  <a:schemeClr val="lt1"/>
                </a:solidFill>
                <a:latin typeface="Verdana"/>
                <a:ea typeface="Verdana"/>
                <a:cs typeface="Verdana"/>
                <a:sym typeface="Verdana"/>
              </a:rPr>
              <a:t>Query puts focus specifically on communications leaving the internal network (10.8.15.%) by filtering for external destinations, then counts connections to each external IP. This exposes potential Attacker servers and malware distribution points. </a:t>
            </a:r>
            <a:endParaRPr sz="2000">
              <a:solidFill>
                <a:schemeClr val="lt1"/>
              </a:solidFill>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grpSp>
        <p:nvGrpSpPr>
          <p:cNvPr id="124" name="Google Shape;124;p10"/>
          <p:cNvGrpSpPr/>
          <p:nvPr/>
        </p:nvGrpSpPr>
        <p:grpSpPr>
          <a:xfrm>
            <a:off x="2895600" y="2324100"/>
            <a:ext cx="15392231" cy="7962899"/>
            <a:chOff x="6700400" y="914400"/>
            <a:chExt cx="11587600" cy="9372599"/>
          </a:xfrm>
        </p:grpSpPr>
        <p:pic>
          <p:nvPicPr>
            <p:cNvPr id="125" name="Google Shape;125;p10"/>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26" name="Google Shape;126;p10"/>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27" name="Google Shape;127;p10"/>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28" name="Google Shape;128;p10"/>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29" name="Google Shape;129;p10"/>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30" name="Google Shape;130;p10"/>
          <p:cNvSpPr txBox="1">
            <a:spLocks noGrp="1"/>
          </p:cNvSpPr>
          <p:nvPr>
            <p:ph type="title"/>
          </p:nvPr>
        </p:nvSpPr>
        <p:spPr>
          <a:xfrm>
            <a:off x="790815" y="336779"/>
            <a:ext cx="17121627" cy="1226298"/>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400"/>
              <a:t>Malware Delivery Detection</a:t>
            </a:r>
            <a:br>
              <a:rPr lang="fr-FR" sz="4800"/>
            </a:br>
            <a:endParaRPr sz="2400" b="0">
              <a:latin typeface="Verdana"/>
              <a:ea typeface="Verdana"/>
              <a:cs typeface="Verdana"/>
              <a:sym typeface="Verdana"/>
            </a:endParaRPr>
          </a:p>
        </p:txBody>
      </p:sp>
      <p:pic>
        <p:nvPicPr>
          <p:cNvPr id="131" name="Google Shape;131;p10"/>
          <p:cNvPicPr preferRelativeResize="0"/>
          <p:nvPr/>
        </p:nvPicPr>
        <p:blipFill rotWithShape="1">
          <a:blip r:embed="rId8">
            <a:alphaModFix/>
          </a:blip>
          <a:srcRect/>
          <a:stretch/>
        </p:blipFill>
        <p:spPr>
          <a:xfrm>
            <a:off x="3059947" y="2506125"/>
            <a:ext cx="15228054" cy="6896781"/>
          </a:xfrm>
          <a:prstGeom prst="rect">
            <a:avLst/>
          </a:prstGeom>
          <a:noFill/>
          <a:ln>
            <a:noFill/>
          </a:ln>
        </p:spPr>
      </p:pic>
      <p:sp>
        <p:nvSpPr>
          <p:cNvPr id="132" name="Google Shape;132;p10"/>
          <p:cNvSpPr txBox="1"/>
          <p:nvPr/>
        </p:nvSpPr>
        <p:spPr>
          <a:xfrm>
            <a:off x="785372" y="1209134"/>
            <a:ext cx="15902428"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b="0">
                <a:solidFill>
                  <a:schemeClr val="lt1"/>
                </a:solidFill>
                <a:latin typeface="Verdana"/>
                <a:ea typeface="Verdana"/>
                <a:cs typeface="Verdana"/>
                <a:sym typeface="Verdana"/>
              </a:rPr>
              <a:t>Query detects suspicious download activity targeting the infected host (10.8.15.133) by identifying large payloads set above (1000 bytes) from external sources then counts download frequency, malicious sources, and average payload size. </a:t>
            </a:r>
            <a:endParaRPr sz="2000">
              <a:solidFill>
                <a:schemeClr val="lt1"/>
              </a:solidFill>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11"/>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38" name="Google Shape;138;p11"/>
          <p:cNvSpPr txBox="1">
            <a:spLocks noGrp="1"/>
          </p:cNvSpPr>
          <p:nvPr>
            <p:ph type="title"/>
          </p:nvPr>
        </p:nvSpPr>
        <p:spPr>
          <a:xfrm>
            <a:off x="693917" y="723900"/>
            <a:ext cx="16998601" cy="1826847"/>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From External Mapping to Attacker Servers Detection</a:t>
            </a:r>
            <a:br>
              <a:rPr lang="fr-FR" sz="4800"/>
            </a:br>
            <a:r>
              <a:rPr lang="fr-FR" sz="3200"/>
              <a:t>Behavioral analysis</a:t>
            </a:r>
            <a:br>
              <a:rPr lang="fr-FR" sz="4800"/>
            </a:br>
            <a:endParaRPr sz="2800" b="0">
              <a:latin typeface="Verdana"/>
              <a:ea typeface="Verdana"/>
              <a:cs typeface="Verdana"/>
              <a:sym typeface="Verdana"/>
            </a:endParaRPr>
          </a:p>
        </p:txBody>
      </p:sp>
      <p:sp>
        <p:nvSpPr>
          <p:cNvPr id="139" name="Google Shape;139;p11"/>
          <p:cNvSpPr txBox="1"/>
          <p:nvPr/>
        </p:nvSpPr>
        <p:spPr>
          <a:xfrm>
            <a:off x="595473" y="8393850"/>
            <a:ext cx="10166700" cy="3693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1800" b="1" i="0">
                <a:solidFill>
                  <a:schemeClr val="lt1"/>
                </a:solidFill>
                <a:latin typeface="Arial"/>
                <a:ea typeface="Arial"/>
                <a:cs typeface="Arial"/>
                <a:sym typeface="Arial"/>
              </a:rPr>
              <a:t>Question:</a:t>
            </a:r>
            <a:r>
              <a:rPr lang="fr-FR" sz="1800" b="0" i="0">
                <a:solidFill>
                  <a:schemeClr val="lt1"/>
                </a:solidFill>
                <a:latin typeface="Arial"/>
                <a:ea typeface="Arial"/>
                <a:cs typeface="Arial"/>
                <a:sym typeface="Arial"/>
              </a:rPr>
              <a:t> </a:t>
            </a:r>
            <a:r>
              <a:rPr lang="fr-FR" sz="1800">
                <a:solidFill>
                  <a:schemeClr val="lt1"/>
                </a:solidFill>
                <a:latin typeface="Arial"/>
                <a:ea typeface="Arial"/>
                <a:cs typeface="Arial"/>
                <a:sym typeface="Arial"/>
              </a:rPr>
              <a:t>Which of these</a:t>
            </a:r>
            <a:r>
              <a:rPr lang="fr-FR" sz="1800" b="0" i="0">
                <a:solidFill>
                  <a:schemeClr val="lt1"/>
                </a:solidFill>
                <a:latin typeface="Arial"/>
                <a:ea typeface="Arial"/>
                <a:cs typeface="Arial"/>
                <a:sym typeface="Arial"/>
              </a:rPr>
              <a:t> identified external IPs are acting as </a:t>
            </a:r>
            <a:r>
              <a:rPr lang="fr-FR" sz="1800" b="0" i="1">
                <a:solidFill>
                  <a:schemeClr val="lt1"/>
                </a:solidFill>
                <a:latin typeface="Arial"/>
                <a:ea typeface="Arial"/>
                <a:cs typeface="Arial"/>
                <a:sym typeface="Arial"/>
              </a:rPr>
              <a:t>Attacker servers</a:t>
            </a:r>
            <a:r>
              <a:rPr lang="fr-FR" sz="1800" b="0" i="0">
                <a:solidFill>
                  <a:schemeClr val="lt1"/>
                </a:solidFill>
                <a:latin typeface="Arial"/>
                <a:ea typeface="Arial"/>
                <a:cs typeface="Arial"/>
                <a:sym typeface="Arial"/>
              </a:rPr>
              <a:t>?"</a:t>
            </a:r>
            <a:endParaRPr/>
          </a:p>
        </p:txBody>
      </p:sp>
      <p:sp>
        <p:nvSpPr>
          <p:cNvPr id="140" name="Google Shape;140;p11"/>
          <p:cNvSpPr txBox="1"/>
          <p:nvPr/>
        </p:nvSpPr>
        <p:spPr>
          <a:xfrm>
            <a:off x="595482" y="8784520"/>
            <a:ext cx="11893201" cy="800219"/>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lt1"/>
              </a:buClr>
              <a:buSzPts val="1800"/>
              <a:buFont typeface="Arial"/>
              <a:buNone/>
            </a:pPr>
            <a:r>
              <a:rPr lang="fr-FR" sz="1800" b="0" i="0">
                <a:solidFill>
                  <a:schemeClr val="lt1"/>
                </a:solidFill>
                <a:latin typeface="Arial"/>
                <a:ea typeface="Arial"/>
                <a:cs typeface="Arial"/>
                <a:sym typeface="Arial"/>
              </a:rPr>
              <a:t>Through correlation of our findings, the </a:t>
            </a:r>
            <a:r>
              <a:rPr lang="fr-FR" sz="1800" b="1" i="0">
                <a:solidFill>
                  <a:schemeClr val="lt1"/>
                </a:solidFill>
                <a:latin typeface="Arial"/>
                <a:ea typeface="Arial"/>
                <a:cs typeface="Arial"/>
                <a:sym typeface="Arial"/>
              </a:rPr>
              <a:t>4 </a:t>
            </a:r>
            <a:r>
              <a:rPr lang="fr-FR" sz="1800" b="1">
                <a:solidFill>
                  <a:schemeClr val="lt1"/>
                </a:solidFill>
                <a:latin typeface="Arial"/>
                <a:ea typeface="Arial"/>
                <a:cs typeface="Arial"/>
                <a:sym typeface="Arial"/>
              </a:rPr>
              <a:t>Attacker </a:t>
            </a:r>
            <a:r>
              <a:rPr lang="fr-FR" sz="1800" b="1" i="0">
                <a:solidFill>
                  <a:schemeClr val="lt1"/>
                </a:solidFill>
                <a:latin typeface="Arial"/>
                <a:ea typeface="Arial"/>
                <a:cs typeface="Arial"/>
                <a:sym typeface="Arial"/>
              </a:rPr>
              <a:t>servers</a:t>
            </a:r>
            <a:r>
              <a:rPr lang="fr-FR" sz="1800" b="0" i="0">
                <a:solidFill>
                  <a:schemeClr val="lt1"/>
                </a:solidFill>
                <a:latin typeface="Arial"/>
                <a:ea typeface="Arial"/>
                <a:cs typeface="Arial"/>
                <a:sym typeface="Arial"/>
              </a:rPr>
              <a:t> are:</a:t>
            </a:r>
            <a:endParaRPr sz="1800">
              <a:solidFill>
                <a:schemeClr val="lt1"/>
              </a:solidFill>
              <a:latin typeface="Arial"/>
              <a:ea typeface="Arial"/>
              <a:cs typeface="Arial"/>
              <a:sym typeface="Arial"/>
            </a:endParaRPr>
          </a:p>
          <a:p>
            <a:pPr marL="0" lvl="0" indent="0" algn="l" rtl="0">
              <a:spcBef>
                <a:spcPts val="1200"/>
              </a:spcBef>
              <a:spcAft>
                <a:spcPts val="0"/>
              </a:spcAft>
              <a:buClr>
                <a:schemeClr val="lt1"/>
              </a:buClr>
              <a:buSzPts val="1800"/>
              <a:buFont typeface="Arial"/>
              <a:buNone/>
            </a:pPr>
            <a:r>
              <a:rPr lang="fr-FR" sz="1800" b="0" i="0">
                <a:solidFill>
                  <a:schemeClr val="lt1"/>
                </a:solidFill>
                <a:latin typeface="Arial"/>
                <a:ea typeface="Arial"/>
                <a:cs typeface="Arial"/>
                <a:sym typeface="Arial"/>
              </a:rPr>
              <a:t>72.5.43.29</a:t>
            </a:r>
            <a:r>
              <a:rPr lang="fr-FR" sz="1800">
                <a:solidFill>
                  <a:schemeClr val="lt1"/>
                </a:solidFill>
                <a:latin typeface="Arial"/>
                <a:ea typeface="Arial"/>
                <a:cs typeface="Arial"/>
                <a:sym typeface="Arial"/>
              </a:rPr>
              <a:t>,   </a:t>
            </a:r>
            <a:r>
              <a:rPr lang="fr-FR" sz="1800" b="0" i="0">
                <a:solidFill>
                  <a:schemeClr val="lt1"/>
                </a:solidFill>
                <a:latin typeface="Arial"/>
                <a:ea typeface="Arial"/>
                <a:cs typeface="Arial"/>
                <a:sym typeface="Arial"/>
              </a:rPr>
              <a:t>104.21.55.70</a:t>
            </a:r>
            <a:r>
              <a:rPr lang="fr-FR" sz="1800">
                <a:solidFill>
                  <a:schemeClr val="lt1"/>
                </a:solidFill>
                <a:latin typeface="Arial"/>
                <a:ea typeface="Arial"/>
                <a:cs typeface="Arial"/>
                <a:sym typeface="Arial"/>
              </a:rPr>
              <a:t>,   </a:t>
            </a:r>
            <a:r>
              <a:rPr lang="fr-FR" sz="1800" b="0" i="0">
                <a:solidFill>
                  <a:schemeClr val="lt1"/>
                </a:solidFill>
                <a:latin typeface="Arial"/>
                <a:ea typeface="Arial"/>
                <a:cs typeface="Arial"/>
                <a:sym typeface="Arial"/>
              </a:rPr>
              <a:t>23.220.103.8</a:t>
            </a:r>
            <a:r>
              <a:rPr lang="fr-FR" sz="1800">
                <a:solidFill>
                  <a:schemeClr val="lt1"/>
                </a:solidFill>
                <a:latin typeface="Arial"/>
                <a:ea typeface="Arial"/>
                <a:cs typeface="Arial"/>
                <a:sym typeface="Arial"/>
              </a:rPr>
              <a:t>,    </a:t>
            </a:r>
            <a:r>
              <a:rPr lang="fr-FR" sz="1800" b="0" i="0">
                <a:solidFill>
                  <a:schemeClr val="lt1"/>
                </a:solidFill>
                <a:latin typeface="Arial"/>
                <a:ea typeface="Arial"/>
                <a:cs typeface="Arial"/>
                <a:sym typeface="Arial"/>
              </a:rPr>
              <a:t>23.220.103.18</a:t>
            </a:r>
            <a:endParaRPr sz="1800" b="0" i="0">
              <a:solidFill>
                <a:schemeClr val="lt1"/>
              </a:solidFill>
              <a:latin typeface="Arial"/>
              <a:ea typeface="Arial"/>
              <a:cs typeface="Arial"/>
              <a:sym typeface="Arial"/>
            </a:endParaRPr>
          </a:p>
        </p:txBody>
      </p:sp>
      <p:sp>
        <p:nvSpPr>
          <p:cNvPr id="141" name="Google Shape;141;p11"/>
          <p:cNvSpPr txBox="1"/>
          <p:nvPr/>
        </p:nvSpPr>
        <p:spPr>
          <a:xfrm>
            <a:off x="595482" y="2318475"/>
            <a:ext cx="16092318"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a:solidFill>
                  <a:schemeClr val="lt1"/>
                </a:solidFill>
                <a:latin typeface="Verdana"/>
                <a:ea typeface="Verdana"/>
                <a:cs typeface="Verdana"/>
                <a:sym typeface="Verdana"/>
              </a:rPr>
              <a:t>Qu</a:t>
            </a:r>
            <a:r>
              <a:rPr lang="fr-FR" sz="2000" b="0">
                <a:solidFill>
                  <a:schemeClr val="lt1"/>
                </a:solidFill>
                <a:latin typeface="Verdana"/>
                <a:ea typeface="Verdana"/>
                <a:cs typeface="Verdana"/>
                <a:sym typeface="Verdana"/>
              </a:rPr>
              <a:t>ery identifies the communication pattern between the infected host and known malicious servers to eventually deduce the Attacker servers, it calculates the check-in frequency with these servers, and determines its average time interval.</a:t>
            </a:r>
            <a:endParaRPr sz="2000">
              <a:solidFill>
                <a:schemeClr val="lt1"/>
              </a:solidFill>
              <a:latin typeface="Verdana"/>
              <a:ea typeface="Verdana"/>
              <a:cs typeface="Verdana"/>
              <a:sym typeface="Verdana"/>
            </a:endParaRPr>
          </a:p>
        </p:txBody>
      </p:sp>
      <p:pic>
        <p:nvPicPr>
          <p:cNvPr id="142" name="Google Shape;142;p11"/>
          <p:cNvPicPr preferRelativeResize="0"/>
          <p:nvPr/>
        </p:nvPicPr>
        <p:blipFill rotWithShape="1">
          <a:blip r:embed="rId4">
            <a:alphaModFix/>
          </a:blip>
          <a:srcRect r="1368"/>
          <a:stretch/>
        </p:blipFill>
        <p:spPr>
          <a:xfrm>
            <a:off x="1361440" y="3530074"/>
            <a:ext cx="15565119" cy="45739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grpSp>
        <p:nvGrpSpPr>
          <p:cNvPr id="147" name="Google Shape;147;p12"/>
          <p:cNvGrpSpPr/>
          <p:nvPr/>
        </p:nvGrpSpPr>
        <p:grpSpPr>
          <a:xfrm>
            <a:off x="4648200" y="1714500"/>
            <a:ext cx="13639709" cy="8839199"/>
            <a:chOff x="6700400" y="914400"/>
            <a:chExt cx="11587600" cy="9372599"/>
          </a:xfrm>
        </p:grpSpPr>
        <p:pic>
          <p:nvPicPr>
            <p:cNvPr id="148" name="Google Shape;148;p12"/>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49" name="Google Shape;149;p12"/>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50" name="Google Shape;150;p12"/>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51" name="Google Shape;151;p12"/>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52" name="Google Shape;152;p12"/>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53" name="Google Shape;153;p12"/>
          <p:cNvSpPr txBox="1">
            <a:spLocks noGrp="1"/>
          </p:cNvSpPr>
          <p:nvPr>
            <p:ph type="title"/>
          </p:nvPr>
        </p:nvSpPr>
        <p:spPr>
          <a:xfrm>
            <a:off x="612604" y="663533"/>
            <a:ext cx="9943266" cy="720069"/>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Data Exfiltration Assessment</a:t>
            </a:r>
            <a:endParaRPr sz="4500">
              <a:latin typeface="Verdana"/>
              <a:ea typeface="Verdana"/>
              <a:cs typeface="Verdana"/>
              <a:sym typeface="Verdana"/>
            </a:endParaRPr>
          </a:p>
        </p:txBody>
      </p:sp>
      <p:pic>
        <p:nvPicPr>
          <p:cNvPr id="154" name="Google Shape;154;p12"/>
          <p:cNvPicPr preferRelativeResize="0"/>
          <p:nvPr/>
        </p:nvPicPr>
        <p:blipFill rotWithShape="1">
          <a:blip r:embed="rId8">
            <a:alphaModFix/>
          </a:blip>
          <a:srcRect/>
          <a:stretch/>
        </p:blipFill>
        <p:spPr>
          <a:xfrm>
            <a:off x="4799278" y="1844665"/>
            <a:ext cx="13488630" cy="7629406"/>
          </a:xfrm>
          <a:prstGeom prst="rect">
            <a:avLst/>
          </a:prstGeom>
          <a:noFill/>
          <a:ln>
            <a:noFill/>
          </a:ln>
        </p:spPr>
      </p:pic>
      <p:sp>
        <p:nvSpPr>
          <p:cNvPr id="155" name="Google Shape;155;p12"/>
          <p:cNvSpPr txBox="1"/>
          <p:nvPr/>
        </p:nvSpPr>
        <p:spPr>
          <a:xfrm>
            <a:off x="607161" y="2541818"/>
            <a:ext cx="3899525" cy="313932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rPr>
              <a:t>Query measures outbound traffic from the infected host to external destinations, focusing on larger packets above (500 bytes) which likely contains stolen data. Then computes data loss volume, exfiltration frequency, and receiving servers.</a:t>
            </a:r>
            <a:endParaRPr sz="22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16"/>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61" name="Google Shape;161;p16"/>
          <p:cNvSpPr txBox="1">
            <a:spLocks noGrp="1"/>
          </p:cNvSpPr>
          <p:nvPr>
            <p:ph type="title"/>
          </p:nvPr>
        </p:nvSpPr>
        <p:spPr>
          <a:xfrm>
            <a:off x="507720" y="190500"/>
            <a:ext cx="17791166" cy="1998624"/>
          </a:xfrm>
          <a:prstGeom prst="rect">
            <a:avLst/>
          </a:prstGeom>
          <a:noFill/>
          <a:ln>
            <a:noFill/>
          </a:ln>
        </p:spPr>
        <p:txBody>
          <a:bodyPr spcFirstLastPara="1" wrap="square" lIns="0" tIns="333375" rIns="0" bIns="0" anchor="t" anchorCtr="0">
            <a:spAutoFit/>
          </a:bodyPr>
          <a:lstStyle/>
          <a:p>
            <a:pPr marL="12700" lvl="0" indent="0" algn="l" rtl="0">
              <a:lnSpc>
                <a:spcPct val="100000"/>
              </a:lnSpc>
              <a:spcBef>
                <a:spcPts val="0"/>
              </a:spcBef>
              <a:spcAft>
                <a:spcPts val="0"/>
              </a:spcAft>
              <a:buNone/>
            </a:pPr>
            <a:r>
              <a:rPr lang="fr-FR" sz="4800">
                <a:latin typeface="Verdana"/>
                <a:ea typeface="Verdana"/>
                <a:cs typeface="Verdana"/>
                <a:sym typeface="Verdana"/>
              </a:rPr>
              <a:t>Attack Timeline Reconstruction</a:t>
            </a:r>
            <a:br>
              <a:rPr lang="fr-FR" sz="4800">
                <a:latin typeface="Verdana"/>
                <a:ea typeface="Verdana"/>
                <a:cs typeface="Verdana"/>
                <a:sym typeface="Verdana"/>
              </a:rPr>
            </a:br>
            <a:br>
              <a:rPr lang="fr-FR" sz="3000" b="0">
                <a:latin typeface="Verdana"/>
                <a:ea typeface="Verdana"/>
                <a:cs typeface="Verdana"/>
                <a:sym typeface="Verdana"/>
              </a:rPr>
            </a:br>
            <a:endParaRPr sz="3000">
              <a:latin typeface="Verdana"/>
              <a:ea typeface="Verdana"/>
              <a:cs typeface="Verdana"/>
              <a:sym typeface="Verdana"/>
            </a:endParaRPr>
          </a:p>
        </p:txBody>
      </p:sp>
      <p:pic>
        <p:nvPicPr>
          <p:cNvPr id="162" name="Google Shape;162;p16"/>
          <p:cNvPicPr preferRelativeResize="0"/>
          <p:nvPr/>
        </p:nvPicPr>
        <p:blipFill rotWithShape="1">
          <a:blip r:embed="rId4">
            <a:alphaModFix/>
          </a:blip>
          <a:srcRect t="311" r="28576" b="46946"/>
          <a:stretch/>
        </p:blipFill>
        <p:spPr>
          <a:xfrm>
            <a:off x="6564075" y="2527280"/>
            <a:ext cx="11734800" cy="4410074"/>
          </a:xfrm>
          <a:prstGeom prst="rect">
            <a:avLst/>
          </a:prstGeom>
          <a:noFill/>
          <a:ln>
            <a:noFill/>
          </a:ln>
        </p:spPr>
      </p:pic>
      <p:pic>
        <p:nvPicPr>
          <p:cNvPr id="163" name="Google Shape;163;p16"/>
          <p:cNvPicPr preferRelativeResize="0"/>
          <p:nvPr/>
        </p:nvPicPr>
        <p:blipFill rotWithShape="1">
          <a:blip r:embed="rId5">
            <a:alphaModFix/>
          </a:blip>
          <a:srcRect/>
          <a:stretch/>
        </p:blipFill>
        <p:spPr>
          <a:xfrm>
            <a:off x="4653068" y="6937353"/>
            <a:ext cx="13645799" cy="3349647"/>
          </a:xfrm>
          <a:prstGeom prst="rect">
            <a:avLst/>
          </a:prstGeom>
          <a:noFill/>
          <a:ln>
            <a:noFill/>
          </a:ln>
        </p:spPr>
      </p:pic>
      <p:sp>
        <p:nvSpPr>
          <p:cNvPr id="164" name="Google Shape;164;p16"/>
          <p:cNvSpPr txBox="1"/>
          <p:nvPr/>
        </p:nvSpPr>
        <p:spPr>
          <a:xfrm>
            <a:off x="507720" y="3009900"/>
            <a:ext cx="5131080" cy="163121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a:solidFill>
                  <a:schemeClr val="lt1"/>
                </a:solidFill>
              </a:rPr>
              <a:t>Peak activity happened at time: 80.2 - 80.3 (between 00:10:20.200  and  00:10:20.300 UTC). The attack peaked at that specific moment with 946 packets representing the highest concentration of malicious activity. </a:t>
            </a:r>
            <a:endParaRPr sz="2000">
              <a:solidFill>
                <a:schemeClr val="lt1"/>
              </a:solidFill>
            </a:endParaRPr>
          </a:p>
        </p:txBody>
      </p:sp>
      <p:sp>
        <p:nvSpPr>
          <p:cNvPr id="165" name="Google Shape;165;p16"/>
          <p:cNvSpPr txBox="1"/>
          <p:nvPr/>
        </p:nvSpPr>
        <p:spPr>
          <a:xfrm>
            <a:off x="518606" y="1484187"/>
            <a:ext cx="17388394" cy="76944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b="0">
                <a:solidFill>
                  <a:schemeClr val="lt1"/>
                </a:solidFill>
                <a:latin typeface="Verdana"/>
                <a:ea typeface="Verdana"/>
                <a:cs typeface="Verdana"/>
                <a:sym typeface="Verdana"/>
              </a:rPr>
              <a:t>Query Creates a time-series visualization of malicious activity by grouping traffic into time buckets and marking communications involving the infected host.</a:t>
            </a:r>
            <a:endParaRPr sz="2200">
              <a:solidFill>
                <a:schemeClr val="lt1"/>
              </a:solidFill>
              <a:latin typeface="Verdana"/>
              <a:ea typeface="Verdana"/>
              <a:cs typeface="Verdana"/>
              <a:sym typeface="Verdan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grpSp>
        <p:nvGrpSpPr>
          <p:cNvPr id="170" name="Google Shape;170;p13"/>
          <p:cNvGrpSpPr/>
          <p:nvPr/>
        </p:nvGrpSpPr>
        <p:grpSpPr>
          <a:xfrm>
            <a:off x="4038600" y="1741845"/>
            <a:ext cx="14249281" cy="8811854"/>
            <a:chOff x="6700400" y="914400"/>
            <a:chExt cx="11587600" cy="9372599"/>
          </a:xfrm>
        </p:grpSpPr>
        <p:pic>
          <p:nvPicPr>
            <p:cNvPr id="171" name="Google Shape;171;p13"/>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72" name="Google Shape;172;p13"/>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73" name="Google Shape;173;p13"/>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74" name="Google Shape;174;p13"/>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75" name="Google Shape;175;p13"/>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76" name="Google Shape;176;p13"/>
          <p:cNvSpPr txBox="1">
            <a:spLocks noGrp="1"/>
          </p:cNvSpPr>
          <p:nvPr>
            <p:ph type="title"/>
          </p:nvPr>
        </p:nvSpPr>
        <p:spPr>
          <a:xfrm>
            <a:off x="612604" y="663533"/>
            <a:ext cx="13318552" cy="720069"/>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Protocol-based Threat Categorization</a:t>
            </a:r>
            <a:endParaRPr sz="4500">
              <a:latin typeface="Verdana"/>
              <a:ea typeface="Verdana"/>
              <a:cs typeface="Verdana"/>
              <a:sym typeface="Verdana"/>
            </a:endParaRPr>
          </a:p>
        </p:txBody>
      </p:sp>
      <p:sp>
        <p:nvSpPr>
          <p:cNvPr id="177" name="Google Shape;177;p13"/>
          <p:cNvSpPr txBox="1"/>
          <p:nvPr/>
        </p:nvSpPr>
        <p:spPr>
          <a:xfrm>
            <a:off x="596275" y="2109775"/>
            <a:ext cx="3200400" cy="3477875"/>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rPr>
              <a:t>Query groups all network traffic by protocol, then calculates for each protocol how many packets, average size and maximum size. </a:t>
            </a:r>
            <a:endParaRPr/>
          </a:p>
          <a:p>
            <a:pPr marL="0" lvl="0" indent="0" algn="l" rtl="0">
              <a:spcBef>
                <a:spcPts val="0"/>
              </a:spcBef>
              <a:spcAft>
                <a:spcPts val="0"/>
              </a:spcAft>
              <a:buNone/>
            </a:pPr>
            <a:r>
              <a:rPr lang="fr-FR" sz="2200">
                <a:solidFill>
                  <a:schemeClr val="lt1"/>
                </a:solidFill>
              </a:rPr>
              <a:t>Then classifies each protocol into a threat category based on some behavioral rules.</a:t>
            </a:r>
            <a:endParaRPr sz="2200">
              <a:solidFill>
                <a:schemeClr val="lt1"/>
              </a:solidFill>
            </a:endParaRPr>
          </a:p>
        </p:txBody>
      </p:sp>
      <p:pic>
        <p:nvPicPr>
          <p:cNvPr id="178" name="Google Shape;178;p13"/>
          <p:cNvPicPr preferRelativeResize="0"/>
          <p:nvPr/>
        </p:nvPicPr>
        <p:blipFill rotWithShape="1">
          <a:blip r:embed="rId8">
            <a:alphaModFix/>
          </a:blip>
          <a:srcRect r="1226" b="5618"/>
          <a:stretch/>
        </p:blipFill>
        <p:spPr>
          <a:xfrm>
            <a:off x="4234753" y="1908265"/>
            <a:ext cx="14053126" cy="776310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grpSp>
        <p:nvGrpSpPr>
          <p:cNvPr id="183" name="Google Shape;183;p14"/>
          <p:cNvGrpSpPr/>
          <p:nvPr/>
        </p:nvGrpSpPr>
        <p:grpSpPr>
          <a:xfrm>
            <a:off x="2895601" y="2933700"/>
            <a:ext cx="15392230" cy="7619999"/>
            <a:chOff x="6700400" y="914400"/>
            <a:chExt cx="11587600" cy="9372599"/>
          </a:xfrm>
        </p:grpSpPr>
        <p:pic>
          <p:nvPicPr>
            <p:cNvPr id="184" name="Google Shape;184;p14"/>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85" name="Google Shape;185;p14"/>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86" name="Google Shape;186;p14"/>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87" name="Google Shape;187;p14"/>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88" name="Google Shape;188;p14"/>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89" name="Google Shape;189;p14"/>
          <p:cNvSpPr txBox="1">
            <a:spLocks noGrp="1"/>
          </p:cNvSpPr>
          <p:nvPr>
            <p:ph type="title"/>
          </p:nvPr>
        </p:nvSpPr>
        <p:spPr>
          <a:xfrm>
            <a:off x="462642" y="520109"/>
            <a:ext cx="18589796" cy="1309974"/>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400"/>
              <a:t>Protocol-based Anomaly Detection (Baseline Comparison)</a:t>
            </a:r>
            <a:br>
              <a:rPr lang="fr-FR" sz="4800"/>
            </a:br>
            <a:endParaRPr sz="4500">
              <a:latin typeface="Verdana"/>
              <a:ea typeface="Verdana"/>
              <a:cs typeface="Verdana"/>
              <a:sym typeface="Verdana"/>
            </a:endParaRPr>
          </a:p>
        </p:txBody>
      </p:sp>
      <p:sp>
        <p:nvSpPr>
          <p:cNvPr id="190" name="Google Shape;190;p14"/>
          <p:cNvSpPr txBox="1"/>
          <p:nvPr/>
        </p:nvSpPr>
        <p:spPr>
          <a:xfrm>
            <a:off x="440871" y="1378232"/>
            <a:ext cx="18059400" cy="76944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b="0">
                <a:solidFill>
                  <a:schemeClr val="lt1"/>
                </a:solidFill>
                <a:latin typeface="Verdana"/>
                <a:ea typeface="Verdana"/>
                <a:cs typeface="Verdana"/>
                <a:sym typeface="Verdana"/>
              </a:rPr>
              <a:t>Query sets a ”normal” packet size at 300 bytes, then computes avg packet size for each protocol to measure the deviation from the 300 bytes baseline using an anomaly score, then assigns risk levels (High/Medium/Low). </a:t>
            </a:r>
            <a:endParaRPr sz="2200">
              <a:solidFill>
                <a:schemeClr val="lt1"/>
              </a:solidFill>
            </a:endParaRPr>
          </a:p>
        </p:txBody>
      </p:sp>
      <p:pic>
        <p:nvPicPr>
          <p:cNvPr id="191" name="Google Shape;191;p14"/>
          <p:cNvPicPr preferRelativeResize="0"/>
          <p:nvPr/>
        </p:nvPicPr>
        <p:blipFill rotWithShape="1">
          <a:blip r:embed="rId8">
            <a:alphaModFix/>
          </a:blip>
          <a:srcRect b="4653"/>
          <a:stretch/>
        </p:blipFill>
        <p:spPr>
          <a:xfrm>
            <a:off x="3257575" y="3107887"/>
            <a:ext cx="15030425" cy="627506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pic>
        <p:nvPicPr>
          <p:cNvPr id="196" name="Google Shape;196;p1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97" name="Google Shape;197;p15"/>
          <p:cNvSpPr txBox="1">
            <a:spLocks noGrp="1"/>
          </p:cNvSpPr>
          <p:nvPr>
            <p:ph type="title"/>
          </p:nvPr>
        </p:nvSpPr>
        <p:spPr>
          <a:xfrm>
            <a:off x="604157" y="342900"/>
            <a:ext cx="15633700" cy="1444626"/>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4800"/>
              <a:t>Encrypted Traffic Analysis</a:t>
            </a:r>
            <a:br>
              <a:rPr lang="fr-FR" sz="4800"/>
            </a:br>
            <a:endParaRPr sz="2400" b="0">
              <a:latin typeface="Verdana"/>
              <a:ea typeface="Verdana"/>
              <a:cs typeface="Verdana"/>
              <a:sym typeface="Verdana"/>
            </a:endParaRPr>
          </a:p>
        </p:txBody>
      </p:sp>
      <p:pic>
        <p:nvPicPr>
          <p:cNvPr id="198" name="Google Shape;198;p15"/>
          <p:cNvPicPr preferRelativeResize="0"/>
          <p:nvPr/>
        </p:nvPicPr>
        <p:blipFill rotWithShape="1">
          <a:blip r:embed="rId4">
            <a:alphaModFix/>
          </a:blip>
          <a:srcRect/>
          <a:stretch/>
        </p:blipFill>
        <p:spPr>
          <a:xfrm>
            <a:off x="490256" y="2714608"/>
            <a:ext cx="17546176" cy="4285731"/>
          </a:xfrm>
          <a:prstGeom prst="rect">
            <a:avLst/>
          </a:prstGeom>
          <a:noFill/>
          <a:ln>
            <a:noFill/>
          </a:ln>
        </p:spPr>
      </p:pic>
      <p:sp>
        <p:nvSpPr>
          <p:cNvPr id="199" name="Google Shape;199;p15"/>
          <p:cNvSpPr txBox="1"/>
          <p:nvPr/>
        </p:nvSpPr>
        <p:spPr>
          <a:xfrm>
            <a:off x="609600" y="7734300"/>
            <a:ext cx="17307488" cy="1323439"/>
          </a:xfrm>
          <a:prstGeom prst="rect">
            <a:avLst/>
          </a:prstGeom>
          <a:noFill/>
          <a:ln>
            <a:noFill/>
          </a:ln>
        </p:spPr>
        <p:txBody>
          <a:bodyPr spcFirstLastPara="1" wrap="square" lIns="91425" tIns="45700" rIns="91425" bIns="45700" anchor="t" anchorCtr="0">
            <a:spAutoFit/>
          </a:bodyPr>
          <a:lstStyle/>
          <a:p>
            <a:pPr marL="285750" lvl="0" indent="-285750" algn="l" rtl="0">
              <a:spcBef>
                <a:spcPts val="0"/>
              </a:spcBef>
              <a:spcAft>
                <a:spcPts val="0"/>
              </a:spcAft>
              <a:buClr>
                <a:schemeClr val="lt1"/>
              </a:buClr>
              <a:buSzPts val="2000"/>
              <a:buFont typeface="Arial"/>
              <a:buChar char="•"/>
            </a:pPr>
            <a:r>
              <a:rPr lang="fr-FR" sz="2000">
                <a:solidFill>
                  <a:schemeClr val="lt1"/>
                </a:solidFill>
              </a:rPr>
              <a:t>22.9% of all network traffic was encrypted (QUIC + TLSv1.2 + TLSv1.3);</a:t>
            </a:r>
            <a:endParaRPr/>
          </a:p>
          <a:p>
            <a:pPr marL="285750" lvl="0" indent="-285750" algn="l" rtl="0">
              <a:spcBef>
                <a:spcPts val="0"/>
              </a:spcBef>
              <a:spcAft>
                <a:spcPts val="0"/>
              </a:spcAft>
              <a:buClr>
                <a:schemeClr val="lt1"/>
              </a:buClr>
              <a:buSzPts val="2000"/>
              <a:buFont typeface="Arial"/>
              <a:buChar char="•"/>
            </a:pPr>
            <a:r>
              <a:rPr lang="fr-FR" sz="2000">
                <a:solidFill>
                  <a:schemeClr val="lt1"/>
                </a:solidFill>
              </a:rPr>
              <a:t> This represents 3.15 MB of data that cannot be inspected;</a:t>
            </a:r>
            <a:endParaRPr/>
          </a:p>
          <a:p>
            <a:pPr marL="285750" lvl="0" indent="-285750" algn="l" rtl="0">
              <a:spcBef>
                <a:spcPts val="0"/>
              </a:spcBef>
              <a:spcAft>
                <a:spcPts val="0"/>
              </a:spcAft>
              <a:buClr>
                <a:schemeClr val="lt1"/>
              </a:buClr>
              <a:buSzPts val="2000"/>
              <a:buFont typeface="Arial"/>
              <a:buChar char="•"/>
            </a:pPr>
            <a:r>
              <a:rPr lang="fr-FR" sz="2000">
                <a:solidFill>
                  <a:schemeClr val="lt1"/>
                </a:solidFill>
              </a:rPr>
              <a:t>WarmCookie malware abused QUIC which is a modern encrypted transport protocol that many security tools do not fully decrypt or inspect;</a:t>
            </a:r>
            <a:endParaRPr/>
          </a:p>
          <a:p>
            <a:pPr marL="285750" lvl="0" indent="-285750" algn="l" rtl="0">
              <a:spcBef>
                <a:spcPts val="0"/>
              </a:spcBef>
              <a:spcAft>
                <a:spcPts val="0"/>
              </a:spcAft>
              <a:buClr>
                <a:schemeClr val="lt1"/>
              </a:buClr>
              <a:buSzPts val="2000"/>
              <a:buFont typeface="Arial"/>
              <a:buChar char="•"/>
            </a:pPr>
            <a:r>
              <a:rPr lang="fr-FR" sz="2000">
                <a:solidFill>
                  <a:schemeClr val="lt1"/>
                </a:solidFill>
              </a:rPr>
              <a:t>The existing security alerts didn’t include most encrypted threats.</a:t>
            </a:r>
            <a:endParaRPr/>
          </a:p>
        </p:txBody>
      </p:sp>
      <p:sp>
        <p:nvSpPr>
          <p:cNvPr id="200" name="Google Shape;200;p15"/>
          <p:cNvSpPr txBox="1"/>
          <p:nvPr/>
        </p:nvSpPr>
        <p:spPr>
          <a:xfrm>
            <a:off x="517470" y="1518982"/>
            <a:ext cx="16398930"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b="0">
                <a:solidFill>
                  <a:schemeClr val="lt1"/>
                </a:solidFill>
                <a:latin typeface="Verdana"/>
                <a:ea typeface="Verdana"/>
                <a:cs typeface="Verdana"/>
                <a:sym typeface="Verdana"/>
              </a:rPr>
              <a:t>Query filters only encrypted protocols (TLSv1.2, TLSv1.3, QUIC), then counts total encrypted packets and sum their bytes, to then calculate what percentage of total traffic is encrypted.</a:t>
            </a:r>
            <a:endParaRPr sz="2000">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pSp>
        <p:nvGrpSpPr>
          <p:cNvPr id="205" name="Google Shape;205;p17"/>
          <p:cNvGrpSpPr/>
          <p:nvPr/>
        </p:nvGrpSpPr>
        <p:grpSpPr>
          <a:xfrm>
            <a:off x="4419600" y="3162300"/>
            <a:ext cx="13868298" cy="7391399"/>
            <a:chOff x="6700400" y="914400"/>
            <a:chExt cx="11587600" cy="9372599"/>
          </a:xfrm>
        </p:grpSpPr>
        <p:pic>
          <p:nvPicPr>
            <p:cNvPr id="206" name="Google Shape;206;p17"/>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207" name="Google Shape;207;p17"/>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208" name="Google Shape;208;p17"/>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209" name="Google Shape;209;p17"/>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210" name="Google Shape;210;p17"/>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211" name="Google Shape;211;p17"/>
          <p:cNvSpPr txBox="1">
            <a:spLocks noGrp="1"/>
          </p:cNvSpPr>
          <p:nvPr>
            <p:ph type="title"/>
          </p:nvPr>
        </p:nvSpPr>
        <p:spPr>
          <a:xfrm>
            <a:off x="490132" y="448717"/>
            <a:ext cx="17711227" cy="1228991"/>
          </a:xfrm>
          <a:prstGeom prst="rect">
            <a:avLst/>
          </a:prstGeom>
          <a:noFill/>
          <a:ln>
            <a:noFill/>
          </a:ln>
        </p:spPr>
        <p:txBody>
          <a:bodyPr spcFirstLastPara="1" wrap="square" lIns="0" tIns="128900" rIns="0" bIns="0" anchor="t" anchorCtr="0">
            <a:spAutoFit/>
          </a:bodyPr>
          <a:lstStyle/>
          <a:p>
            <a:pPr marL="12700" marR="5080" lvl="0" indent="0" algn="l" rtl="0">
              <a:lnSpc>
                <a:spcPct val="104318"/>
              </a:lnSpc>
              <a:spcBef>
                <a:spcPts val="0"/>
              </a:spcBef>
              <a:spcAft>
                <a:spcPts val="0"/>
              </a:spcAft>
              <a:buNone/>
            </a:pPr>
            <a:r>
              <a:rPr lang="fr-FR" sz="4400"/>
              <a:t>Clustering Analysis</a:t>
            </a:r>
            <a:br>
              <a:rPr lang="fr-FR" sz="4400"/>
            </a:br>
            <a:endParaRPr sz="2500" b="0">
              <a:latin typeface="Verdana"/>
              <a:ea typeface="Verdana"/>
              <a:cs typeface="Verdana"/>
              <a:sym typeface="Verdana"/>
            </a:endParaRPr>
          </a:p>
        </p:txBody>
      </p:sp>
      <p:pic>
        <p:nvPicPr>
          <p:cNvPr id="212" name="Google Shape;212;p17"/>
          <p:cNvPicPr preferRelativeResize="0"/>
          <p:nvPr/>
        </p:nvPicPr>
        <p:blipFill rotWithShape="1">
          <a:blip r:embed="rId8">
            <a:alphaModFix/>
          </a:blip>
          <a:srcRect/>
          <a:stretch/>
        </p:blipFill>
        <p:spPr>
          <a:xfrm>
            <a:off x="4648200" y="3271084"/>
            <a:ext cx="13639630" cy="5958191"/>
          </a:xfrm>
          <a:prstGeom prst="rect">
            <a:avLst/>
          </a:prstGeom>
          <a:noFill/>
          <a:ln>
            <a:noFill/>
          </a:ln>
        </p:spPr>
      </p:pic>
      <p:sp>
        <p:nvSpPr>
          <p:cNvPr id="213" name="Google Shape;213;p17"/>
          <p:cNvSpPr txBox="1"/>
          <p:nvPr/>
        </p:nvSpPr>
        <p:spPr>
          <a:xfrm>
            <a:off x="414377" y="1445446"/>
            <a:ext cx="17237092" cy="1323439"/>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b="0">
                <a:solidFill>
                  <a:schemeClr val="lt1"/>
                </a:solidFill>
                <a:latin typeface="Verdana"/>
                <a:ea typeface="Verdana"/>
                <a:cs typeface="Verdana"/>
                <a:sym typeface="Verdana"/>
              </a:rPr>
              <a:t>Query computes frequency of the communication, the average message size, the consistency size for each src-dst pair, then evaluates the behavior-type: ”High volume data transfer” for lots of big data, ”High volume control” for lots of small control messages, and ”Transfer Surges” for few but big transfers and ”Normal communication” for everything else. Finally, it counts each behavior type. </a:t>
            </a:r>
            <a:endParaRPr sz="2000">
              <a:solidFill>
                <a:schemeClr val="lt1"/>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pic>
        <p:nvPicPr>
          <p:cNvPr id="218" name="Google Shape;218;p18"/>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19" name="Google Shape;219;p18"/>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latin typeface="Tahoma"/>
                <a:ea typeface="Tahoma"/>
                <a:cs typeface="Tahoma"/>
                <a:sym typeface="Tahoma"/>
              </a:rPr>
              <a:t>AI Toolkit</a:t>
            </a:r>
            <a:endParaRPr sz="8000" b="1">
              <a:solidFill>
                <a:schemeClr val="lt1"/>
              </a:solidFill>
              <a:latin typeface="Tahoma"/>
              <a:ea typeface="Tahoma"/>
              <a:cs typeface="Tahoma"/>
              <a:sym typeface="Tahom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grpSp>
        <p:nvGrpSpPr>
          <p:cNvPr id="224" name="Google Shape;224;p19"/>
          <p:cNvGrpSpPr/>
          <p:nvPr/>
        </p:nvGrpSpPr>
        <p:grpSpPr>
          <a:xfrm>
            <a:off x="1195968" y="2171700"/>
            <a:ext cx="17150239" cy="6216864"/>
            <a:chOff x="6700400" y="914400"/>
            <a:chExt cx="11587600" cy="10351913"/>
          </a:xfrm>
        </p:grpSpPr>
        <p:pic>
          <p:nvPicPr>
            <p:cNvPr id="225" name="Google Shape;225;p19"/>
            <p:cNvPicPr preferRelativeResize="0"/>
            <p:nvPr/>
          </p:nvPicPr>
          <p:blipFill rotWithShape="1">
            <a:blip r:embed="rId3">
              <a:alphaModFix/>
            </a:blip>
            <a:srcRect/>
            <a:stretch/>
          </p:blipFill>
          <p:spPr>
            <a:xfrm>
              <a:off x="6700400" y="914400"/>
              <a:ext cx="11587599" cy="10351913"/>
            </a:xfrm>
            <a:prstGeom prst="rect">
              <a:avLst/>
            </a:prstGeom>
            <a:noFill/>
            <a:ln>
              <a:noFill/>
            </a:ln>
          </p:spPr>
        </p:pic>
        <p:pic>
          <p:nvPicPr>
            <p:cNvPr id="226" name="Google Shape;226;p19"/>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227" name="Google Shape;227;p19"/>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228" name="Google Shape;228;p19"/>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229" name="Google Shape;229;p19"/>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230" name="Google Shape;230;p19"/>
          <p:cNvSpPr txBox="1">
            <a:spLocks noGrp="1"/>
          </p:cNvSpPr>
          <p:nvPr>
            <p:ph type="title"/>
          </p:nvPr>
        </p:nvSpPr>
        <p:spPr>
          <a:xfrm>
            <a:off x="612604" y="155640"/>
            <a:ext cx="9943266" cy="731867"/>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Time Series Forecasting</a:t>
            </a:r>
            <a:endParaRPr sz="4500">
              <a:latin typeface="Verdana"/>
              <a:ea typeface="Verdana"/>
              <a:cs typeface="Verdana"/>
              <a:sym typeface="Verdana"/>
            </a:endParaRPr>
          </a:p>
        </p:txBody>
      </p:sp>
      <p:pic>
        <p:nvPicPr>
          <p:cNvPr id="231" name="Google Shape;231;p19"/>
          <p:cNvPicPr preferRelativeResize="0"/>
          <p:nvPr/>
        </p:nvPicPr>
        <p:blipFill rotWithShape="1">
          <a:blip r:embed="rId8">
            <a:alphaModFix/>
          </a:blip>
          <a:srcRect r="1662" b="33215"/>
          <a:stretch/>
        </p:blipFill>
        <p:spPr>
          <a:xfrm>
            <a:off x="1312385" y="2314974"/>
            <a:ext cx="17033820" cy="5101109"/>
          </a:xfrm>
          <a:prstGeom prst="rect">
            <a:avLst/>
          </a:prstGeom>
          <a:noFill/>
          <a:ln>
            <a:noFill/>
          </a:ln>
        </p:spPr>
      </p:pic>
      <p:pic>
        <p:nvPicPr>
          <p:cNvPr id="232" name="Google Shape;232;p19"/>
          <p:cNvPicPr preferRelativeResize="0"/>
          <p:nvPr/>
        </p:nvPicPr>
        <p:blipFill rotWithShape="1">
          <a:blip r:embed="rId9">
            <a:alphaModFix/>
          </a:blip>
          <a:srcRect/>
          <a:stretch/>
        </p:blipFill>
        <p:spPr>
          <a:xfrm>
            <a:off x="4564934" y="7771499"/>
            <a:ext cx="13792157" cy="2644438"/>
          </a:xfrm>
          <a:prstGeom prst="rect">
            <a:avLst/>
          </a:prstGeom>
          <a:noFill/>
          <a:ln>
            <a:noFill/>
          </a:ln>
        </p:spPr>
      </p:pic>
      <p:sp>
        <p:nvSpPr>
          <p:cNvPr id="233" name="Google Shape;233;p19"/>
          <p:cNvSpPr txBox="1"/>
          <p:nvPr/>
        </p:nvSpPr>
        <p:spPr>
          <a:xfrm>
            <a:off x="612604" y="1028150"/>
            <a:ext cx="16343740"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a:solidFill>
                  <a:schemeClr val="lt1"/>
                </a:solidFill>
                <a:latin typeface="Verdana"/>
                <a:ea typeface="Verdana"/>
                <a:cs typeface="Verdana"/>
                <a:sym typeface="Verdana"/>
              </a:rPr>
              <a:t>Query uses the LLT = Local Level Trend algorithm (exponential smoothing),which learns the normal traffic pattern and predicts what the next value should be, then it compares actual vs. predicted to measure accuracy.</a:t>
            </a:r>
            <a:endParaRPr sz="2000">
              <a:solidFill>
                <a:schemeClr val="lt1"/>
              </a:solidFill>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grpSp>
        <p:nvGrpSpPr>
          <p:cNvPr id="238" name="Google Shape;238;p20"/>
          <p:cNvGrpSpPr/>
          <p:nvPr/>
        </p:nvGrpSpPr>
        <p:grpSpPr>
          <a:xfrm>
            <a:off x="1980751" y="2330887"/>
            <a:ext cx="16307250" cy="6438900"/>
            <a:chOff x="6700400" y="914400"/>
            <a:chExt cx="11587600" cy="10351913"/>
          </a:xfrm>
        </p:grpSpPr>
        <p:pic>
          <p:nvPicPr>
            <p:cNvPr id="239" name="Google Shape;239;p20"/>
            <p:cNvPicPr preferRelativeResize="0"/>
            <p:nvPr/>
          </p:nvPicPr>
          <p:blipFill rotWithShape="1">
            <a:blip r:embed="rId3">
              <a:alphaModFix/>
            </a:blip>
            <a:srcRect/>
            <a:stretch/>
          </p:blipFill>
          <p:spPr>
            <a:xfrm>
              <a:off x="6700400" y="914400"/>
              <a:ext cx="11587599" cy="10351913"/>
            </a:xfrm>
            <a:prstGeom prst="rect">
              <a:avLst/>
            </a:prstGeom>
            <a:noFill/>
            <a:ln>
              <a:noFill/>
            </a:ln>
          </p:spPr>
        </p:pic>
        <p:pic>
          <p:nvPicPr>
            <p:cNvPr id="240" name="Google Shape;240;p20"/>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241" name="Google Shape;241;p20"/>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242" name="Google Shape;242;p20"/>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243" name="Google Shape;243;p20"/>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244" name="Google Shape;244;p20"/>
          <p:cNvSpPr txBox="1">
            <a:spLocks noGrp="1"/>
          </p:cNvSpPr>
          <p:nvPr>
            <p:ph type="title"/>
          </p:nvPr>
        </p:nvSpPr>
        <p:spPr>
          <a:xfrm>
            <a:off x="612604" y="663533"/>
            <a:ext cx="9943266" cy="731867"/>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Anomaly Detection</a:t>
            </a:r>
            <a:endParaRPr sz="4500">
              <a:latin typeface="Verdana"/>
              <a:ea typeface="Verdana"/>
              <a:cs typeface="Verdana"/>
              <a:sym typeface="Verdana"/>
            </a:endParaRPr>
          </a:p>
        </p:txBody>
      </p:sp>
      <p:sp>
        <p:nvSpPr>
          <p:cNvPr id="245" name="Google Shape;245;p20"/>
          <p:cNvSpPr txBox="1"/>
          <p:nvPr/>
        </p:nvSpPr>
        <p:spPr>
          <a:xfrm>
            <a:off x="590833" y="1499890"/>
            <a:ext cx="17392367" cy="430887"/>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latin typeface="Verdana"/>
                <a:ea typeface="Verdana"/>
                <a:cs typeface="Verdana"/>
                <a:sym typeface="Verdana"/>
              </a:rPr>
              <a:t>Query uses</a:t>
            </a:r>
            <a:r>
              <a:rPr lang="fr-FR" sz="2200" b="1">
                <a:solidFill>
                  <a:schemeClr val="lt1"/>
                </a:solidFill>
                <a:latin typeface="Verdana"/>
                <a:ea typeface="Verdana"/>
                <a:cs typeface="Verdana"/>
                <a:sym typeface="Verdana"/>
              </a:rPr>
              <a:t> anomalydetection </a:t>
            </a:r>
            <a:r>
              <a:rPr lang="fr-FR" sz="2200">
                <a:solidFill>
                  <a:schemeClr val="lt1"/>
                </a:solidFill>
                <a:latin typeface="Verdana"/>
                <a:ea typeface="Verdana"/>
                <a:cs typeface="Verdana"/>
                <a:sym typeface="Verdana"/>
              </a:rPr>
              <a:t>(Probabilistic Autoregressive) algorithm to look for statistical outliers in packet sizes.</a:t>
            </a:r>
            <a:endParaRPr sz="2200">
              <a:solidFill>
                <a:schemeClr val="lt1"/>
              </a:solidFill>
              <a:latin typeface="Verdana"/>
              <a:ea typeface="Verdana"/>
              <a:cs typeface="Verdana"/>
              <a:sym typeface="Verdana"/>
            </a:endParaRPr>
          </a:p>
        </p:txBody>
      </p:sp>
      <p:pic>
        <p:nvPicPr>
          <p:cNvPr id="246" name="Google Shape;246;p20"/>
          <p:cNvPicPr preferRelativeResize="0"/>
          <p:nvPr/>
        </p:nvPicPr>
        <p:blipFill rotWithShape="1">
          <a:blip r:embed="rId8">
            <a:alphaModFix/>
          </a:blip>
          <a:srcRect l="100" t="-18844" r="743" b="18843"/>
          <a:stretch/>
        </p:blipFill>
        <p:spPr>
          <a:xfrm>
            <a:off x="2130026" y="1202768"/>
            <a:ext cx="16182815" cy="6438900"/>
          </a:xfrm>
          <a:prstGeom prst="rect">
            <a:avLst/>
          </a:prstGeom>
          <a:noFill/>
          <a:ln>
            <a:noFill/>
          </a:ln>
        </p:spPr>
      </p:pic>
      <p:pic>
        <p:nvPicPr>
          <p:cNvPr id="247" name="Google Shape;247;p20"/>
          <p:cNvPicPr preferRelativeResize="0"/>
          <p:nvPr/>
        </p:nvPicPr>
        <p:blipFill rotWithShape="1">
          <a:blip r:embed="rId9">
            <a:alphaModFix/>
          </a:blip>
          <a:srcRect/>
          <a:stretch/>
        </p:blipFill>
        <p:spPr>
          <a:xfrm>
            <a:off x="5029199" y="8152624"/>
            <a:ext cx="13258800" cy="294168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pic>
        <p:nvPicPr>
          <p:cNvPr id="252" name="Google Shape;252;p21"/>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53" name="Google Shape;253;p21"/>
          <p:cNvSpPr txBox="1">
            <a:spLocks noGrp="1"/>
          </p:cNvSpPr>
          <p:nvPr>
            <p:ph type="title"/>
          </p:nvPr>
        </p:nvSpPr>
        <p:spPr>
          <a:xfrm>
            <a:off x="612604" y="663533"/>
            <a:ext cx="13179596" cy="720069"/>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Splunk AI toolkit shows selective utility</a:t>
            </a:r>
            <a:endParaRPr sz="4500">
              <a:latin typeface="Verdana"/>
              <a:ea typeface="Verdana"/>
              <a:cs typeface="Verdana"/>
              <a:sym typeface="Verdana"/>
            </a:endParaRPr>
          </a:p>
        </p:txBody>
      </p:sp>
      <p:sp>
        <p:nvSpPr>
          <p:cNvPr id="254" name="Google Shape;254;p21"/>
          <p:cNvSpPr txBox="1"/>
          <p:nvPr/>
        </p:nvSpPr>
        <p:spPr>
          <a:xfrm>
            <a:off x="596275" y="2348447"/>
            <a:ext cx="6033125" cy="517064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rPr>
              <a:t>With ARIMA (Autoregressive Integrated Moving Average) algorithm the query returns command=”predict” No data errors. And the main reason is that it requires historical data and our 32.7 minutes attack window isn’t enough for it to process. </a:t>
            </a:r>
            <a:endParaRPr/>
          </a:p>
          <a:p>
            <a:pPr marL="0" lvl="0" indent="0" algn="l" rtl="0">
              <a:spcBef>
                <a:spcPts val="0"/>
              </a:spcBef>
              <a:spcAft>
                <a:spcPts val="0"/>
              </a:spcAft>
              <a:buNone/>
            </a:pPr>
            <a:r>
              <a:rPr lang="fr-FR" sz="2200">
                <a:solidFill>
                  <a:schemeClr val="lt1"/>
                </a:solidFill>
              </a:rPr>
              <a:t>This part shows that in the AI Toolkit we might encounter a tool-data mismatch. </a:t>
            </a:r>
            <a:endParaRPr/>
          </a:p>
          <a:p>
            <a:pPr marL="0" lvl="0" indent="0" algn="l" rtl="0">
              <a:spcBef>
                <a:spcPts val="0"/>
              </a:spcBef>
              <a:spcAft>
                <a:spcPts val="0"/>
              </a:spcAft>
              <a:buNone/>
            </a:pPr>
            <a:endParaRPr sz="2200">
              <a:solidFill>
                <a:schemeClr val="lt1"/>
              </a:solidFill>
            </a:endParaRPr>
          </a:p>
          <a:p>
            <a:pPr marL="0" lvl="0" indent="0" algn="l" rtl="0">
              <a:spcBef>
                <a:spcPts val="0"/>
              </a:spcBef>
              <a:spcAft>
                <a:spcPts val="0"/>
              </a:spcAft>
              <a:buNone/>
            </a:pPr>
            <a:r>
              <a:rPr lang="fr-FR" sz="2200">
                <a:solidFill>
                  <a:schemeClr val="lt1"/>
                </a:solidFill>
              </a:rPr>
              <a:t>AI Toolkit Assessment:</a:t>
            </a:r>
            <a:endParaRPr/>
          </a:p>
          <a:p>
            <a:pPr marL="0" lvl="0" indent="0" algn="l" rtl="0">
              <a:spcBef>
                <a:spcPts val="0"/>
              </a:spcBef>
              <a:spcAft>
                <a:spcPts val="0"/>
              </a:spcAft>
              <a:buNone/>
            </a:pPr>
            <a:r>
              <a:rPr lang="fr-FR" sz="2200">
                <a:solidFill>
                  <a:schemeClr val="lt1"/>
                </a:solidFill>
              </a:rPr>
              <a:t>• LLT: Actually useful (predicted attack earlier) </a:t>
            </a:r>
            <a:endParaRPr/>
          </a:p>
          <a:p>
            <a:pPr marL="0" lvl="0" indent="0" algn="l" rtl="0">
              <a:spcBef>
                <a:spcPts val="0"/>
              </a:spcBef>
              <a:spcAft>
                <a:spcPts val="0"/>
              </a:spcAft>
              <a:buNone/>
            </a:pPr>
            <a:r>
              <a:rPr lang="fr-FR" sz="2200">
                <a:solidFill>
                  <a:schemeClr val="lt1"/>
                </a:solidFill>
              </a:rPr>
              <a:t>• Anomalydetection: Silent failure (looked like it worked, but it didn’t) </a:t>
            </a:r>
            <a:endParaRPr/>
          </a:p>
          <a:p>
            <a:pPr marL="0" lvl="0" indent="0" algn="l" rtl="0">
              <a:spcBef>
                <a:spcPts val="0"/>
              </a:spcBef>
              <a:spcAft>
                <a:spcPts val="0"/>
              </a:spcAft>
              <a:buNone/>
            </a:pPr>
            <a:r>
              <a:rPr lang="fr-FR" sz="2200">
                <a:solidFill>
                  <a:schemeClr val="lt1"/>
                </a:solidFill>
              </a:rPr>
              <a:t>• ARIMA: ”No data” errors (impossible to process)</a:t>
            </a:r>
            <a:endParaRPr sz="2200">
              <a:solidFill>
                <a:schemeClr val="lt1"/>
              </a:solidFill>
            </a:endParaRPr>
          </a:p>
        </p:txBody>
      </p:sp>
      <p:pic>
        <p:nvPicPr>
          <p:cNvPr id="255" name="Google Shape;255;p21"/>
          <p:cNvPicPr preferRelativeResize="0"/>
          <p:nvPr/>
        </p:nvPicPr>
        <p:blipFill rotWithShape="1">
          <a:blip r:embed="rId4">
            <a:alphaModFix/>
          </a:blip>
          <a:srcRect/>
          <a:stretch/>
        </p:blipFill>
        <p:spPr>
          <a:xfrm>
            <a:off x="7010400" y="2552700"/>
            <a:ext cx="10515600" cy="2912925"/>
          </a:xfrm>
          <a:prstGeom prst="roundRect">
            <a:avLst>
              <a:gd name="adj" fmla="val 8594"/>
            </a:avLst>
          </a:prstGeom>
          <a:solidFill>
            <a:srgbClr val="ECECEC"/>
          </a:solidFill>
          <a:ln>
            <a:noFill/>
          </a:ln>
          <a:effectLst>
            <a:reflection stA="38000" endPos="28000" dist="5000" dir="5400000" sy="-100000" algn="bl" rotWithShape="0"/>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22"/>
          <p:cNvSpPr txBox="1"/>
          <p:nvPr/>
        </p:nvSpPr>
        <p:spPr>
          <a:xfrm>
            <a:off x="914400" y="571500"/>
            <a:ext cx="15697200" cy="8366393"/>
          </a:xfrm>
          <a:prstGeom prst="rect">
            <a:avLst/>
          </a:prstGeom>
          <a:noFill/>
          <a:ln>
            <a:noFill/>
          </a:ln>
        </p:spPr>
        <p:txBody>
          <a:bodyPr spcFirstLastPara="1" wrap="square" lIns="0" tIns="264150" rIns="0" bIns="0" anchor="t" anchorCtr="0">
            <a:spAutoFit/>
          </a:bodyPr>
          <a:lstStyle/>
          <a:p>
            <a:pPr marL="12700" lvl="0" indent="0" algn="l" rtl="0">
              <a:lnSpc>
                <a:spcPct val="100000"/>
              </a:lnSpc>
              <a:spcBef>
                <a:spcPts val="0"/>
              </a:spcBef>
              <a:spcAft>
                <a:spcPts val="0"/>
              </a:spcAft>
              <a:buNone/>
            </a:pPr>
            <a:r>
              <a:rPr lang="fr-FR" sz="5400" b="1">
                <a:solidFill>
                  <a:srgbClr val="FFFFFF"/>
                </a:solidFill>
                <a:latin typeface="Tahoma"/>
                <a:ea typeface="Tahoma"/>
                <a:cs typeface="Tahoma"/>
                <a:sym typeface="Tahoma"/>
              </a:rPr>
              <a:t>Comparing against Alerts file</a:t>
            </a:r>
            <a:endParaRPr sz="5400">
              <a:latin typeface="Tahoma"/>
              <a:ea typeface="Tahoma"/>
              <a:cs typeface="Tahoma"/>
              <a:sym typeface="Tahoma"/>
            </a:endParaRPr>
          </a:p>
          <a:p>
            <a:pPr marL="12700" lvl="0" indent="0" algn="l" rtl="0">
              <a:lnSpc>
                <a:spcPct val="100000"/>
              </a:lnSpc>
              <a:spcBef>
                <a:spcPts val="995"/>
              </a:spcBef>
              <a:spcAft>
                <a:spcPts val="0"/>
              </a:spcAft>
              <a:buNone/>
            </a:pPr>
            <a:endParaRPr sz="2800">
              <a:solidFill>
                <a:schemeClr val="lt1"/>
              </a:solidFill>
            </a:endParaRPr>
          </a:p>
          <a:p>
            <a:pPr marL="12700" lvl="0" indent="0" algn="l" rtl="0">
              <a:lnSpc>
                <a:spcPct val="100000"/>
              </a:lnSpc>
              <a:spcBef>
                <a:spcPts val="995"/>
              </a:spcBef>
              <a:spcAft>
                <a:spcPts val="0"/>
              </a:spcAft>
              <a:buNone/>
            </a:pPr>
            <a:r>
              <a:rPr lang="fr-FR" sz="2400">
                <a:solidFill>
                  <a:schemeClr val="lt1"/>
                </a:solidFill>
              </a:rPr>
              <a:t>The alerts caught what they were designed to catch:</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 3 alerts about HTTP traffic to/from 72.5.43.29 (the main attacker server). These caught the malware download and some  POST backs</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 2 alerts about HTTP traffic to 23.205.110.48 (another attacker server). These caught some early attack reconnaissance and connectivity tests</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1 alert about TLSv1.0 (outdated encryption)</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2 alerts about internal stuff (DNS errors and RPC kerberos traffic). These represented noise, not the main event</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8 alerts in total that actually related to the attack</a:t>
            </a:r>
            <a:endParaRPr/>
          </a:p>
          <a:p>
            <a:pPr marL="12700" lvl="0" indent="0" algn="l" rtl="0">
              <a:lnSpc>
                <a:spcPct val="100000"/>
              </a:lnSpc>
              <a:spcBef>
                <a:spcPts val="995"/>
              </a:spcBef>
              <a:spcAft>
                <a:spcPts val="0"/>
              </a:spcAft>
              <a:buNone/>
            </a:pPr>
            <a:r>
              <a:rPr lang="fr-FR" sz="2400">
                <a:solidFill>
                  <a:schemeClr val="lt1"/>
                </a:solidFill>
              </a:rPr>
              <a:t>What wasn’t in the alerts file: </a:t>
            </a:r>
            <a:endParaRPr/>
          </a:p>
          <a:p>
            <a:pPr marL="12700" lvl="0" indent="0" algn="l" rtl="0">
              <a:lnSpc>
                <a:spcPct val="100000"/>
              </a:lnSpc>
              <a:spcBef>
                <a:spcPts val="995"/>
              </a:spcBef>
              <a:spcAft>
                <a:spcPts val="0"/>
              </a:spcAft>
              <a:buNone/>
            </a:pPr>
            <a:r>
              <a:rPr lang="fr-FR" sz="2400">
                <a:solidFill>
                  <a:schemeClr val="lt1"/>
                </a:solidFill>
              </a:rPr>
              <a:t>•    3,711 encrypted packets (TLSv1.3 + QUIC) - 0 alerts </a:t>
            </a:r>
            <a:endParaRPr/>
          </a:p>
          <a:p>
            <a:pPr marL="12700" lvl="0" indent="0" algn="l" rtl="0">
              <a:lnSpc>
                <a:spcPct val="100000"/>
              </a:lnSpc>
              <a:spcBef>
                <a:spcPts val="995"/>
              </a:spcBef>
              <a:spcAft>
                <a:spcPts val="0"/>
              </a:spcAft>
              <a:buNone/>
            </a:pPr>
            <a:r>
              <a:rPr lang="fr-FR" sz="2400">
                <a:solidFill>
                  <a:schemeClr val="lt1"/>
                </a:solidFill>
              </a:rPr>
              <a:t>•    593 lateral movement packets (LDAP, SMB2, DCERPC) - 0 alerts </a:t>
            </a:r>
            <a:endParaRPr/>
          </a:p>
          <a:p>
            <a:pPr marL="12700" lvl="0" indent="0" algn="l" rtl="0">
              <a:lnSpc>
                <a:spcPct val="100000"/>
              </a:lnSpc>
              <a:spcBef>
                <a:spcPts val="995"/>
              </a:spcBef>
              <a:spcAft>
                <a:spcPts val="0"/>
              </a:spcAft>
              <a:buNone/>
            </a:pPr>
            <a:r>
              <a:rPr lang="fr-FR" sz="2400">
                <a:solidFill>
                  <a:schemeClr val="lt1"/>
                </a:solidFill>
              </a:rPr>
              <a:t>•    419 DNS tunneling packets - 0 alerts </a:t>
            </a:r>
            <a:endParaRPr/>
          </a:p>
          <a:p>
            <a:pPr marL="12700" lvl="0" indent="0" algn="l" rtl="0">
              <a:lnSpc>
                <a:spcPct val="100000"/>
              </a:lnSpc>
              <a:spcBef>
                <a:spcPts val="995"/>
              </a:spcBef>
              <a:spcAft>
                <a:spcPts val="0"/>
              </a:spcAft>
              <a:buNone/>
            </a:pPr>
            <a:r>
              <a:rPr lang="fr-FR" sz="2400">
                <a:solidFill>
                  <a:schemeClr val="lt1"/>
                </a:solidFill>
              </a:rPr>
              <a:t>•    OCSP protocol abuse (981-byte payload) - 0 alerts </a:t>
            </a:r>
            <a:endParaRPr/>
          </a:p>
          <a:p>
            <a:pPr marL="12700" lvl="0" indent="0" algn="l" rtl="0">
              <a:lnSpc>
                <a:spcPct val="100000"/>
              </a:lnSpc>
              <a:spcBef>
                <a:spcPts val="995"/>
              </a:spcBef>
              <a:spcAft>
                <a:spcPts val="0"/>
              </a:spcAft>
              <a:buNone/>
            </a:pPr>
            <a:r>
              <a:rPr lang="fr-FR" sz="2400">
                <a:solidFill>
                  <a:schemeClr val="lt1"/>
                </a:solidFill>
              </a:rPr>
              <a:t>•    28+ minutes of post-compromise activity - 0 alert</a:t>
            </a:r>
            <a:endParaRPr sz="2400">
              <a:solidFill>
                <a:schemeClr val="lt1"/>
              </a:solidFill>
              <a:latin typeface="Verdana"/>
              <a:ea typeface="Verdana"/>
              <a:cs typeface="Verdana"/>
              <a:sym typeface="Verdana"/>
            </a:endParaRPr>
          </a:p>
        </p:txBody>
      </p:sp>
      <p:pic>
        <p:nvPicPr>
          <p:cNvPr id="261" name="Google Shape;261;p22"/>
          <p:cNvPicPr preferRelativeResize="0"/>
          <p:nvPr/>
        </p:nvPicPr>
        <p:blipFill rotWithShape="1">
          <a:blip r:embed="rId3">
            <a:alphaModFix/>
          </a:blip>
          <a:srcRect/>
          <a:stretch/>
        </p:blipFill>
        <p:spPr>
          <a:xfrm>
            <a:off x="0" y="0"/>
            <a:ext cx="146399" cy="10286999"/>
          </a:xfrm>
          <a:prstGeom prst="rect">
            <a:avLst/>
          </a:prstGeom>
          <a:noFill/>
          <a:ln>
            <a:noFill/>
          </a:ln>
        </p:spPr>
      </p:pic>
      <p:pic>
        <p:nvPicPr>
          <p:cNvPr id="262" name="Google Shape;262;p22"/>
          <p:cNvPicPr preferRelativeResize="0"/>
          <p:nvPr/>
        </p:nvPicPr>
        <p:blipFill rotWithShape="1">
          <a:blip r:embed="rId3">
            <a:alphaModFix/>
          </a:blip>
          <a:srcRect/>
          <a:stretch/>
        </p:blipFill>
        <p:spPr>
          <a:xfrm>
            <a:off x="18141601" y="1"/>
            <a:ext cx="146399" cy="1028699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pic>
        <p:nvPicPr>
          <p:cNvPr id="267" name="Google Shape;267;p23"/>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68" name="Google Shape;268;p23"/>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rPr>
              <a:t>Results and Findings </a:t>
            </a:r>
            <a:endParaRPr sz="8000" b="1">
              <a:solidFill>
                <a:schemeClr val="lt1"/>
              </a:solidFill>
              <a:latin typeface="Tahoma"/>
              <a:ea typeface="Tahoma"/>
              <a:cs typeface="Tahoma"/>
              <a:sym typeface="Tahom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24"/>
          <p:cNvSpPr txBox="1"/>
          <p:nvPr/>
        </p:nvSpPr>
        <p:spPr>
          <a:xfrm>
            <a:off x="1542415" y="532578"/>
            <a:ext cx="16929100" cy="1097736"/>
          </a:xfrm>
          <a:prstGeom prst="rect">
            <a:avLst/>
          </a:prstGeom>
          <a:noFill/>
          <a:ln>
            <a:noFill/>
          </a:ln>
        </p:spPr>
        <p:txBody>
          <a:bodyPr spcFirstLastPara="1" wrap="square" lIns="0" tIns="264150" rIns="0" bIns="0" anchor="t" anchorCtr="0">
            <a:spAutoFit/>
          </a:bodyPr>
          <a:lstStyle/>
          <a:p>
            <a:pPr marL="12700" lvl="0" indent="0" algn="l" rtl="0">
              <a:lnSpc>
                <a:spcPct val="100000"/>
              </a:lnSpc>
              <a:spcBef>
                <a:spcPts val="0"/>
              </a:spcBef>
              <a:spcAft>
                <a:spcPts val="0"/>
              </a:spcAft>
              <a:buNone/>
            </a:pPr>
            <a:r>
              <a:rPr lang="fr-FR" sz="5400" b="1">
                <a:solidFill>
                  <a:schemeClr val="lt1"/>
                </a:solidFill>
              </a:rPr>
              <a:t>Results Summary</a:t>
            </a:r>
            <a:endParaRPr sz="5400" b="1">
              <a:solidFill>
                <a:schemeClr val="lt1"/>
              </a:solidFill>
            </a:endParaRPr>
          </a:p>
        </p:txBody>
      </p:sp>
      <p:pic>
        <p:nvPicPr>
          <p:cNvPr id="274" name="Google Shape;274;p24"/>
          <p:cNvPicPr preferRelativeResize="0"/>
          <p:nvPr/>
        </p:nvPicPr>
        <p:blipFill rotWithShape="1">
          <a:blip r:embed="rId3">
            <a:alphaModFix/>
          </a:blip>
          <a:srcRect l="815" r="1267" b="1399"/>
          <a:stretch/>
        </p:blipFill>
        <p:spPr>
          <a:xfrm>
            <a:off x="8458200" y="2397457"/>
            <a:ext cx="9144000" cy="5184444"/>
          </a:xfrm>
          <a:prstGeom prst="rect">
            <a:avLst/>
          </a:prstGeom>
          <a:noFill/>
          <a:ln>
            <a:noFill/>
          </a:ln>
          <a:effectLst>
            <a:outerShdw blurRad="292100" dist="139700" dir="2700000" algn="tl" rotWithShape="0">
              <a:srgbClr val="333333">
                <a:alpha val="65098"/>
              </a:srgbClr>
            </a:outerShdw>
          </a:effectLst>
        </p:spPr>
      </p:pic>
      <p:sp>
        <p:nvSpPr>
          <p:cNvPr id="275" name="Google Shape;275;p24"/>
          <p:cNvSpPr txBox="1"/>
          <p:nvPr/>
        </p:nvSpPr>
        <p:spPr>
          <a:xfrm>
            <a:off x="896393" y="2705100"/>
            <a:ext cx="7010400" cy="563231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400">
                <a:solidFill>
                  <a:schemeClr val="lt1"/>
                </a:solidFill>
              </a:rPr>
              <a:t>Our initial question got answered: yes, Splunk found a lot that the alerts file missed. About 65% more malicious. But it is even more interesting:</a:t>
            </a:r>
            <a:endParaRPr/>
          </a:p>
          <a:p>
            <a:pPr marL="0" lvl="0" indent="0" algn="l" rtl="0">
              <a:spcBef>
                <a:spcPts val="0"/>
              </a:spcBef>
              <a:spcAft>
                <a:spcPts val="0"/>
              </a:spcAft>
              <a:buNone/>
            </a:pPr>
            <a:endParaRPr sz="2400">
              <a:solidFill>
                <a:schemeClr val="lt1"/>
              </a:solidFill>
            </a:endParaRPr>
          </a:p>
          <a:p>
            <a:pPr marL="0" lvl="0" indent="0" algn="l" rtl="0">
              <a:spcBef>
                <a:spcPts val="0"/>
              </a:spcBef>
              <a:spcAft>
                <a:spcPts val="0"/>
              </a:spcAft>
              <a:buNone/>
            </a:pPr>
            <a:r>
              <a:rPr lang="fr-FR" sz="2400">
                <a:solidFill>
                  <a:schemeClr val="lt1"/>
                </a:solidFill>
              </a:rPr>
              <a:t>• The malware just prioritized encryption and abused trusted protocols. </a:t>
            </a:r>
            <a:endParaRPr/>
          </a:p>
          <a:p>
            <a:pPr marL="0" lvl="0" indent="0" algn="l" rtl="0">
              <a:spcBef>
                <a:spcPts val="0"/>
              </a:spcBef>
              <a:spcAft>
                <a:spcPts val="0"/>
              </a:spcAft>
              <a:buNone/>
            </a:pPr>
            <a:r>
              <a:rPr lang="fr-FR" sz="2400">
                <a:solidFill>
                  <a:schemeClr val="lt1"/>
                </a:solidFill>
              </a:rPr>
              <a:t>• Distributed Infrastructure: The attack utilized 60+ external servers rather than focusing on centralized Attacker servers. </a:t>
            </a:r>
            <a:endParaRPr/>
          </a:p>
          <a:p>
            <a:pPr marL="0" lvl="0" indent="0" algn="l" rtl="0">
              <a:spcBef>
                <a:spcPts val="0"/>
              </a:spcBef>
              <a:spcAft>
                <a:spcPts val="0"/>
              </a:spcAft>
              <a:buNone/>
            </a:pPr>
            <a:r>
              <a:rPr lang="fr-FR" sz="2400">
                <a:solidFill>
                  <a:schemeClr val="lt1"/>
                </a:solidFill>
              </a:rPr>
              <a:t>• Splunk’s Machine Learning Toolkit was really inconsistent, some algorithms worked, some failed silently, and some couldn’t even run on 32 minutes of data.</a:t>
            </a:r>
            <a:endParaRPr/>
          </a:p>
          <a:p>
            <a:pPr marL="0" lvl="0" indent="0" algn="l" rtl="0">
              <a:spcBef>
                <a:spcPts val="0"/>
              </a:spcBef>
              <a:spcAft>
                <a:spcPts val="0"/>
              </a:spcAft>
              <a:buNone/>
            </a:pPr>
            <a:r>
              <a:rPr lang="fr-FR" sz="2400">
                <a:solidFill>
                  <a:schemeClr val="lt1"/>
                </a:solidFill>
              </a:rPr>
              <a:t>• The biggest wins came from manual SPL queries, not automation. </a:t>
            </a:r>
            <a:endParaRPr sz="2400">
              <a:solidFill>
                <a:schemeClr val="lt1"/>
              </a:solidFill>
            </a:endParaRPr>
          </a:p>
        </p:txBody>
      </p:sp>
      <p:pic>
        <p:nvPicPr>
          <p:cNvPr id="276" name="Google Shape;276;p24"/>
          <p:cNvPicPr preferRelativeResize="0"/>
          <p:nvPr/>
        </p:nvPicPr>
        <p:blipFill rotWithShape="1">
          <a:blip r:embed="rId4">
            <a:alphaModFix/>
          </a:blip>
          <a:srcRect/>
          <a:stretch/>
        </p:blipFill>
        <p:spPr>
          <a:xfrm>
            <a:off x="152400" y="593531"/>
            <a:ext cx="1183187" cy="1193799"/>
          </a:xfrm>
          <a:prstGeom prst="rect">
            <a:avLst/>
          </a:prstGeom>
          <a:noFill/>
          <a:ln>
            <a:noFill/>
          </a:ln>
        </p:spPr>
      </p:pic>
      <p:sp>
        <p:nvSpPr>
          <p:cNvPr id="277" name="Google Shape;277;p24"/>
          <p:cNvSpPr txBox="1"/>
          <p:nvPr/>
        </p:nvSpPr>
        <p:spPr>
          <a:xfrm>
            <a:off x="457200" y="708299"/>
            <a:ext cx="878387" cy="1015663"/>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6000" b="1">
                <a:solidFill>
                  <a:schemeClr val="lt1"/>
                </a:solidFill>
              </a:rPr>
              <a:t>&gt;</a:t>
            </a:r>
            <a:endParaRPr sz="6000"/>
          </a:p>
        </p:txBody>
      </p:sp>
      <p:pic>
        <p:nvPicPr>
          <p:cNvPr id="278" name="Google Shape;278;p24"/>
          <p:cNvPicPr preferRelativeResize="0"/>
          <p:nvPr/>
        </p:nvPicPr>
        <p:blipFill rotWithShape="1">
          <a:blip r:embed="rId5">
            <a:alphaModFix/>
          </a:blip>
          <a:srcRect/>
          <a:stretch/>
        </p:blipFill>
        <p:spPr>
          <a:xfrm rot="5400000">
            <a:off x="5070300" y="5070301"/>
            <a:ext cx="146399" cy="10286999"/>
          </a:xfrm>
          <a:prstGeom prst="rect">
            <a:avLst/>
          </a:prstGeom>
          <a:noFill/>
          <a:ln>
            <a:noFill/>
          </a:ln>
        </p:spPr>
      </p:pic>
      <p:pic>
        <p:nvPicPr>
          <p:cNvPr id="279" name="Google Shape;279;p24"/>
          <p:cNvPicPr preferRelativeResize="0"/>
          <p:nvPr/>
        </p:nvPicPr>
        <p:blipFill rotWithShape="1">
          <a:blip r:embed="rId5">
            <a:alphaModFix/>
          </a:blip>
          <a:srcRect/>
          <a:stretch/>
        </p:blipFill>
        <p:spPr>
          <a:xfrm rot="-5400000">
            <a:off x="13071300" y="5070302"/>
            <a:ext cx="146399" cy="102870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pic>
        <p:nvPicPr>
          <p:cNvPr id="284" name="Google Shape;284;p2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85" name="Google Shape;285;p25"/>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rPr>
              <a:t>Splunk Evaluation</a:t>
            </a:r>
            <a:endParaRPr sz="8000" b="1">
              <a:solidFill>
                <a:schemeClr val="lt1"/>
              </a:solidFill>
              <a:latin typeface="Tahoma"/>
              <a:ea typeface="Tahoma"/>
              <a:cs typeface="Tahoma"/>
              <a:sym typeface="Tahom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6"/>
          <p:cNvSpPr txBox="1"/>
          <p:nvPr/>
        </p:nvSpPr>
        <p:spPr>
          <a:xfrm>
            <a:off x="1143000" y="3771900"/>
            <a:ext cx="6858000" cy="3944670"/>
          </a:xfrm>
          <a:prstGeom prst="rect">
            <a:avLst/>
          </a:prstGeom>
          <a:noFill/>
          <a:ln>
            <a:noFill/>
          </a:ln>
        </p:spPr>
        <p:txBody>
          <a:bodyPr spcFirstLastPara="1" wrap="square" lIns="0" tIns="66025" rIns="0" bIns="0" anchor="t" anchorCtr="0">
            <a:spAutoFit/>
          </a:bodyPr>
          <a:lstStyle/>
          <a:p>
            <a:pPr marL="342900" lvl="0" indent="-342900" algn="l" rtl="0">
              <a:spcBef>
                <a:spcPts val="0"/>
              </a:spcBef>
              <a:spcAft>
                <a:spcPts val="0"/>
              </a:spcAft>
              <a:buClr>
                <a:schemeClr val="lt1"/>
              </a:buClr>
              <a:buSzPts val="2800"/>
              <a:buFont typeface="Arial"/>
              <a:buChar char="•"/>
            </a:pPr>
            <a:r>
              <a:rPr lang="fr-FR" sz="2800">
                <a:solidFill>
                  <a:schemeClr val="lt1"/>
                </a:solidFill>
              </a:rPr>
              <a:t>Detection Gap Coverage: +65.92% threat discovery</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Comprehensive Visibility: Raw traffic analysis</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Flexible SPL: Enables deep correlation</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Real-time Analytics: Captured attack progression</a:t>
            </a:r>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Actionable Dashboards: BI-style visualizations</a:t>
            </a:r>
            <a:endParaRPr sz="2800">
              <a:solidFill>
                <a:schemeClr val="lt1"/>
              </a:solidFill>
            </a:endParaRPr>
          </a:p>
        </p:txBody>
      </p:sp>
      <p:pic>
        <p:nvPicPr>
          <p:cNvPr id="292" name="Google Shape;292;p26"/>
          <p:cNvPicPr preferRelativeResize="0"/>
          <p:nvPr/>
        </p:nvPicPr>
        <p:blipFill rotWithShape="1">
          <a:blip r:embed="rId3">
            <a:alphaModFix/>
          </a:blip>
          <a:srcRect/>
          <a:stretch/>
        </p:blipFill>
        <p:spPr>
          <a:xfrm>
            <a:off x="914581" y="1938332"/>
            <a:ext cx="7619819" cy="1005899"/>
          </a:xfrm>
          <a:prstGeom prst="rect">
            <a:avLst/>
          </a:prstGeom>
          <a:noFill/>
          <a:ln>
            <a:noFill/>
          </a:ln>
        </p:spPr>
      </p:pic>
      <p:sp>
        <p:nvSpPr>
          <p:cNvPr id="293" name="Google Shape;293;p26"/>
          <p:cNvSpPr txBox="1"/>
          <p:nvPr/>
        </p:nvSpPr>
        <p:spPr>
          <a:xfrm>
            <a:off x="685800" y="1938331"/>
            <a:ext cx="7955280" cy="723274"/>
          </a:xfrm>
          <a:prstGeom prst="rect">
            <a:avLst/>
          </a:prstGeom>
          <a:noFill/>
          <a:ln>
            <a:noFill/>
          </a:ln>
        </p:spPr>
        <p:txBody>
          <a:bodyPr spcFirstLastPara="1" wrap="square" lIns="0" tIns="259075" rIns="0" bIns="0" anchor="t" anchorCtr="0">
            <a:spAutoFit/>
          </a:bodyPr>
          <a:lstStyle/>
          <a:p>
            <a:pPr marL="0" lvl="0" indent="0" algn="ctr" rtl="0">
              <a:lnSpc>
                <a:spcPct val="100000"/>
              </a:lnSpc>
              <a:spcBef>
                <a:spcPts val="0"/>
              </a:spcBef>
              <a:spcAft>
                <a:spcPts val="0"/>
              </a:spcAft>
              <a:buNone/>
            </a:pPr>
            <a:r>
              <a:rPr lang="fr-FR" sz="3000" b="1">
                <a:solidFill>
                  <a:srgbClr val="FFFFFF"/>
                </a:solidFill>
                <a:latin typeface="Tahoma"/>
                <a:ea typeface="Tahoma"/>
                <a:cs typeface="Tahoma"/>
                <a:sym typeface="Tahoma"/>
              </a:rPr>
              <a:t>Strengths</a:t>
            </a:r>
            <a:endParaRPr sz="3000">
              <a:latin typeface="Tahoma"/>
              <a:ea typeface="Tahoma"/>
              <a:cs typeface="Tahoma"/>
              <a:sym typeface="Tahoma"/>
            </a:endParaRPr>
          </a:p>
        </p:txBody>
      </p:sp>
      <p:sp>
        <p:nvSpPr>
          <p:cNvPr id="294" name="Google Shape;294;p26"/>
          <p:cNvSpPr txBox="1">
            <a:spLocks noGrp="1"/>
          </p:cNvSpPr>
          <p:nvPr>
            <p:ph type="body" idx="2"/>
          </p:nvPr>
        </p:nvSpPr>
        <p:spPr>
          <a:xfrm>
            <a:off x="9829800" y="3924300"/>
            <a:ext cx="7223941" cy="2598147"/>
          </a:xfrm>
          <a:prstGeom prst="rect">
            <a:avLst/>
          </a:prstGeom>
          <a:noFill/>
          <a:ln>
            <a:noFill/>
          </a:ln>
        </p:spPr>
        <p:txBody>
          <a:bodyPr spcFirstLastPara="1" wrap="square" lIns="0" tIns="12700" rIns="0" bIns="0" anchor="t" anchorCtr="0">
            <a:spAutoFit/>
          </a:bodyPr>
          <a:lstStyle/>
          <a:p>
            <a:pPr marL="457200" lvl="0" indent="-457200" algn="l" rtl="0">
              <a:spcBef>
                <a:spcPts val="0"/>
              </a:spcBef>
              <a:spcAft>
                <a:spcPts val="0"/>
              </a:spcAft>
              <a:buClr>
                <a:schemeClr val="lt1"/>
              </a:buClr>
              <a:buSzPts val="2400"/>
              <a:buFont typeface="Arial"/>
              <a:buChar char="•"/>
            </a:pPr>
            <a:r>
              <a:rPr lang="fr-FR"/>
              <a:t>Data Preparation for parsing: Requires clean, structured logs</a:t>
            </a:r>
            <a:endParaRPr/>
          </a:p>
          <a:p>
            <a:pPr marL="457200" lvl="0" indent="-457200" algn="l" rtl="0">
              <a:spcBef>
                <a:spcPts val="0"/>
              </a:spcBef>
              <a:spcAft>
                <a:spcPts val="0"/>
              </a:spcAft>
              <a:buClr>
                <a:schemeClr val="lt1"/>
              </a:buClr>
              <a:buSzPts val="2400"/>
              <a:buFont typeface="Arial"/>
              <a:buChar char="•"/>
            </a:pPr>
            <a:r>
              <a:rPr lang="fr-FR"/>
              <a:t>AI Toolkit-data incompatibility and reliablity issues</a:t>
            </a:r>
            <a:endParaRPr/>
          </a:p>
          <a:p>
            <a:pPr marL="457200" lvl="0" indent="-457200" algn="l" rtl="0">
              <a:spcBef>
                <a:spcPts val="0"/>
              </a:spcBef>
              <a:spcAft>
                <a:spcPts val="0"/>
              </a:spcAft>
              <a:buClr>
                <a:schemeClr val="lt1"/>
              </a:buClr>
              <a:buSzPts val="2400"/>
              <a:buFont typeface="Arial"/>
              <a:buChar char="•"/>
            </a:pPr>
            <a:r>
              <a:rPr lang="fr-FR"/>
              <a:t>Skill Barrier: Advanced SPL knowledge needed</a:t>
            </a:r>
            <a:endParaRPr/>
          </a:p>
          <a:p>
            <a:pPr marL="457200" lvl="0" indent="-304800" algn="l" rtl="0">
              <a:spcBef>
                <a:spcPts val="0"/>
              </a:spcBef>
              <a:spcAft>
                <a:spcPts val="0"/>
              </a:spcAft>
              <a:buClr>
                <a:schemeClr val="lt1"/>
              </a:buClr>
              <a:buSzPts val="2400"/>
              <a:buFont typeface="Arial"/>
              <a:buNone/>
            </a:pPr>
            <a:endParaRPr/>
          </a:p>
        </p:txBody>
      </p:sp>
      <p:pic>
        <p:nvPicPr>
          <p:cNvPr id="295" name="Google Shape;295;p26"/>
          <p:cNvPicPr preferRelativeResize="0"/>
          <p:nvPr/>
        </p:nvPicPr>
        <p:blipFill rotWithShape="1">
          <a:blip r:embed="rId4">
            <a:alphaModFix/>
          </a:blip>
          <a:srcRect/>
          <a:stretch/>
        </p:blipFill>
        <p:spPr>
          <a:xfrm>
            <a:off x="9646922" y="1938331"/>
            <a:ext cx="7726497" cy="1005899"/>
          </a:xfrm>
          <a:prstGeom prst="rect">
            <a:avLst/>
          </a:prstGeom>
          <a:noFill/>
          <a:ln>
            <a:noFill/>
          </a:ln>
        </p:spPr>
      </p:pic>
      <p:sp>
        <p:nvSpPr>
          <p:cNvPr id="296" name="Google Shape;296;p26"/>
          <p:cNvSpPr txBox="1"/>
          <p:nvPr/>
        </p:nvSpPr>
        <p:spPr>
          <a:xfrm>
            <a:off x="9098461" y="1938331"/>
            <a:ext cx="7955280" cy="723274"/>
          </a:xfrm>
          <a:prstGeom prst="rect">
            <a:avLst/>
          </a:prstGeom>
          <a:noFill/>
          <a:ln>
            <a:noFill/>
          </a:ln>
        </p:spPr>
        <p:txBody>
          <a:bodyPr spcFirstLastPara="1" wrap="square" lIns="0" tIns="259075" rIns="0" bIns="0" anchor="t" anchorCtr="0">
            <a:spAutoFit/>
          </a:bodyPr>
          <a:lstStyle/>
          <a:p>
            <a:pPr marL="0" lvl="0" indent="0" algn="ctr" rtl="0">
              <a:lnSpc>
                <a:spcPct val="100000"/>
              </a:lnSpc>
              <a:spcBef>
                <a:spcPts val="0"/>
              </a:spcBef>
              <a:spcAft>
                <a:spcPts val="0"/>
              </a:spcAft>
              <a:buNone/>
            </a:pPr>
            <a:r>
              <a:rPr lang="fr-FR" sz="3000" b="1">
                <a:solidFill>
                  <a:srgbClr val="FFFFFF"/>
                </a:solidFill>
                <a:latin typeface="Tahoma"/>
                <a:ea typeface="Tahoma"/>
                <a:cs typeface="Tahoma"/>
                <a:sym typeface="Tahoma"/>
              </a:rPr>
              <a:t>Limitations</a:t>
            </a:r>
            <a:endParaRPr sz="3000">
              <a:latin typeface="Tahoma"/>
              <a:ea typeface="Tahoma"/>
              <a:cs typeface="Tahoma"/>
              <a:sym typeface="Tahom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pic>
        <p:nvPicPr>
          <p:cNvPr id="301" name="Google Shape;301;p27"/>
          <p:cNvPicPr preferRelativeResize="0"/>
          <p:nvPr/>
        </p:nvPicPr>
        <p:blipFill rotWithShape="1">
          <a:blip r:embed="rId3">
            <a:alphaModFix/>
          </a:blip>
          <a:srcRect/>
          <a:stretch/>
        </p:blipFill>
        <p:spPr>
          <a:xfrm>
            <a:off x="1212342" y="3878197"/>
            <a:ext cx="3026699" cy="3022599"/>
          </a:xfrm>
          <a:prstGeom prst="rect">
            <a:avLst/>
          </a:prstGeom>
          <a:noFill/>
          <a:ln>
            <a:noFill/>
          </a:ln>
        </p:spPr>
      </p:pic>
      <p:sp>
        <p:nvSpPr>
          <p:cNvPr id="302" name="Google Shape;302;p27"/>
          <p:cNvSpPr/>
          <p:nvPr/>
        </p:nvSpPr>
        <p:spPr>
          <a:xfrm>
            <a:off x="6018762" y="0"/>
            <a:ext cx="28575" cy="1028700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3" name="Google Shape;303;p27"/>
          <p:cNvSpPr txBox="1">
            <a:spLocks noGrp="1"/>
          </p:cNvSpPr>
          <p:nvPr>
            <p:ph type="title"/>
          </p:nvPr>
        </p:nvSpPr>
        <p:spPr>
          <a:xfrm>
            <a:off x="405561" y="2147921"/>
            <a:ext cx="7357200" cy="13674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fr-FR" sz="4400"/>
              <a:t>Security Recommendations</a:t>
            </a:r>
            <a:endParaRPr sz="4400"/>
          </a:p>
        </p:txBody>
      </p:sp>
      <p:sp>
        <p:nvSpPr>
          <p:cNvPr id="304" name="Google Shape;304;p27"/>
          <p:cNvSpPr txBox="1">
            <a:spLocks noGrp="1"/>
          </p:cNvSpPr>
          <p:nvPr>
            <p:ph type="body" idx="1"/>
          </p:nvPr>
        </p:nvSpPr>
        <p:spPr>
          <a:xfrm>
            <a:off x="6803216" y="1508946"/>
            <a:ext cx="11160614" cy="7422545"/>
          </a:xfrm>
          <a:prstGeom prst="rect">
            <a:avLst/>
          </a:prstGeom>
          <a:noFill/>
          <a:ln>
            <a:noFill/>
          </a:ln>
        </p:spPr>
        <p:txBody>
          <a:bodyPr spcFirstLastPara="1" wrap="square" lIns="0" tIns="218425" rIns="0" bIns="0" anchor="t" anchorCtr="0">
            <a:spAutoFit/>
          </a:bodyPr>
          <a:lstStyle/>
          <a:p>
            <a:pPr marL="457200" lvl="0" indent="-457200" algn="l" rtl="0">
              <a:spcBef>
                <a:spcPts val="0"/>
              </a:spcBef>
              <a:spcAft>
                <a:spcPts val="0"/>
              </a:spcAft>
              <a:buClr>
                <a:schemeClr val="lt1"/>
              </a:buClr>
              <a:buSzPts val="2200"/>
              <a:buFont typeface="Calibri"/>
              <a:buAutoNum type="arabicPeriod"/>
            </a:pPr>
            <a:r>
              <a:rPr lang="fr-FR" sz="2200"/>
              <a:t>Isolate infected host (10.8.15.133) to prevent further compromise.</a:t>
            </a:r>
            <a:endParaRPr/>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 Block identified Attack infrastructure by implementing firewall rules for 72.5.43.29,23.205.110.48, 23.33.138.184, and 60+ additional malicious IPs.</a:t>
            </a:r>
            <a:endParaRPr/>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Investigate domain controller (10.8.15.4) for movement evidence.</a:t>
            </a:r>
            <a:endParaRPr/>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Encrypted Traffic Profiling for QUIC and TLSv1.3 to external destinations. Packet contents cannot be inspected but metadata can identify anomalous encrypted channels.</a:t>
            </a:r>
            <a:endParaRPr sz="2200"/>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Query Depth Monitoring by tracking query sizes and responses.</a:t>
            </a:r>
            <a:endParaRPr/>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Protocol Abuse Detection by monitoring non-web protocols (e.g OCSP) for anomalous payload sizes.</a:t>
            </a:r>
            <a:endParaRPr/>
          </a:p>
          <a:p>
            <a:pPr marL="457200" lvl="0" indent="-317500" algn="l" rtl="0">
              <a:spcBef>
                <a:spcPts val="0"/>
              </a:spcBef>
              <a:spcAft>
                <a:spcPts val="0"/>
              </a:spcAft>
              <a:buClr>
                <a:schemeClr val="lt1"/>
              </a:buClr>
              <a:buSzPts val="2200"/>
              <a:buFont typeface="Calibri"/>
              <a:buNone/>
            </a:pPr>
            <a:endParaRPr sz="2200"/>
          </a:p>
          <a:p>
            <a:pPr marL="457200" lvl="0" indent="-457200" algn="l" rtl="0">
              <a:spcBef>
                <a:spcPts val="0"/>
              </a:spcBef>
              <a:spcAft>
                <a:spcPts val="0"/>
              </a:spcAft>
              <a:buClr>
                <a:schemeClr val="lt1"/>
              </a:buClr>
              <a:buSzPts val="2200"/>
              <a:buFont typeface="Calibri"/>
              <a:buAutoNum type="arabicPeriod"/>
            </a:pPr>
            <a:r>
              <a:rPr lang="fr-FR" sz="2200"/>
              <a:t>Lateral Movement Baseline by establishing communication baselines for LDAP,SMB, and DCERPC traffic and any deviation from normal patterns involving the infected host should trigger immediate containment.</a:t>
            </a:r>
            <a:br>
              <a:rPr lang="fr-FR"/>
            </a:br>
            <a:endParaRPr sz="2800"/>
          </a:p>
        </p:txBody>
      </p:sp>
      <p:sp>
        <p:nvSpPr>
          <p:cNvPr id="305" name="Google Shape;305;p27"/>
          <p:cNvSpPr txBox="1"/>
          <p:nvPr/>
        </p:nvSpPr>
        <p:spPr>
          <a:xfrm>
            <a:off x="2215243" y="4604667"/>
            <a:ext cx="1061357" cy="15696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9600" b="1">
                <a:solidFill>
                  <a:schemeClr val="lt1"/>
                </a:solidFill>
              </a:rPr>
              <a:t>&gt;</a:t>
            </a:r>
            <a:r>
              <a:rPr lang="fr-FR" sz="1800" b="1"/>
              <a:t> </a:t>
            </a:r>
            <a:endParaRPr sz="1800" b="1"/>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pic>
        <p:nvPicPr>
          <p:cNvPr id="310" name="Google Shape;310;p28"/>
          <p:cNvPicPr preferRelativeResize="0"/>
          <p:nvPr/>
        </p:nvPicPr>
        <p:blipFill rotWithShape="1">
          <a:blip r:embed="rId3">
            <a:alphaModFix/>
          </a:blip>
          <a:srcRect/>
          <a:stretch/>
        </p:blipFill>
        <p:spPr>
          <a:xfrm>
            <a:off x="0" y="1"/>
            <a:ext cx="247970" cy="10286999"/>
          </a:xfrm>
          <a:prstGeom prst="rect">
            <a:avLst/>
          </a:prstGeom>
          <a:noFill/>
          <a:ln>
            <a:noFill/>
          </a:ln>
        </p:spPr>
      </p:pic>
      <p:sp>
        <p:nvSpPr>
          <p:cNvPr id="311" name="Google Shape;311;p28"/>
          <p:cNvSpPr txBox="1"/>
          <p:nvPr/>
        </p:nvSpPr>
        <p:spPr>
          <a:xfrm>
            <a:off x="7003999" y="2124875"/>
            <a:ext cx="4279800" cy="1078200"/>
          </a:xfrm>
          <a:prstGeom prst="rect">
            <a:avLst/>
          </a:prstGeom>
          <a:noFill/>
          <a:ln>
            <a:noFill/>
          </a:ln>
        </p:spPr>
        <p:txBody>
          <a:bodyPr spcFirstLastPara="1" wrap="square" lIns="0" tIns="153025" rIns="0" bIns="0" anchor="t" anchorCtr="0">
            <a:spAutoFit/>
          </a:bodyPr>
          <a:lstStyle/>
          <a:p>
            <a:pPr marL="12700" marR="5080" lvl="0" indent="0" algn="l" rtl="0">
              <a:lnSpc>
                <a:spcPct val="102000"/>
              </a:lnSpc>
              <a:spcBef>
                <a:spcPts val="0"/>
              </a:spcBef>
              <a:spcAft>
                <a:spcPts val="0"/>
              </a:spcAft>
              <a:buNone/>
            </a:pPr>
            <a:r>
              <a:rPr lang="fr-FR" sz="6000" b="1">
                <a:solidFill>
                  <a:srgbClr val="FFFFFF"/>
                </a:solidFill>
                <a:latin typeface="Tahoma"/>
                <a:ea typeface="Tahoma"/>
                <a:cs typeface="Tahoma"/>
                <a:sym typeface="Tahoma"/>
              </a:rPr>
              <a:t>Conclusion</a:t>
            </a:r>
            <a:endParaRPr sz="6000">
              <a:latin typeface="Tahoma"/>
              <a:ea typeface="Tahoma"/>
              <a:cs typeface="Tahoma"/>
              <a:sym typeface="Tahoma"/>
            </a:endParaRPr>
          </a:p>
        </p:txBody>
      </p:sp>
      <p:sp>
        <p:nvSpPr>
          <p:cNvPr id="312" name="Google Shape;312;p28"/>
          <p:cNvSpPr txBox="1"/>
          <p:nvPr/>
        </p:nvSpPr>
        <p:spPr>
          <a:xfrm>
            <a:off x="3867701" y="3527475"/>
            <a:ext cx="10986300" cy="4058400"/>
          </a:xfrm>
          <a:prstGeom prst="rect">
            <a:avLst/>
          </a:prstGeom>
          <a:noFill/>
          <a:ln>
            <a:noFill/>
          </a:ln>
        </p:spPr>
        <p:txBody>
          <a:bodyPr spcFirstLastPara="1" wrap="square" lIns="0" tIns="12700" rIns="0" bIns="0" anchor="t" anchorCtr="0">
            <a:spAutoFit/>
          </a:bodyPr>
          <a:lstStyle/>
          <a:p>
            <a:pPr marL="0" lvl="0" indent="0" algn="l" rtl="0">
              <a:spcBef>
                <a:spcPts val="0"/>
              </a:spcBef>
              <a:spcAft>
                <a:spcPts val="0"/>
              </a:spcAft>
              <a:buNone/>
            </a:pPr>
            <a:endParaRPr sz="20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dirty="0">
              <a:solidFill>
                <a:schemeClr val="lt1"/>
              </a:solidFill>
              <a:latin typeface="Verdana"/>
              <a:ea typeface="Verdana"/>
              <a:cs typeface="Verdana"/>
              <a:sym typeface="Verdana"/>
            </a:endParaRPr>
          </a:p>
          <a:p>
            <a:pPr marL="0" lvl="0" indent="0" algn="l" rtl="0">
              <a:spcBef>
                <a:spcPts val="0"/>
              </a:spcBef>
              <a:spcAft>
                <a:spcPts val="0"/>
              </a:spcAft>
              <a:buNone/>
            </a:pPr>
            <a:r>
              <a:rPr lang="fr-FR" sz="2200" b="1" dirty="0">
                <a:solidFill>
                  <a:schemeClr val="lt1"/>
                </a:solidFill>
                <a:latin typeface="Verdana"/>
                <a:ea typeface="Verdana"/>
                <a:cs typeface="Verdana"/>
                <a:sym typeface="Verdana"/>
              </a:rPr>
              <a:t>Splunk </a:t>
            </a:r>
            <a:r>
              <a:rPr lang="fr-FR" sz="2200" b="1" dirty="0" err="1">
                <a:solidFill>
                  <a:schemeClr val="lt1"/>
                </a:solidFill>
                <a:latin typeface="Verdana"/>
                <a:ea typeface="Verdana"/>
                <a:cs typeface="Verdana"/>
                <a:sym typeface="Verdana"/>
              </a:rPr>
              <a:t>found</a:t>
            </a:r>
            <a:r>
              <a:rPr lang="fr-FR" sz="2200" b="1" dirty="0">
                <a:solidFill>
                  <a:schemeClr val="lt1"/>
                </a:solidFill>
                <a:latin typeface="Verdana"/>
                <a:ea typeface="Verdana"/>
                <a:cs typeface="Verdana"/>
                <a:sym typeface="Verdana"/>
              </a:rPr>
              <a:t> 65% more </a:t>
            </a:r>
            <a:r>
              <a:rPr lang="fr-FR" sz="2200" b="1" dirty="0" err="1">
                <a:solidFill>
                  <a:schemeClr val="lt1"/>
                </a:solidFill>
                <a:latin typeface="Verdana"/>
                <a:ea typeface="Verdana"/>
                <a:cs typeface="Verdana"/>
                <a:sym typeface="Verdana"/>
              </a:rPr>
              <a:t>threats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than</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existing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alerts</a:t>
            </a:r>
            <a:r>
              <a:rPr lang="fr-FR" sz="2200" b="1" dirty="0">
                <a:solidFill>
                  <a:schemeClr val="lt1"/>
                </a:solidFill>
                <a:latin typeface="Verdana"/>
                <a:ea typeface="Verdana"/>
                <a:cs typeface="Verdana"/>
                <a:sym typeface="Verdana"/>
              </a:rPr>
              <a:t> and not </a:t>
            </a:r>
            <a:r>
              <a:rPr lang="fr-FR" sz="2200" b="1" dirty="0" err="1">
                <a:solidFill>
                  <a:schemeClr val="lt1"/>
                </a:solidFill>
                <a:latin typeface="Verdana"/>
                <a:ea typeface="Verdana"/>
                <a:cs typeface="Verdana"/>
                <a:sym typeface="Verdana"/>
              </a:rPr>
              <a:t>just</a:t>
            </a:r>
            <a:r>
              <a:rPr lang="fr-FR" sz="2200" b="1" dirty="0">
                <a:solidFill>
                  <a:schemeClr val="lt1"/>
                </a:solidFill>
                <a:latin typeface="Verdana"/>
                <a:ea typeface="Verdana"/>
                <a:cs typeface="Verdana"/>
                <a:sym typeface="Verdana"/>
              </a:rPr>
              <a:t> more of the </a:t>
            </a:r>
            <a:r>
              <a:rPr lang="fr-FR" sz="2200" b="1" dirty="0" err="1">
                <a:solidFill>
                  <a:schemeClr val="lt1"/>
                </a:solidFill>
                <a:latin typeface="Verdana"/>
                <a:ea typeface="Verdana"/>
                <a:cs typeface="Verdana"/>
                <a:sym typeface="Verdana"/>
              </a:rPr>
              <a:t>same</a:t>
            </a:r>
            <a:r>
              <a:rPr lang="fr-FR" sz="2200" b="1" dirty="0">
                <a:solidFill>
                  <a:schemeClr val="lt1"/>
                </a:solidFill>
                <a:latin typeface="Verdana"/>
                <a:ea typeface="Verdana"/>
                <a:cs typeface="Verdana"/>
                <a:sym typeface="Verdana"/>
              </a:rPr>
              <a:t>, but </a:t>
            </a:r>
            <a:r>
              <a:rPr lang="fr-FR" sz="2200" b="1" dirty="0" err="1">
                <a:solidFill>
                  <a:schemeClr val="lt1"/>
                </a:solidFill>
                <a:latin typeface="Verdana"/>
                <a:ea typeface="Verdana"/>
                <a:cs typeface="Verdana"/>
                <a:sym typeface="Verdana"/>
              </a:rPr>
              <a:t>entire</a:t>
            </a:r>
            <a:r>
              <a:rPr lang="fr-FR" sz="2200" b="1" dirty="0">
                <a:solidFill>
                  <a:schemeClr val="lt1"/>
                </a:solidFill>
                <a:latin typeface="Verdana"/>
                <a:ea typeface="Verdana"/>
                <a:cs typeface="Verdana"/>
                <a:sym typeface="Verdana"/>
              </a:rPr>
              <a:t> new </a:t>
            </a:r>
            <a:r>
              <a:rPr lang="fr-FR" sz="2200" b="1" dirty="0" err="1">
                <a:solidFill>
                  <a:schemeClr val="lt1"/>
                </a:solidFill>
                <a:latin typeface="Verdana"/>
                <a:ea typeface="Verdana"/>
                <a:cs typeface="Verdana"/>
                <a:sym typeface="Verdana"/>
              </a:rPr>
              <a:t>categories</a:t>
            </a:r>
            <a:r>
              <a:rPr lang="fr-FR" sz="2200" b="1" dirty="0">
                <a:solidFill>
                  <a:schemeClr val="lt1"/>
                </a:solidFill>
                <a:latin typeface="Verdana"/>
                <a:ea typeface="Verdana"/>
                <a:cs typeface="Verdana"/>
                <a:sym typeface="Verdana"/>
              </a:rPr>
              <a:t> of </a:t>
            </a:r>
            <a:r>
              <a:rPr lang="fr-FR" sz="2200" b="1" dirty="0" err="1">
                <a:solidFill>
                  <a:schemeClr val="lt1"/>
                </a:solidFill>
                <a:latin typeface="Verdana"/>
                <a:ea typeface="Verdana"/>
                <a:cs typeface="Verdana"/>
                <a:sym typeface="Verdana"/>
              </a:rPr>
              <a:t>threats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which</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is</a:t>
            </a:r>
            <a:r>
              <a:rPr lang="fr-FR" sz="2200" b="1" dirty="0">
                <a:solidFill>
                  <a:schemeClr val="lt1"/>
                </a:solidFill>
                <a:latin typeface="Verdana"/>
                <a:ea typeface="Verdana"/>
                <a:cs typeface="Verdana"/>
                <a:sym typeface="Verdana"/>
              </a:rPr>
              <a:t> essential in an </a:t>
            </a:r>
            <a:r>
              <a:rPr lang="fr-FR" sz="2200" b="1" dirty="0" err="1">
                <a:solidFill>
                  <a:schemeClr val="lt1"/>
                </a:solidFill>
                <a:latin typeface="Verdana"/>
                <a:ea typeface="Verdana"/>
                <a:cs typeface="Verdana"/>
                <a:sym typeface="Verdana"/>
              </a:rPr>
              <a:t>environment</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where</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this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level</a:t>
            </a:r>
            <a:r>
              <a:rPr lang="fr-FR" sz="2200" b="1" dirty="0">
                <a:solidFill>
                  <a:schemeClr val="lt1"/>
                </a:solidFill>
                <a:latin typeface="Verdana"/>
                <a:ea typeface="Verdana"/>
                <a:cs typeface="Verdana"/>
                <a:sym typeface="Verdana"/>
              </a:rPr>
              <a:t> of </a:t>
            </a:r>
            <a:r>
              <a:rPr lang="fr-FR" sz="2200" b="1" dirty="0" err="1">
                <a:solidFill>
                  <a:schemeClr val="lt1"/>
                </a:solidFill>
                <a:latin typeface="Verdana"/>
                <a:ea typeface="Verdana"/>
                <a:cs typeface="Verdana"/>
                <a:sym typeface="Verdana"/>
              </a:rPr>
              <a:t>visibility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is</a:t>
            </a:r>
            <a:r>
              <a:rPr lang="fr-FR" sz="2200" b="1" dirty="0">
                <a:solidFill>
                  <a:schemeClr val="lt1"/>
                </a:solidFill>
                <a:latin typeface="Verdana"/>
                <a:ea typeface="Verdana"/>
                <a:cs typeface="Verdana"/>
                <a:sym typeface="Verdana"/>
              </a:rPr>
              <a:t> no longer </a:t>
            </a:r>
            <a:r>
              <a:rPr lang="fr-FR" sz="2200" b="1" dirty="0" err="1">
                <a:solidFill>
                  <a:schemeClr val="lt1"/>
                </a:solidFill>
                <a:latin typeface="Verdana"/>
                <a:ea typeface="Verdana"/>
                <a:cs typeface="Verdana"/>
                <a:sym typeface="Verdana"/>
              </a:rPr>
              <a:t>optional</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Finally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we</a:t>
            </a:r>
            <a:r>
              <a:rPr lang="fr-FR" sz="2200" b="1" dirty="0">
                <a:solidFill>
                  <a:schemeClr val="lt1"/>
                </a:solidFill>
                <a:latin typeface="Verdana"/>
                <a:ea typeface="Verdana"/>
                <a:cs typeface="Verdana"/>
                <a:sym typeface="Verdana"/>
              </a:rPr>
              <a:t> can </a:t>
            </a:r>
            <a:r>
              <a:rPr lang="fr-FR" sz="2200" b="1" dirty="0" err="1">
                <a:solidFill>
                  <a:schemeClr val="lt1"/>
                </a:solidFill>
                <a:latin typeface="Verdana"/>
                <a:ea typeface="Verdana"/>
                <a:cs typeface="Verdana"/>
                <a:sym typeface="Verdana"/>
              </a:rPr>
              <a:t>conclude</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that</a:t>
            </a:r>
            <a:r>
              <a:rPr lang="fr-FR" sz="2200" b="1" dirty="0">
                <a:solidFill>
                  <a:schemeClr val="lt1"/>
                </a:solidFill>
                <a:latin typeface="Verdana"/>
                <a:ea typeface="Verdana"/>
                <a:cs typeface="Verdana"/>
                <a:sym typeface="Verdana"/>
              </a:rPr>
              <a:t> the </a:t>
            </a:r>
            <a:r>
              <a:rPr lang="fr-FR" sz="2200" b="1" dirty="0" err="1">
                <a:solidFill>
                  <a:schemeClr val="lt1"/>
                </a:solidFill>
                <a:latin typeface="Verdana"/>
                <a:ea typeface="Verdana"/>
                <a:cs typeface="Verdana"/>
                <a:sym typeface="Verdana"/>
              </a:rPr>
              <a:t>platform’s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true</a:t>
            </a:r>
            <a:r>
              <a:rPr lang="fr-FR" sz="2200" b="1" dirty="0">
                <a:solidFill>
                  <a:schemeClr val="lt1"/>
                </a:solidFill>
                <a:latin typeface="Verdana"/>
                <a:ea typeface="Verdana"/>
                <a:cs typeface="Verdana"/>
                <a:sym typeface="Verdana"/>
              </a:rPr>
              <a:t> value lies not in </a:t>
            </a:r>
            <a:r>
              <a:rPr lang="fr-FR" sz="2200" b="1" dirty="0" err="1">
                <a:solidFill>
                  <a:schemeClr val="lt1"/>
                </a:solidFill>
                <a:latin typeface="Verdana"/>
                <a:ea typeface="Verdana"/>
                <a:cs typeface="Verdana"/>
                <a:sym typeface="Verdana"/>
              </a:rPr>
              <a:t>automated</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detection</a:t>
            </a:r>
            <a:r>
              <a:rPr lang="fr-FR" sz="2200" b="1" dirty="0">
                <a:solidFill>
                  <a:schemeClr val="lt1"/>
                </a:solidFill>
                <a:latin typeface="Verdana"/>
                <a:ea typeface="Verdana"/>
                <a:cs typeface="Verdana"/>
                <a:sym typeface="Verdana"/>
              </a:rPr>
              <a:t> but in </a:t>
            </a:r>
            <a:r>
              <a:rPr lang="fr-FR" sz="2200" b="1" dirty="0" err="1">
                <a:solidFill>
                  <a:schemeClr val="lt1"/>
                </a:solidFill>
                <a:latin typeface="Verdana"/>
                <a:ea typeface="Verdana"/>
                <a:cs typeface="Verdana"/>
                <a:sym typeface="Verdana"/>
              </a:rPr>
              <a:t>enabling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human</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analytical</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reasoning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through</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its</a:t>
            </a:r>
            <a:r>
              <a:rPr lang="fr-FR" sz="2200" b="1" dirty="0">
                <a:solidFill>
                  <a:schemeClr val="lt1"/>
                </a:solidFill>
                <a:latin typeface="Verdana"/>
                <a:ea typeface="Verdana"/>
                <a:cs typeface="Verdana"/>
                <a:sym typeface="Verdana"/>
              </a:rPr>
              <a:t> flexible </a:t>
            </a:r>
            <a:r>
              <a:rPr lang="fr-FR" sz="2200" b="1" dirty="0" err="1">
                <a:solidFill>
                  <a:schemeClr val="lt1"/>
                </a:solidFill>
                <a:latin typeface="Verdana"/>
                <a:ea typeface="Verdana"/>
                <a:cs typeface="Verdana"/>
                <a:sym typeface="Verdana"/>
              </a:rPr>
              <a:t>query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language</a:t>
            </a:r>
            <a:r>
              <a:rPr lang="fr-FR" sz="2200" b="1" dirty="0">
                <a:solidFill>
                  <a:schemeClr val="lt1"/>
                </a:solidFill>
                <a:latin typeface="Verdana"/>
                <a:ea typeface="Verdana"/>
                <a:cs typeface="Verdana"/>
                <a:sym typeface="Verdana"/>
              </a:rPr>
              <a:t>.</a:t>
            </a:r>
            <a:endParaRPr dirty="0"/>
          </a:p>
          <a:p>
            <a:pPr marL="342900" lvl="0" indent="-203200" algn="l" rtl="0">
              <a:spcBef>
                <a:spcPts val="0"/>
              </a:spcBef>
              <a:spcAft>
                <a:spcPts val="0"/>
              </a:spcAft>
              <a:buSzPts val="2200"/>
              <a:buFont typeface="Noto Sans Symbols"/>
              <a:buNone/>
            </a:pPr>
            <a:endParaRPr sz="22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b="1" dirty="0">
              <a:solidFill>
                <a:schemeClr val="lt1"/>
              </a:solidFill>
              <a:latin typeface="Verdana"/>
              <a:ea typeface="Verdana"/>
              <a:cs typeface="Verdana"/>
              <a:sym typeface="Verdana"/>
            </a:endParaRPr>
          </a:p>
          <a:p>
            <a:pPr marL="12700" lvl="0" indent="0" algn="just" rtl="0">
              <a:lnSpc>
                <a:spcPct val="100000"/>
              </a:lnSpc>
              <a:spcBef>
                <a:spcPts val="100"/>
              </a:spcBef>
              <a:spcAft>
                <a:spcPts val="0"/>
              </a:spcAft>
              <a:buNone/>
            </a:pPr>
            <a:r>
              <a:rPr lang="fr-FR" sz="2200" b="1" dirty="0">
                <a:solidFill>
                  <a:schemeClr val="lt1"/>
                </a:solidFill>
                <a:latin typeface="Verdana"/>
                <a:ea typeface="Verdana"/>
                <a:cs typeface="Verdana"/>
                <a:sym typeface="Verdana"/>
              </a:rPr>
              <a:t> </a:t>
            </a:r>
            <a:endParaRPr sz="2200" b="1" dirty="0">
              <a:solidFill>
                <a:schemeClr val="lt1"/>
              </a:solidFill>
              <a:latin typeface="Verdana"/>
              <a:ea typeface="Verdana"/>
              <a:cs typeface="Verdana"/>
              <a:sym typeface="Verdan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316"/>
        <p:cNvGrpSpPr/>
        <p:nvPr/>
      </p:nvGrpSpPr>
      <p:grpSpPr>
        <a:xfrm>
          <a:off x="0" y="0"/>
          <a:ext cx="0" cy="0"/>
          <a:chOff x="0" y="0"/>
          <a:chExt cx="0" cy="0"/>
        </a:xfrm>
      </p:grpSpPr>
      <p:pic>
        <p:nvPicPr>
          <p:cNvPr id="317" name="Google Shape;317;p29"/>
          <p:cNvPicPr preferRelativeResize="0"/>
          <p:nvPr/>
        </p:nvPicPr>
        <p:blipFill rotWithShape="1">
          <a:blip r:embed="rId3">
            <a:alphaModFix/>
          </a:blip>
          <a:srcRect/>
          <a:stretch/>
        </p:blipFill>
        <p:spPr>
          <a:xfrm>
            <a:off x="16329" y="-87086"/>
            <a:ext cx="18288000" cy="10287000"/>
          </a:xfrm>
          <a:prstGeom prst="rect">
            <a:avLst/>
          </a:prstGeom>
          <a:noFill/>
          <a:ln>
            <a:noFill/>
          </a:ln>
        </p:spPr>
      </p:pic>
      <p:sp>
        <p:nvSpPr>
          <p:cNvPr id="318" name="Google Shape;318;p29"/>
          <p:cNvSpPr txBox="1">
            <a:spLocks noGrp="1"/>
          </p:cNvSpPr>
          <p:nvPr>
            <p:ph type="title"/>
          </p:nvPr>
        </p:nvSpPr>
        <p:spPr>
          <a:xfrm>
            <a:off x="2215832" y="6515100"/>
            <a:ext cx="13856335" cy="1090042"/>
          </a:xfrm>
          <a:prstGeom prst="rect">
            <a:avLst/>
          </a:prstGeom>
          <a:noFill/>
          <a:ln>
            <a:noFill/>
          </a:ln>
        </p:spPr>
        <p:txBody>
          <a:bodyPr spcFirstLastPara="1" wrap="square" lIns="0" tIns="12700" rIns="0" bIns="0" anchor="t" anchorCtr="0">
            <a:spAutoFit/>
          </a:bodyPr>
          <a:lstStyle/>
          <a:p>
            <a:pPr marL="0" lvl="0" indent="0" algn="ctr" rtl="0">
              <a:lnSpc>
                <a:spcPct val="100000"/>
              </a:lnSpc>
              <a:spcBef>
                <a:spcPts val="0"/>
              </a:spcBef>
              <a:spcAft>
                <a:spcPts val="0"/>
              </a:spcAft>
              <a:buNone/>
            </a:pPr>
            <a:r>
              <a:rPr lang="fr-FR" sz="7000">
                <a:latin typeface="Verdana"/>
                <a:ea typeface="Verdana"/>
                <a:cs typeface="Verdana"/>
                <a:sym typeface="Verdana"/>
              </a:rPr>
              <a:t>Thank You!</a:t>
            </a:r>
            <a:endParaRPr sz="2750">
              <a:latin typeface="Verdana"/>
              <a:ea typeface="Verdana"/>
              <a:cs typeface="Verdana"/>
              <a:sym typeface="Verdana"/>
            </a:endParaRPr>
          </a:p>
        </p:txBody>
      </p:sp>
      <p:pic>
        <p:nvPicPr>
          <p:cNvPr id="319" name="Google Shape;319;p29" descr="Splunk Enterprise - Features, Reviews &amp; Pricing (January 2026)"/>
          <p:cNvPicPr preferRelativeResize="0"/>
          <p:nvPr/>
        </p:nvPicPr>
        <p:blipFill rotWithShape="1">
          <a:blip r:embed="rId4">
            <a:alphaModFix/>
          </a:blip>
          <a:srcRect/>
          <a:stretch/>
        </p:blipFill>
        <p:spPr>
          <a:xfrm>
            <a:off x="7239000" y="2394797"/>
            <a:ext cx="3810000" cy="3810000"/>
          </a:xfrm>
          <a:prstGeom prst="roundRect">
            <a:avLst>
              <a:gd name="adj" fmla="val 4167"/>
            </a:avLst>
          </a:prstGeom>
          <a:solidFill>
            <a:srgbClr val="FFFFFF"/>
          </a:solidFill>
          <a:ln w="76200" cap="sq" cmpd="sng">
            <a:solidFill>
              <a:srgbClr val="292929"/>
            </a:solidFill>
            <a:prstDash val="solid"/>
            <a:miter lim="800000"/>
            <a:headEnd type="none" w="sm" len="sm"/>
            <a:tailEnd type="none" w="sm" len="sm"/>
          </a:ln>
          <a:effectLst>
            <a:reflection stA="28000" endPos="28000" dist="5000" dir="5400000" sy="-100000" algn="bl" rotWithShape="0"/>
          </a:effectLst>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1525</Words>
  <Application>Microsoft Office PowerPoint</Application>
  <PresentationFormat>Personnalisé</PresentationFormat>
  <Paragraphs>136</Paragraphs>
  <Slides>29</Slides>
  <Notes>29</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29</vt:i4>
      </vt:variant>
    </vt:vector>
  </HeadingPairs>
  <TitlesOfParts>
    <vt:vector size="35" baseType="lpstr">
      <vt:lpstr>Verdana</vt:lpstr>
      <vt:lpstr>Arial</vt:lpstr>
      <vt:lpstr>Calibri</vt:lpstr>
      <vt:lpstr>Tahoma</vt:lpstr>
      <vt:lpstr>Noto Sans Symbols</vt:lpstr>
      <vt:lpstr>Office Theme</vt:lpstr>
      <vt:lpstr>Splunk Enterprise Evaluation Experimental Analysis of Threat Detection Capabilities</vt:lpstr>
      <vt:lpstr>Présentation PowerPoint</vt:lpstr>
      <vt:lpstr>Primary Objectives </vt:lpstr>
      <vt:lpstr>Methodology &amp; Evaluation Metrics</vt:lpstr>
      <vt:lpstr>Log Ingestion   The traffic data ingestion happened through a lookup creation which helped to parse the log effectively.</vt:lpstr>
      <vt:lpstr>Présentation PowerPoint</vt:lpstr>
      <vt:lpstr>Network Discovery - Baseline Analysis  Query extractes total packets, sources, destinations, average packet size.</vt:lpstr>
      <vt:lpstr>Noisiest Devices Identification Query counts packets per source IP and sorts in descending order. This reveals which hosts are generating the most traffic.</vt:lpstr>
      <vt:lpstr>External Communication Mapping Reconnaissance-level analysis </vt:lpstr>
      <vt:lpstr>Malware Delivery Detection </vt:lpstr>
      <vt:lpstr>From External Mapping to Attacker Servers Detection Behavioral analysis </vt:lpstr>
      <vt:lpstr>Data Exfiltration Assessment</vt:lpstr>
      <vt:lpstr>Attack Timeline Reconstruction  </vt:lpstr>
      <vt:lpstr>Protocol-based Threat Categorization</vt:lpstr>
      <vt:lpstr>Protocol-based Anomaly Detection (Baseline Comparison) </vt:lpstr>
      <vt:lpstr>Encrypted Traffic Analysis </vt:lpstr>
      <vt:lpstr>Clustering Analysis </vt:lpstr>
      <vt:lpstr>Présentation PowerPoint</vt:lpstr>
      <vt:lpstr>Time Series Forecasting</vt:lpstr>
      <vt:lpstr>Anomaly Detection</vt:lpstr>
      <vt:lpstr>Splunk AI toolkit shows selective utility</vt:lpstr>
      <vt:lpstr>Présentation PowerPoint</vt:lpstr>
      <vt:lpstr>Présentation PowerPoint</vt:lpstr>
      <vt:lpstr>Présentation PowerPoint</vt:lpstr>
      <vt:lpstr>Présentation PowerPoint</vt:lpstr>
      <vt:lpstr>Présentation PowerPoint</vt:lpstr>
      <vt:lpstr>Security Recommendations</vt:lpstr>
      <vt:lpstr>Présentation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user</cp:lastModifiedBy>
  <cp:revision>1</cp:revision>
  <dcterms:created xsi:type="dcterms:W3CDTF">2026-01-20T16:34:29Z</dcterms:created>
  <dcterms:modified xsi:type="dcterms:W3CDTF">2026-02-18T17:00:40Z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2026-01-20T00:00:00Z</vt:filetime>
  </property>
  <property fmtid="{D5CDD505-2E9C-101B-9397-08002B2CF9AE}" pid="3" name="LastSaved">
    <vt:filetime>2026-01-20T00:00:00Z</vt:filetime>
  </property>
  <property fmtid="{D5CDD505-2E9C-101B-9397-08002B2CF9AE}" pid="4" name="Producer">
    <vt:lpwstr>iLovePDF</vt:lpwstr>
  </property>
</Properties>
</file>